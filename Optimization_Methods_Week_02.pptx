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2.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3.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9" r:id="rId23"/>
    <p:sldId id="281" r:id="rId24"/>
    <p:sldId id="282" r:id="rId25"/>
    <p:sldId id="283" r:id="rId26"/>
    <p:sldId id="284" r:id="rId27"/>
    <p:sldId id="286" r:id="rId28"/>
    <p:sldId id="287" r:id="rId29"/>
    <p:sldId id="288" r:id="rId30"/>
    <p:sldId id="289" r:id="rId31"/>
  </p:sldIdLst>
  <p:sldSz cx="12192000" cy="6858000"/>
  <p:notesSz cx="6858000" cy="9144000"/>
  <p:defaultTextStyle>
    <a:defPPr>
      <a:defRPr lang="en-IQ"/>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1"/>
    <p:restoredTop sz="70887"/>
  </p:normalViewPr>
  <p:slideViewPr>
    <p:cSldViewPr snapToGrid="0">
      <p:cViewPr varScale="1">
        <p:scale>
          <a:sx n="84" d="100"/>
          <a:sy n="84" d="100"/>
        </p:scale>
        <p:origin x="225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fo Digitalwaves" userId="ac084a81-1f58-4ecb-8c71-a418c67c8658" providerId="ADAL" clId="{8B25053E-758F-5C6E-B0BB-9331ACB74679}"/>
    <pc:docChg chg="delSld modSld">
      <pc:chgData name="Info Digitalwaves" userId="ac084a81-1f58-4ecb-8c71-a418c67c8658" providerId="ADAL" clId="{8B25053E-758F-5C6E-B0BB-9331ACB74679}" dt="2026-10-12T09:03:51.098" v="16" actId="2696"/>
      <pc:docMkLst>
        <pc:docMk/>
      </pc:docMkLst>
      <pc:sldChg chg="modSp mod">
        <pc:chgData name="Info Digitalwaves" userId="ac084a81-1f58-4ecb-8c71-a418c67c8658" providerId="ADAL" clId="{8B25053E-758F-5C6E-B0BB-9331ACB74679}" dt="2026-10-12T08:21:42.797" v="12" actId="20577"/>
        <pc:sldMkLst>
          <pc:docMk/>
          <pc:sldMk cId="1997199062" sldId="256"/>
        </pc:sldMkLst>
        <pc:spChg chg="mod">
          <ac:chgData name="Info Digitalwaves" userId="ac084a81-1f58-4ecb-8c71-a418c67c8658" providerId="ADAL" clId="{8B25053E-758F-5C6E-B0BB-9331ACB74679}" dt="2026-10-12T08:21:42.797" v="12" actId="20577"/>
          <ac:spMkLst>
            <pc:docMk/>
            <pc:sldMk cId="1997199062" sldId="256"/>
            <ac:spMk id="7" creationId="{9C2CC48D-3346-4364-B234-934B2E06DD3F}"/>
          </ac:spMkLst>
        </pc:spChg>
      </pc:sldChg>
      <pc:sldChg chg="modSp mod">
        <pc:chgData name="Info Digitalwaves" userId="ac084a81-1f58-4ecb-8c71-a418c67c8658" providerId="ADAL" clId="{8B25053E-758F-5C6E-B0BB-9331ACB74679}" dt="2026-10-03T20:24:01.222" v="1" actId="1076"/>
        <pc:sldMkLst>
          <pc:docMk/>
          <pc:sldMk cId="971303867" sldId="268"/>
        </pc:sldMkLst>
        <pc:spChg chg="mod">
          <ac:chgData name="Info Digitalwaves" userId="ac084a81-1f58-4ecb-8c71-a418c67c8658" providerId="ADAL" clId="{8B25053E-758F-5C6E-B0BB-9331ACB74679}" dt="2026-10-03T20:24:01.222" v="1" actId="1076"/>
          <ac:spMkLst>
            <pc:docMk/>
            <pc:sldMk cId="971303867" sldId="268"/>
            <ac:spMk id="24" creationId="{0D58235B-3A4B-4A3B-94A9-8AF612B89448}"/>
          </ac:spMkLst>
        </pc:spChg>
      </pc:sldChg>
      <pc:sldChg chg="del">
        <pc:chgData name="Info Digitalwaves" userId="ac084a81-1f58-4ecb-8c71-a418c67c8658" providerId="ADAL" clId="{8B25053E-758F-5C6E-B0BB-9331ACB74679}" dt="2026-10-12T08:54:01.114" v="13" actId="2696"/>
        <pc:sldMkLst>
          <pc:docMk/>
          <pc:sldMk cId="1496340042" sldId="276"/>
        </pc:sldMkLst>
      </pc:sldChg>
      <pc:sldChg chg="del">
        <pc:chgData name="Info Digitalwaves" userId="ac084a81-1f58-4ecb-8c71-a418c67c8658" providerId="ADAL" clId="{8B25053E-758F-5C6E-B0BB-9331ACB74679}" dt="2026-10-12T09:00:36.014" v="14" actId="2696"/>
        <pc:sldMkLst>
          <pc:docMk/>
          <pc:sldMk cId="2029307321" sldId="278"/>
        </pc:sldMkLst>
      </pc:sldChg>
      <pc:sldChg chg="del">
        <pc:chgData name="Info Digitalwaves" userId="ac084a81-1f58-4ecb-8c71-a418c67c8658" providerId="ADAL" clId="{8B25053E-758F-5C6E-B0BB-9331ACB74679}" dt="2026-10-12T09:01:21.545" v="15" actId="2696"/>
        <pc:sldMkLst>
          <pc:docMk/>
          <pc:sldMk cId="2142920737" sldId="280"/>
        </pc:sldMkLst>
      </pc:sldChg>
      <pc:sldChg chg="del">
        <pc:chgData name="Info Digitalwaves" userId="ac084a81-1f58-4ecb-8c71-a418c67c8658" providerId="ADAL" clId="{8B25053E-758F-5C6E-B0BB-9331ACB74679}" dt="2026-10-12T09:03:51.098" v="16" actId="2696"/>
        <pc:sldMkLst>
          <pc:docMk/>
          <pc:sldMk cId="878919469" sldId="285"/>
        </pc:sldMkLst>
      </pc:sldChg>
    </pc:docChg>
  </pc:docChgLst>
</pc:chgInfo>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doughnutChart>
        <c:varyColors val="1"/>
        <c:ser>
          <c:idx val="0"/>
          <c:order val="0"/>
          <c:tx>
            <c:v>Assignments</c:v>
          </c:tx>
          <c:dLbls>
            <c:spPr>
              <a:noFill/>
              <a:ln>
                <a:noFill/>
              </a:ln>
              <a:effectLst/>
            </c:spPr>
            <c:txPr>
              <a:bodyPr anchorCtr="1"/>
              <a:lstStyle/>
              <a:p>
                <a:pPr>
                  <a:defRPr sz="1125">
                    <a:solidFill>
                      <a:srgbClr val="092A3D"/>
                    </a:solidFill>
                  </a:defRPr>
                </a:pPr>
                <a:endParaRPr lang="en-IQ"/>
              </a:p>
            </c:txPr>
            <c:showLegendKey val="0"/>
            <c:showVal val="0"/>
            <c:showCatName val="1"/>
            <c:showSerName val="0"/>
            <c:showPercent val="0"/>
            <c:showBubbleSize val="0"/>
            <c:showLeaderLines val="0"/>
            <c:extLst>
              <c:ext xmlns:c15="http://schemas.microsoft.com/office/drawing/2012/chart" uri="{CE6537A1-D6FC-4f65-9D91-7224C49458BB}"/>
            </c:extLst>
          </c:dLbls>
          <c:cat>
            <c:strLit>
              <c:ptCount val="2"/>
              <c:pt idx="0">
                <c:v>Feasible</c:v>
              </c:pt>
              <c:pt idx="1">
                <c:v>Infeasible</c:v>
              </c:pt>
            </c:strLit>
          </c:cat>
          <c:val>
            <c:numLit>
              <c:formatCode>General</c:formatCode>
              <c:ptCount val="2"/>
              <c:pt idx="0">
                <c:v>6194</c:v>
              </c:pt>
              <c:pt idx="1">
                <c:v>59342</c:v>
              </c:pt>
            </c:numLit>
          </c:val>
          <c:extLst>
            <c:ext xmlns:c16="http://schemas.microsoft.com/office/drawing/2014/chart" uri="{C3380CC4-5D6E-409C-BE32-E72D297353CC}">
              <c16:uniqueId val="{00000000-2EF7-164E-BF37-D495A5714052}"/>
            </c:ext>
          </c:extLst>
        </c:ser>
        <c:dLbls>
          <c:showLegendKey val="0"/>
          <c:showVal val="0"/>
          <c:showCatName val="1"/>
          <c:showSerName val="0"/>
          <c:showPercent val="0"/>
          <c:showBubbleSize val="0"/>
          <c:showLeaderLines val="0"/>
        </c:dLbls>
        <c:firstSliceAng val="0"/>
        <c:holeSize val="0"/>
      </c:doughnutChart>
      <c:spPr>
        <a:solidFill>
          <a:srgbClr val="F7F4EE"/>
        </a:solidFill>
      </c:spPr>
    </c:plotArea>
    <c:legend>
      <c:legendPos val="b"/>
      <c:overlay val="0"/>
      <c:txPr>
        <a:bodyPr anchorCtr="1"/>
        <a:lstStyle/>
        <a:p>
          <a:pPr>
            <a:defRPr sz="1125">
              <a:solidFill>
                <a:srgbClr val="58707C"/>
              </a:solidFill>
            </a:defRPr>
          </a:pPr>
          <a:endParaRPr lang="en-IQ"/>
        </a:p>
      </c:txPr>
    </c:legend>
    <c:plotVisOnly val="1"/>
    <c:dispBlanksAs val="zero"/>
    <c:showDLblsOverMax val="1"/>
  </c:chart>
  <c:spPr>
    <a:solidFill>
      <a:srgbClr val="F7F4EE"/>
    </a:solidFill>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1"/>
        <c:ser>
          <c:idx val="0"/>
          <c:order val="0"/>
          <c:tx>
            <c:v>best-so-far</c:v>
          </c:tx>
          <c:spPr>
            <a:ln w="38100">
              <a:solidFill>
                <a:srgbClr val="0B9B91"/>
              </a:solidFill>
              <a:prstDash val="solid"/>
            </a:ln>
          </c:spPr>
          <c:marker>
            <c:symbol val="circle"/>
            <c:size val="7"/>
            <c:spPr>
              <a:solidFill>
                <a:srgbClr val="0B9B91"/>
              </a:solidFill>
            </c:spPr>
          </c:marker>
          <c:cat>
            <c:numLit>
              <c:formatCode>General</c:formatCode>
              <c:ptCount val="16"/>
              <c:pt idx="0">
                <c:v>1</c:v>
              </c:pt>
              <c:pt idx="1">
                <c:v>2</c:v>
              </c:pt>
              <c:pt idx="2">
                <c:v>3</c:v>
              </c:pt>
              <c:pt idx="3">
                <c:v>4</c:v>
              </c:pt>
              <c:pt idx="4">
                <c:v>5</c:v>
              </c:pt>
              <c:pt idx="5">
                <c:v>6</c:v>
              </c:pt>
              <c:pt idx="6">
                <c:v>7</c:v>
              </c:pt>
              <c:pt idx="7">
                <c:v>8</c:v>
              </c:pt>
              <c:pt idx="8">
                <c:v>9</c:v>
              </c:pt>
              <c:pt idx="9">
                <c:v>10</c:v>
              </c:pt>
              <c:pt idx="10">
                <c:v>20</c:v>
              </c:pt>
              <c:pt idx="11">
                <c:v>50</c:v>
              </c:pt>
              <c:pt idx="12">
                <c:v>100</c:v>
              </c:pt>
              <c:pt idx="13">
                <c:v>200</c:v>
              </c:pt>
              <c:pt idx="14">
                <c:v>500</c:v>
              </c:pt>
              <c:pt idx="15">
                <c:v>1000</c:v>
              </c:pt>
            </c:numLit>
          </c:cat>
          <c:val>
            <c:numLit>
              <c:formatCode>General</c:formatCode>
              <c:ptCount val="16"/>
              <c:pt idx="0">
                <c:v>0</c:v>
              </c:pt>
              <c:pt idx="1">
                <c:v>0</c:v>
              </c:pt>
              <c:pt idx="2">
                <c:v>0</c:v>
              </c:pt>
              <c:pt idx="3">
                <c:v>0</c:v>
              </c:pt>
              <c:pt idx="4">
                <c:v>0</c:v>
              </c:pt>
              <c:pt idx="5">
                <c:v>0</c:v>
              </c:pt>
              <c:pt idx="6">
                <c:v>75</c:v>
              </c:pt>
              <c:pt idx="7">
                <c:v>75</c:v>
              </c:pt>
              <c:pt idx="8">
                <c:v>75</c:v>
              </c:pt>
              <c:pt idx="9">
                <c:v>67</c:v>
              </c:pt>
              <c:pt idx="10">
                <c:v>67</c:v>
              </c:pt>
              <c:pt idx="11">
                <c:v>58</c:v>
              </c:pt>
              <c:pt idx="12">
                <c:v>58</c:v>
              </c:pt>
              <c:pt idx="13">
                <c:v>58</c:v>
              </c:pt>
              <c:pt idx="14">
                <c:v>58</c:v>
              </c:pt>
              <c:pt idx="15">
                <c:v>58</c:v>
              </c:pt>
            </c:numLit>
          </c:val>
          <c:smooth val="1"/>
          <c:extLst>
            <c:ext xmlns:c16="http://schemas.microsoft.com/office/drawing/2014/chart" uri="{C3380CC4-5D6E-409C-BE32-E72D297353CC}">
              <c16:uniqueId val="{00000000-5F62-7B42-825B-F9A388C71309}"/>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lang="en-US"/>
                  <a:t>evaluation checkpoint</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975">
                <a:solidFill>
                  <a:srgbClr val="58707C"/>
                </a:solidFill>
              </a:defRPr>
            </a:pPr>
            <a:endParaRPr lang="en-IQ"/>
          </a:p>
        </c:txPr>
        <c:crossAx val="48672768"/>
        <c:crosses val="autoZero"/>
        <c:auto val="1"/>
        <c:lblAlgn val="ctr"/>
        <c:lblOffset val="100"/>
        <c:noMultiLvlLbl val="1"/>
      </c:catAx>
      <c:valAx>
        <c:axId val="48672768"/>
        <c:scaling>
          <c:orientation val="minMax"/>
        </c:scaling>
        <c:delete val="0"/>
        <c:axPos val="l"/>
        <c:majorGridlines>
          <c:spPr>
            <a:ln w="9525">
              <a:solidFill>
                <a:srgbClr val="CED9DB"/>
              </a:solidFill>
              <a:prstDash val="solid"/>
            </a:ln>
          </c:spPr>
        </c:majorGridlines>
        <c:title>
          <c:tx>
            <c:rich>
              <a:bodyPr/>
              <a:lstStyle/>
              <a:p>
                <a:r>
                  <a:rPr lang="en-US"/>
                  <a:t>best feasible objective</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900">
                <a:solidFill>
                  <a:srgbClr val="58707C"/>
                </a:solidFill>
              </a:defRPr>
            </a:pPr>
            <a:endParaRPr lang="en-IQ"/>
          </a:p>
        </c:txPr>
        <c:crossAx val="48650112"/>
        <c:crosses val="autoZero"/>
        <c:crossBetween val="between"/>
      </c:valAx>
      <c:spPr>
        <a:solidFill>
          <a:srgbClr val="FFFFFF"/>
        </a:solidFill>
      </c:spPr>
    </c:plotArea>
    <c:plotVisOnly val="1"/>
    <c:dispBlanksAs val="zero"/>
    <c:showDLblsOverMax val="1"/>
  </c:chart>
  <c:spPr>
    <a:solidFill>
      <a:srgbClr val="F7F4EE"/>
    </a:solidFill>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1"/>
        <c:ser>
          <c:idx val="0"/>
          <c:order val="0"/>
          <c:tx>
            <c:v>Mean</c:v>
          </c:tx>
          <c:spPr>
            <a:ln w="38100">
              <a:solidFill>
                <a:srgbClr val="0B9B91"/>
              </a:solidFill>
              <a:prstDash val="solid"/>
            </a:ln>
          </c:spPr>
          <c:marker>
            <c:symbol val="circle"/>
            <c:size val="8"/>
            <c:spPr>
              <a:solidFill>
                <a:srgbClr val="0B9B91"/>
              </a:solidFill>
            </c:spPr>
          </c:marker>
          <c:cat>
            <c:strLit>
              <c:ptCount val="4"/>
              <c:pt idx="0">
                <c:v>10</c:v>
              </c:pt>
              <c:pt idx="1">
                <c:v>100</c:v>
              </c:pt>
              <c:pt idx="2">
                <c:v>1,000</c:v>
              </c:pt>
              <c:pt idx="3">
                <c:v>5,000</c:v>
              </c:pt>
            </c:strLit>
          </c:cat>
          <c:val>
            <c:numLit>
              <c:formatCode>General</c:formatCode>
              <c:ptCount val="4"/>
              <c:pt idx="0">
                <c:v>69.61</c:v>
              </c:pt>
              <c:pt idx="1">
                <c:v>60.83</c:v>
              </c:pt>
              <c:pt idx="2">
                <c:v>56.07</c:v>
              </c:pt>
              <c:pt idx="3">
                <c:v>54.4</c:v>
              </c:pt>
            </c:numLit>
          </c:val>
          <c:smooth val="1"/>
          <c:extLst>
            <c:ext xmlns:c16="http://schemas.microsoft.com/office/drawing/2014/chart" uri="{C3380CC4-5D6E-409C-BE32-E72D297353CC}">
              <c16:uniqueId val="{00000000-FA22-E847-AE65-D7AF4A6C9333}"/>
            </c:ext>
          </c:extLst>
        </c:ser>
        <c:ser>
          <c:idx val="1"/>
          <c:order val="1"/>
          <c:tx>
            <c:v>Median</c:v>
          </c:tx>
          <c:spPr>
            <a:ln w="28575">
              <a:solidFill>
                <a:srgbClr val="2878B5"/>
              </a:solidFill>
              <a:prstDash val="solid"/>
            </a:ln>
          </c:spPr>
          <c:marker>
            <c:symbol val="diamond"/>
            <c:size val="8"/>
            <c:spPr>
              <a:solidFill>
                <a:srgbClr val="2878B5"/>
              </a:solidFill>
            </c:spPr>
          </c:marker>
          <c:cat>
            <c:strLit>
              <c:ptCount val="4"/>
              <c:pt idx="0">
                <c:v>10</c:v>
              </c:pt>
              <c:pt idx="1">
                <c:v>100</c:v>
              </c:pt>
              <c:pt idx="2">
                <c:v>1,000</c:v>
              </c:pt>
              <c:pt idx="3">
                <c:v>5,000</c:v>
              </c:pt>
            </c:strLit>
          </c:cat>
          <c:val>
            <c:numLit>
              <c:formatCode>General</c:formatCode>
              <c:ptCount val="4"/>
              <c:pt idx="0">
                <c:v>69</c:v>
              </c:pt>
              <c:pt idx="1">
                <c:v>60</c:v>
              </c:pt>
              <c:pt idx="2">
                <c:v>56</c:v>
              </c:pt>
              <c:pt idx="3">
                <c:v>55</c:v>
              </c:pt>
            </c:numLit>
          </c:val>
          <c:smooth val="1"/>
          <c:extLst>
            <c:ext xmlns:c16="http://schemas.microsoft.com/office/drawing/2014/chart" uri="{C3380CC4-5D6E-409C-BE32-E72D297353CC}">
              <c16:uniqueId val="{00000001-FA22-E847-AE65-D7AF4A6C9333}"/>
            </c:ext>
          </c:extLst>
        </c:ser>
        <c:ser>
          <c:idx val="2"/>
          <c:order val="2"/>
          <c:tx>
            <c:v>Best run</c:v>
          </c:tx>
          <c:spPr>
            <a:ln w="28575">
              <a:solidFill>
                <a:srgbClr val="F2A93B"/>
              </a:solidFill>
              <a:prstDash val="dash"/>
            </a:ln>
          </c:spPr>
          <c:marker>
            <c:symbol val="square"/>
            <c:size val="8"/>
            <c:spPr>
              <a:solidFill>
                <a:srgbClr val="F2A93B"/>
              </a:solidFill>
            </c:spPr>
          </c:marker>
          <c:cat>
            <c:strLit>
              <c:ptCount val="4"/>
              <c:pt idx="0">
                <c:v>10</c:v>
              </c:pt>
              <c:pt idx="1">
                <c:v>100</c:v>
              </c:pt>
              <c:pt idx="2">
                <c:v>1,000</c:v>
              </c:pt>
              <c:pt idx="3">
                <c:v>5,000</c:v>
              </c:pt>
            </c:strLit>
          </c:cat>
          <c:val>
            <c:numLit>
              <c:formatCode>General</c:formatCode>
              <c:ptCount val="4"/>
              <c:pt idx="0">
                <c:v>57</c:v>
              </c:pt>
              <c:pt idx="1">
                <c:v>52</c:v>
              </c:pt>
              <c:pt idx="2">
                <c:v>52</c:v>
              </c:pt>
              <c:pt idx="3">
                <c:v>52</c:v>
              </c:pt>
            </c:numLit>
          </c:val>
          <c:smooth val="1"/>
          <c:extLst>
            <c:ext xmlns:c16="http://schemas.microsoft.com/office/drawing/2014/chart" uri="{C3380CC4-5D6E-409C-BE32-E72D297353CC}">
              <c16:uniqueId val="{00000002-FA22-E847-AE65-D7AF4A6C9333}"/>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lang="en-US"/>
                  <a:t>evaluation budget</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050">
                <a:solidFill>
                  <a:srgbClr val="58707C"/>
                </a:solidFill>
              </a:defRPr>
            </a:pPr>
            <a:endParaRPr lang="en-IQ"/>
          </a:p>
        </c:txPr>
        <c:crossAx val="48672768"/>
        <c:crosses val="autoZero"/>
        <c:auto val="1"/>
        <c:lblAlgn val="ctr"/>
        <c:lblOffset val="100"/>
        <c:noMultiLvlLbl val="1"/>
      </c:catAx>
      <c:valAx>
        <c:axId val="48672768"/>
        <c:scaling>
          <c:orientation val="minMax"/>
        </c:scaling>
        <c:delete val="0"/>
        <c:axPos val="l"/>
        <c:majorGridlines>
          <c:spPr>
            <a:ln w="9525">
              <a:solidFill>
                <a:srgbClr val="CED9DB"/>
              </a:solidFill>
              <a:prstDash val="solid"/>
            </a:ln>
          </c:spPr>
        </c:majorGridlines>
        <c:title>
          <c:tx>
            <c:rich>
              <a:bodyPr/>
              <a:lstStyle/>
              <a:p>
                <a:r>
                  <a:rPr lang="en-US"/>
                  <a:t>objective (lower is better)</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975">
                <a:solidFill>
                  <a:srgbClr val="58707C"/>
                </a:solidFill>
              </a:defRPr>
            </a:pPr>
            <a:endParaRPr lang="en-IQ"/>
          </a:p>
        </c:txPr>
        <c:crossAx val="48650112"/>
        <c:crosses val="autoZero"/>
        <c:crossBetween val="between"/>
      </c:valAx>
      <c:spPr>
        <a:solidFill>
          <a:srgbClr val="FFFFFF"/>
        </a:solidFill>
      </c:spPr>
    </c:plotArea>
    <c:legend>
      <c:legendPos val="b"/>
      <c:overlay val="0"/>
      <c:txPr>
        <a:bodyPr anchorCtr="1"/>
        <a:lstStyle/>
        <a:p>
          <a:pPr>
            <a:defRPr sz="1050">
              <a:solidFill>
                <a:srgbClr val="58707C"/>
              </a:solidFill>
            </a:defRPr>
          </a:pPr>
          <a:endParaRPr lang="en-IQ"/>
        </a:p>
      </c:txPr>
    </c:legend>
    <c:plotVisOnly val="1"/>
    <c:dispBlanksAs val="zero"/>
    <c:showDLblsOverMax val="1"/>
  </c:chart>
  <c:spPr>
    <a:solidFill>
      <a:srgbClr val="F7F4EE"/>
    </a:solidFill>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highlighted route is not guaranteed to be globally best. It represents a search trajectory through many candidates. today students will measure what random sampling can and cannot deliver.</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endParaRP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candidate is a complete assignment of eight services to four servers. Choices interact because services share capacity. The search space is large enough to illustrate the issue but small enough to enumerate for a ground-truth baseline.</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endParaRP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important outcome is not memorizing five pseudocode lines. Students must connect model, representation, algorithm and evidence.</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endParaRP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objective balances network latency and the overhead of using more servers. The evaluator is deterministic; randomness only selects candidates.</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endParaRP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S1 consumes 3 units and has latency 4 on N1, 7 on N2, 9 on N3 and 6 on N4. The assignment determines both server loads and total latency.</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endParaRP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array has length eight. Position i is service i; the value is a zero-based server ID. This encoding produces exactly one complete assignment and has no unused combinations.</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endParaRP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n services and four choices per service, the space contains 4^n candidates. The staircase uses increasing visual height while the labels preserve the exact values. Adding one service multiplies work by four.</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endParaRP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figures come from exhaustive enumeration of all 65,536 candidates. Uniform random sampling reaches the infeasible region about nine times out of ten in this instance.</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r>
              <a:t>Experiment source: RandomSearchExperiment.java, exhaustive enumeration output.</a:t>
            </a: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exact search establishes objective 50 as the global optimum for this finite instance. The assignment uses all four servers; total latency is 30 and the server-use term is 20.</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endParaRP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Because every candidate is evaluated, the smallest feasible objective is proven globally optimal. This proof is valuable for verifying heuristics on small instances.</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endParaRP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Uniform random search independently samples candidates from the whole represented space. It remembers the best feasible candidate but does not learn a direction from earlier samples.</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endParaRP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Random search is global sampling under the chosen distribution. A random walk is a sequence of local moves. Both are stochastic, but their coverage and dependence properties differ.</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endParaRP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seed is set once, outside the loop. Every generated candidate consumes one evaluation even if infeasible. Best-so-far must be a clone because the candidate array may later change.</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endParaRP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Java's Random produces a deterministic sequence from a seed. Reproducibility is not evidence that one seed is representative; it enables debugging and exact reruns.</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endParaRP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code can be understood by following the loop using one service. Constraint checking happens after loads are accumulated. In production, fail-fast checks can improve efficiency, but clarity is preferable for the first implementation.</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endParaRP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algorithm makes no local move and does not accept or reject a current state. It simply retains the best feasible sample. why candidate.clone() is essential when arrays are mutable.</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endParaRP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rows come directly from Java with seed 7. Because capacity constraints are restrictive, early samples can all be infeasible. Best-so-far remains undefined.</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r>
              <a:t>Experiment source: RandomSearchExperiment.java, DEMO rows 1–6.</a:t>
            </a: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Evaluation 7 is the first feasible sample. Evaluation 10 has a smaller objective and replaces it. Infeasible samples 8 and 9 do not erase the stored best.</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r>
              <a:t>Experiment source: RandomSearchExperiment.java, DEMO rows 7–10.</a:t>
            </a: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Zeros are display placeholders for ‘no feasible candidate’; they are not objective values. The run finds 75 at evaluation 7, 67 at 10 and 58 by 50, then plateaus through 1,000 evaluations.</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r>
              <a:t>Experiment source: seed 7 trace from RandomSearchExperiment.java.</a:t>
            </a: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algorithm stopped improving, but exhaustive search proves a better solution exists. The 16% gap is computable only because the optimum is known for this teaching instance.</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endParaRP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 budget 10, seven runs fail to find any feasible candidate. Larger budgets make feasibility reliable, improve central tendency and reduce dispersion. Yet even 5,000 samples do not hit the optimum.</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r>
              <a:t>Experiment source: RandomSearchExperiment.java SUMMARY rows.</a:t>
            </a: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largest improvement occurs between 10 and 100 evaluations. Increasing from 1,000 to 5,000 still helps the mean, but less. Best-of-30 stops at 52, demonstrating that more samples do not guarantee immediate optimum discovery.</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r>
              <a:t>Experiment source: actual best, mean and median values.</a:t>
            </a: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ten bars use the identical problem, code and 1,000-evaluation budget. Only the seed changes. A conclusion based solely on seed 3 would be too optimistic; seed 4 alone would be pessimistic.</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r>
              <a:t>Experiment source: SEED1000 rows 1–10.</a:t>
            </a: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Separate empirical observations from universal claims. These results apply to this instance, implementation and experimental design. Replication across different instances is necessary for broader conclusions.</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endParaRP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Random search provides a sanity check: a complicated method should justify its additional complexity by outperforming this baseline under fair budgets. However, uniform sampling is inefficient when strong solutions occupy a tiny region.</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endParaRP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feasible generator changes representation or construction; biased sampling changes the distribution; local improvement introduces neighbourhood structure. Each adds assumptions and implementation cost.</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endParaRP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technically correct program is only part of the assessment. Students must communicate model, method, evidence and limitations. Encourage tables with exact definitions and charts with labelled axes.</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endParaRP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Think-pair-share. Students should answer in complete explanations, not isolated terms. The questions deliberately connect representation, constraints, algorithm identity and evidence.</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endParaRP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Sampling can find strong solutions quickly, but the quality depends on budget, feasible-region size and sampling distribution. Reproducibility and repeated runs turn randomness into inspectable evidence.</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endParaRP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lecture used a finite discrete example, while the cited literature also studies continuous and theoretical forms of random search. Week 3 narrows attention to a one-dimensional structured space.</a:t>
            </a:r>
          </a:p>
          <a:p>
            <a:endParaRPr/>
          </a:p>
          <a:p>
            <a:r>
              <a:t>Random search is evaluated through the relationship among representation, feasibility, evaluation budget and repeated-run evidence. A candidate is meaningful only when its encoding is unambiguous; an objective value is meaningful only when the candidate satisfies the stated capacity constraints. Because random sampling can produce different results for different seeds, conclusions require several runs and statistics describing both typical quality and variability.</a:t>
            </a:r>
          </a:p>
          <a:p>
            <a:endParaRPr/>
          </a:p>
          <a:p>
            <a:endParaRPr/>
          </a:p>
          <a:p>
            <a:r>
              <a:t>[Sources]</a:t>
            </a:r>
          </a:p>
          <a:p>
            <a:r>
              <a:t>- Sean Luke, Essentials of Metaheuristics, 2nd ed., 2013.</a:t>
            </a:r>
          </a:p>
          <a:p>
            <a:r>
              <a:t>- F. J. Solis and R. J-B. Wets, “Minimization by Random Search Techniques,” Mathematics of Operations Research 6(1), 1981.</a:t>
            </a:r>
          </a:p>
          <a:p>
            <a:r>
              <a:t>- Carnegie Mellon University 16-745 Dynamic Optimization, derivative-free methods: https://www.cs.cmu.edu/~cga/dynopt-18/</a:t>
            </a:r>
          </a:p>
          <a:p>
            <a:r>
              <a:t>- Stanford MS&amp;E314, Zero-Order Optimization Algorithms: https://web.stanford.edu/class/msande314/lecture07OPTMLDS</a:t>
            </a:r>
          </a:p>
          <a:p>
            <a:r>
              <a:t>- MIT OpenCourseWare 15.099, Readings in Optimization, random search: https://ocw.mit.edu/courses/15-099-readings-in-optimization-fall-2003/pages/lecture-notes/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C28"/>
        </a:solidFill>
        <a:effectLst/>
      </p:bgPr>
    </p:bg>
    <p:spTree>
      <p:nvGrpSpPr>
        <p:cNvPr id="1" name=""/>
        <p:cNvGrpSpPr/>
        <p:nvPr/>
      </p:nvGrpSpPr>
      <p:grpSpPr>
        <a:xfrm>
          <a:off x="0" y="0"/>
          <a:ext cx="0" cy="0"/>
          <a:chOff x="0" y="0"/>
          <a:chExt cx="0" cy="0"/>
        </a:xfrm>
      </p:grpSpPr>
      <p:pic>
        <p:nvPicPr>
          <p:cNvPr id="9" name="Picture 8"/>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D2EA8017-DEEB-4D3B-97F1-DE91FA718393}"/>
              </a:ext>
            </a:extLst>
          </p:cNvPr>
          <p:cNvSpPr>
            <a:spLocks noGrp="1"/>
          </p:cNvSpPr>
          <p:nvPr/>
        </p:nvSpPr>
        <p:spPr>
          <a:xfrm>
            <a:off x="0" y="0"/>
            <a:ext cx="12192000" cy="6858000"/>
          </a:xfrm>
          <a:prstGeom prst="rect">
            <a:avLst/>
          </a:prstGeom>
          <a:ln w="0">
            <a:noFill/>
            <a:prstDash val="solid"/>
          </a:ln>
        </p:spPr>
        <p:txBody>
          <a:bodyPr/>
          <a:lstStyle/>
          <a:p>
            <a:endParaRPr lang="en-IQ"/>
          </a:p>
        </p:txBody>
      </p:sp>
      <p:sp>
        <p:nvSpPr>
          <p:cNvPr id="3" name="Rectangle 2">
            <a:extLst>
              <a:ext uri="{FF2B5EF4-FFF2-40B4-BE49-F238E27FC236}">
                <a16:creationId xmlns:a16="http://schemas.microsoft.com/office/drawing/2014/main" id="{1410DBD3-BB1D-419F-9551-445CE006827E}"/>
              </a:ext>
            </a:extLst>
          </p:cNvPr>
          <p:cNvSpPr>
            <a:spLocks noGrp="1"/>
          </p:cNvSpPr>
          <p:nvPr/>
        </p:nvSpPr>
        <p:spPr>
          <a:xfrm>
            <a:off x="647700" y="666750"/>
            <a:ext cx="4762500" cy="228600"/>
          </a:xfrm>
          <a:prstGeom prst="rect">
            <a:avLst/>
          </a:prstGeom>
          <a:noFill/>
          <a:ln w="0">
            <a:noFill/>
            <a:prstDash val="solid"/>
          </a:ln>
        </p:spPr>
        <p:txBody>
          <a:bodyPr anchor="ctr"/>
          <a:lstStyle/>
          <a:p>
            <a:pPr algn="l">
              <a:defRPr sz="1125" b="1">
                <a:solidFill>
                  <a:srgbClr val="70D5D0"/>
                </a:solidFill>
              </a:defRPr>
            </a:pPr>
            <a:r>
              <a:rPr sz="1125" b="1">
                <a:solidFill>
                  <a:srgbClr val="70D5D0"/>
                </a:solidFill>
              </a:rPr>
              <a:t>OPTIMIZATION METHODS</a:t>
            </a:r>
          </a:p>
        </p:txBody>
      </p:sp>
      <p:sp>
        <p:nvSpPr>
          <p:cNvPr id="4" name="Rectangle 3">
            <a:extLst>
              <a:ext uri="{FF2B5EF4-FFF2-40B4-BE49-F238E27FC236}">
                <a16:creationId xmlns:a16="http://schemas.microsoft.com/office/drawing/2014/main" id="{332FFC54-5B70-41A2-BF32-1B8ACD82C46E}"/>
              </a:ext>
            </a:extLst>
          </p:cNvPr>
          <p:cNvSpPr>
            <a:spLocks noGrp="1"/>
          </p:cNvSpPr>
          <p:nvPr/>
        </p:nvSpPr>
        <p:spPr>
          <a:xfrm>
            <a:off x="647700" y="1381125"/>
            <a:ext cx="1905000" cy="285750"/>
          </a:xfrm>
          <a:prstGeom prst="rect">
            <a:avLst/>
          </a:prstGeom>
          <a:noFill/>
          <a:ln w="0">
            <a:noFill/>
            <a:prstDash val="solid"/>
          </a:ln>
        </p:spPr>
        <p:txBody>
          <a:bodyPr anchor="ctr"/>
          <a:lstStyle/>
          <a:p>
            <a:pPr algn="l">
              <a:defRPr sz="1650" b="1">
                <a:solidFill>
                  <a:srgbClr val="F2A93B"/>
                </a:solidFill>
              </a:defRPr>
            </a:pPr>
            <a:r>
              <a:rPr sz="1650" b="1">
                <a:solidFill>
                  <a:srgbClr val="F2A93B"/>
                </a:solidFill>
              </a:rPr>
              <a:t>Week 2</a:t>
            </a:r>
          </a:p>
        </p:txBody>
      </p:sp>
      <p:sp>
        <p:nvSpPr>
          <p:cNvPr id="5" name="Rectangle 4">
            <a:extLst>
              <a:ext uri="{FF2B5EF4-FFF2-40B4-BE49-F238E27FC236}">
                <a16:creationId xmlns:a16="http://schemas.microsoft.com/office/drawing/2014/main" id="{98A3217D-6CAD-4DAE-9A41-04DBA723FD3A}"/>
              </a:ext>
            </a:extLst>
          </p:cNvPr>
          <p:cNvSpPr>
            <a:spLocks noGrp="1"/>
          </p:cNvSpPr>
          <p:nvPr/>
        </p:nvSpPr>
        <p:spPr>
          <a:xfrm>
            <a:off x="647700" y="1952625"/>
            <a:ext cx="5905500" cy="1428750"/>
          </a:xfrm>
          <a:prstGeom prst="rect">
            <a:avLst/>
          </a:prstGeom>
          <a:noFill/>
          <a:ln w="0">
            <a:noFill/>
            <a:prstDash val="solid"/>
          </a:ln>
        </p:spPr>
        <p:txBody>
          <a:bodyPr anchor="ctr"/>
          <a:lstStyle/>
          <a:p>
            <a:pPr algn="l">
              <a:defRPr sz="3975" b="1">
                <a:solidFill>
                  <a:srgbClr val="FFFFFF"/>
                </a:solidFill>
              </a:defRPr>
            </a:pPr>
            <a:r>
              <a:rPr sz="3975" b="1">
                <a:solidFill>
                  <a:srgbClr val="FFFFFF"/>
                </a:solidFill>
              </a:rPr>
              <a:t>Search spaces</a:t>
            </a:r>
          </a:p>
          <a:p>
            <a:pPr algn="l">
              <a:defRPr sz="3975" b="1">
                <a:solidFill>
                  <a:srgbClr val="FFFFFF"/>
                </a:solidFill>
              </a:defRPr>
            </a:pPr>
            <a:r>
              <a:rPr sz="3975" b="1">
                <a:solidFill>
                  <a:srgbClr val="FFFFFF"/>
                </a:solidFill>
              </a:rPr>
              <a:t>and random search</a:t>
            </a:r>
          </a:p>
        </p:txBody>
      </p:sp>
      <p:sp>
        <p:nvSpPr>
          <p:cNvPr id="6" name="Rectangle 5">
            <a:extLst>
              <a:ext uri="{FF2B5EF4-FFF2-40B4-BE49-F238E27FC236}">
                <a16:creationId xmlns:a16="http://schemas.microsoft.com/office/drawing/2014/main" id="{7FCC9B86-9194-4AC2-8D4E-FC17FF013FB6}"/>
              </a:ext>
            </a:extLst>
          </p:cNvPr>
          <p:cNvSpPr>
            <a:spLocks noGrp="1"/>
          </p:cNvSpPr>
          <p:nvPr/>
        </p:nvSpPr>
        <p:spPr>
          <a:xfrm>
            <a:off x="666750" y="3905250"/>
            <a:ext cx="6191250" cy="762000"/>
          </a:xfrm>
          <a:prstGeom prst="rect">
            <a:avLst/>
          </a:prstGeom>
          <a:noFill/>
          <a:ln w="0">
            <a:noFill/>
            <a:prstDash val="solid"/>
          </a:ln>
        </p:spPr>
        <p:txBody>
          <a:bodyPr anchor="ctr"/>
          <a:lstStyle/>
          <a:p>
            <a:pPr algn="l">
              <a:defRPr sz="1725" b="0">
                <a:solidFill>
                  <a:srgbClr val="D6E8EC"/>
                </a:solidFill>
              </a:defRPr>
            </a:pPr>
            <a:r>
              <a:rPr sz="1725" b="0">
                <a:solidFill>
                  <a:srgbClr val="D6E8EC"/>
                </a:solidFill>
              </a:rPr>
              <a:t>How much can we learn by sampling instead of checking everything?</a:t>
            </a:r>
          </a:p>
        </p:txBody>
      </p:sp>
      <p:sp>
        <p:nvSpPr>
          <p:cNvPr id="7" name="Rectangle 6">
            <a:extLst>
              <a:ext uri="{FF2B5EF4-FFF2-40B4-BE49-F238E27FC236}">
                <a16:creationId xmlns:a16="http://schemas.microsoft.com/office/drawing/2014/main" id="{9C2CC48D-3346-4364-B234-934B2E06DD3F}"/>
              </a:ext>
            </a:extLst>
          </p:cNvPr>
          <p:cNvSpPr>
            <a:spLocks noGrp="1"/>
          </p:cNvSpPr>
          <p:nvPr/>
        </p:nvSpPr>
        <p:spPr>
          <a:xfrm>
            <a:off x="666750" y="5905500"/>
            <a:ext cx="5143500" cy="247650"/>
          </a:xfrm>
          <a:prstGeom prst="rect">
            <a:avLst/>
          </a:prstGeom>
          <a:noFill/>
          <a:ln w="0">
            <a:noFill/>
            <a:prstDash val="solid"/>
          </a:ln>
        </p:spPr>
        <p:txBody>
          <a:bodyPr anchor="ctr"/>
          <a:lstStyle/>
          <a:p>
            <a:pPr algn="l">
              <a:defRPr sz="1275" b="1">
                <a:solidFill>
                  <a:srgbClr val="FFFFFF"/>
                </a:solidFill>
              </a:defRPr>
            </a:pPr>
            <a:r>
              <a:rPr lang="en-US" sz="1275" b="1" dirty="0">
                <a:solidFill>
                  <a:srgbClr val="FFFFFF"/>
                </a:solidFill>
              </a:rPr>
              <a:t>Fourth</a:t>
            </a:r>
            <a:r>
              <a:rPr sz="1275" b="1" dirty="0">
                <a:solidFill>
                  <a:srgbClr val="FFFFFF"/>
                </a:solidFill>
              </a:rPr>
              <a:t>-Year Software / Computer Engineering</a:t>
            </a:r>
          </a:p>
        </p:txBody>
      </p:sp>
      <p:sp>
        <p:nvSpPr>
          <p:cNvPr id="8" name="Rectangle 7">
            <a:extLst>
              <a:ext uri="{FF2B5EF4-FFF2-40B4-BE49-F238E27FC236}">
                <a16:creationId xmlns:a16="http://schemas.microsoft.com/office/drawing/2014/main" id="{CEC64B0E-5445-4AC9-873D-26144EDC8C6E}"/>
              </a:ext>
            </a:extLst>
          </p:cNvPr>
          <p:cNvSpPr>
            <a:spLocks noGrp="1"/>
          </p:cNvSpPr>
          <p:nvPr/>
        </p:nvSpPr>
        <p:spPr>
          <a:xfrm>
            <a:off x="666750" y="6191250"/>
            <a:ext cx="4095750" cy="190500"/>
          </a:xfrm>
          <a:prstGeom prst="rect">
            <a:avLst/>
          </a:prstGeom>
          <a:noFill/>
          <a:ln w="0">
            <a:noFill/>
            <a:prstDash val="solid"/>
          </a:ln>
        </p:spPr>
        <p:txBody>
          <a:bodyPr anchor="ctr"/>
          <a:lstStyle/>
          <a:p>
            <a:pPr algn="l">
              <a:defRPr sz="1050" b="0">
                <a:solidFill>
                  <a:srgbClr val="B9CFD6"/>
                </a:solidFill>
              </a:defRPr>
            </a:pPr>
            <a:r>
              <a:rPr sz="1050" b="0">
                <a:solidFill>
                  <a:srgbClr val="B9CFD6"/>
                </a:solidFill>
              </a:rPr>
              <a:t>Salahaddin University–Erbil</a:t>
            </a:r>
          </a:p>
        </p:txBody>
      </p:sp>
    </p:spTree>
    <p:extLst>
      <p:ext uri="{BB962C8B-B14F-4D97-AF65-F5344CB8AC3E}">
        <p14:creationId xmlns:p14="http://schemas.microsoft.com/office/powerpoint/2010/main" val="19971990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643B63DC-BACB-4C1C-8012-38B7617D35F6}"/>
              </a:ext>
            </a:extLst>
          </p:cNvPr>
          <p:cNvSpPr>
            <a:spLocks noGrp="1"/>
          </p:cNvSpPr>
          <p:nvPr/>
        </p:nvSpPr>
        <p:spPr>
          <a:xfrm>
            <a:off x="609600" y="285750"/>
            <a:ext cx="64770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OPENING PROBLEM</a:t>
            </a:r>
          </a:p>
        </p:txBody>
      </p:sp>
      <p:sp>
        <p:nvSpPr>
          <p:cNvPr id="2" name="Rectangle 1">
            <a:extLst>
              <a:ext uri="{FF2B5EF4-FFF2-40B4-BE49-F238E27FC236}">
                <a16:creationId xmlns:a16="http://schemas.microsoft.com/office/drawing/2014/main" id="{F2DAF73F-3F69-4948-BB8D-8F80D0B487EE}"/>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The challenge contains 65,536 possible assignments</a:t>
            </a:r>
          </a:p>
        </p:txBody>
      </p:sp>
      <p:sp>
        <p:nvSpPr>
          <p:cNvPr id="3" name="Rectangle 2">
            <a:extLst>
              <a:ext uri="{FF2B5EF4-FFF2-40B4-BE49-F238E27FC236}">
                <a16:creationId xmlns:a16="http://schemas.microsoft.com/office/drawing/2014/main" id="{B725057E-3131-425D-A443-035DF83E0217}"/>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65691DF0-EFC1-42C7-9668-61E6055D0459}"/>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2</a:t>
            </a:r>
          </a:p>
        </p:txBody>
      </p:sp>
      <p:sp>
        <p:nvSpPr>
          <p:cNvPr id="5" name="Rectangle 4">
            <a:extLst>
              <a:ext uri="{FF2B5EF4-FFF2-40B4-BE49-F238E27FC236}">
                <a16:creationId xmlns:a16="http://schemas.microsoft.com/office/drawing/2014/main" id="{A1D93F9B-2DD7-446C-A195-32B6F190F1F2}"/>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02</a:t>
            </a:r>
          </a:p>
        </p:txBody>
      </p:sp>
      <p:sp>
        <p:nvSpPr>
          <p:cNvPr id="6" name="Rectangle 5">
            <a:extLst>
              <a:ext uri="{FF2B5EF4-FFF2-40B4-BE49-F238E27FC236}">
                <a16:creationId xmlns:a16="http://schemas.microsoft.com/office/drawing/2014/main" id="{560EC0D0-1182-4CC2-A63B-2AB83696D142}"/>
              </a:ext>
            </a:extLst>
          </p:cNvPr>
          <p:cNvSpPr>
            <a:spLocks noGrp="1"/>
          </p:cNvSpPr>
          <p:nvPr/>
        </p:nvSpPr>
        <p:spPr>
          <a:xfrm>
            <a:off x="1047750" y="1571625"/>
            <a:ext cx="2857500" cy="552450"/>
          </a:xfrm>
          <a:prstGeom prst="rect">
            <a:avLst/>
          </a:prstGeom>
          <a:noFill/>
          <a:ln w="0">
            <a:noFill/>
            <a:prstDash val="solid"/>
          </a:ln>
        </p:spPr>
        <p:txBody>
          <a:bodyPr anchor="ctr"/>
          <a:lstStyle/>
          <a:p>
            <a:pPr algn="ctr">
              <a:defRPr sz="2550" b="1">
                <a:solidFill>
                  <a:srgbClr val="0B9B91"/>
                </a:solidFill>
              </a:defRPr>
            </a:pPr>
            <a:r>
              <a:rPr sz="2550" b="1">
                <a:solidFill>
                  <a:srgbClr val="0B9B91"/>
                </a:solidFill>
              </a:rPr>
              <a:t>8 services</a:t>
            </a:r>
          </a:p>
        </p:txBody>
      </p:sp>
      <p:sp>
        <p:nvSpPr>
          <p:cNvPr id="7" name="Rectangle 6">
            <a:extLst>
              <a:ext uri="{FF2B5EF4-FFF2-40B4-BE49-F238E27FC236}">
                <a16:creationId xmlns:a16="http://schemas.microsoft.com/office/drawing/2014/main" id="{B298B036-8A7D-47F6-B3D8-3ACDD8D52E69}"/>
              </a:ext>
            </a:extLst>
          </p:cNvPr>
          <p:cNvSpPr>
            <a:spLocks noGrp="1"/>
          </p:cNvSpPr>
          <p:nvPr/>
        </p:nvSpPr>
        <p:spPr>
          <a:xfrm>
            <a:off x="8286750" y="1571625"/>
            <a:ext cx="2857500" cy="552450"/>
          </a:xfrm>
          <a:prstGeom prst="rect">
            <a:avLst/>
          </a:prstGeom>
          <a:noFill/>
          <a:ln w="0">
            <a:noFill/>
            <a:prstDash val="solid"/>
          </a:ln>
        </p:spPr>
        <p:txBody>
          <a:bodyPr anchor="ctr"/>
          <a:lstStyle/>
          <a:p>
            <a:pPr algn="ctr">
              <a:defRPr sz="2550" b="1">
                <a:solidFill>
                  <a:srgbClr val="2878B5"/>
                </a:solidFill>
              </a:defRPr>
            </a:pPr>
            <a:r>
              <a:rPr sz="2550" b="1">
                <a:solidFill>
                  <a:srgbClr val="2878B5"/>
                </a:solidFill>
              </a:rPr>
              <a:t>4 servers</a:t>
            </a:r>
          </a:p>
        </p:txBody>
      </p:sp>
      <p:sp>
        <p:nvSpPr>
          <p:cNvPr id="8" name="Straight Connector 7">
            <a:extLst>
              <a:ext uri="{FF2B5EF4-FFF2-40B4-BE49-F238E27FC236}">
                <a16:creationId xmlns:a16="http://schemas.microsoft.com/office/drawing/2014/main" id="{FDFE7A93-D1D7-4841-8F67-FC83FD5E424D}"/>
              </a:ext>
            </a:extLst>
          </p:cNvPr>
          <p:cNvSpPr>
            <a:spLocks noGrp="1"/>
          </p:cNvSpPr>
          <p:nvPr/>
        </p:nvSpPr>
        <p:spPr>
          <a:xfrm>
            <a:off x="4095750" y="1857375"/>
            <a:ext cx="3905250" cy="0"/>
          </a:xfrm>
          <a:prstGeom prst="line">
            <a:avLst/>
          </a:prstGeom>
          <a:noFill/>
          <a:ln w="28575">
            <a:solidFill>
              <a:srgbClr val="0B9B91"/>
            </a:solidFill>
            <a:prstDash val="solid"/>
          </a:ln>
        </p:spPr>
        <p:txBody>
          <a:bodyPr/>
          <a:lstStyle/>
          <a:p>
            <a:endParaRPr lang="en-IQ"/>
          </a:p>
        </p:txBody>
      </p:sp>
      <p:sp>
        <p:nvSpPr>
          <p:cNvPr id="9" name="Oval 8">
            <a:extLst>
              <a:ext uri="{FF2B5EF4-FFF2-40B4-BE49-F238E27FC236}">
                <a16:creationId xmlns:a16="http://schemas.microsoft.com/office/drawing/2014/main" id="{3059D6EB-63E5-4599-84EA-AEA27860C334}"/>
              </a:ext>
            </a:extLst>
          </p:cNvPr>
          <p:cNvSpPr>
            <a:spLocks noGrp="1"/>
          </p:cNvSpPr>
          <p:nvPr/>
        </p:nvSpPr>
        <p:spPr>
          <a:xfrm>
            <a:off x="1000125" y="2952750"/>
            <a:ext cx="361950" cy="361950"/>
          </a:xfrm>
          <a:prstGeom prst="ellipse">
            <a:avLst/>
          </a:prstGeom>
          <a:solidFill>
            <a:srgbClr val="0B9B91"/>
          </a:solidFill>
          <a:ln w="0">
            <a:noFill/>
            <a:prstDash val="solid"/>
          </a:ln>
        </p:spPr>
        <p:txBody>
          <a:bodyPr/>
          <a:lstStyle/>
          <a:p>
            <a:endParaRPr lang="en-IQ"/>
          </a:p>
        </p:txBody>
      </p:sp>
      <p:sp>
        <p:nvSpPr>
          <p:cNvPr id="10" name="Rectangle 9">
            <a:extLst>
              <a:ext uri="{FF2B5EF4-FFF2-40B4-BE49-F238E27FC236}">
                <a16:creationId xmlns:a16="http://schemas.microsoft.com/office/drawing/2014/main" id="{518F1D0E-D3C0-449A-953E-324ED8C4D7E5}"/>
              </a:ext>
            </a:extLst>
          </p:cNvPr>
          <p:cNvSpPr>
            <a:spLocks noGrp="1"/>
          </p:cNvSpPr>
          <p:nvPr/>
        </p:nvSpPr>
        <p:spPr>
          <a:xfrm>
            <a:off x="1000125" y="2952750"/>
            <a:ext cx="361950" cy="36195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S1</a:t>
            </a:r>
          </a:p>
        </p:txBody>
      </p:sp>
      <p:sp>
        <p:nvSpPr>
          <p:cNvPr id="11" name="Oval 10">
            <a:extLst>
              <a:ext uri="{FF2B5EF4-FFF2-40B4-BE49-F238E27FC236}">
                <a16:creationId xmlns:a16="http://schemas.microsoft.com/office/drawing/2014/main" id="{F07BE5A7-AA0D-4BD4-83AA-B67477B5D1EE}"/>
              </a:ext>
            </a:extLst>
          </p:cNvPr>
          <p:cNvSpPr>
            <a:spLocks noGrp="1"/>
          </p:cNvSpPr>
          <p:nvPr/>
        </p:nvSpPr>
        <p:spPr>
          <a:xfrm>
            <a:off x="1647825" y="2952750"/>
            <a:ext cx="361950" cy="361950"/>
          </a:xfrm>
          <a:prstGeom prst="ellipse">
            <a:avLst/>
          </a:prstGeom>
          <a:solidFill>
            <a:srgbClr val="2878B5"/>
          </a:solidFill>
          <a:ln w="0">
            <a:noFill/>
            <a:prstDash val="solid"/>
          </a:ln>
        </p:spPr>
        <p:txBody>
          <a:bodyPr/>
          <a:lstStyle/>
          <a:p>
            <a:endParaRPr lang="en-IQ"/>
          </a:p>
        </p:txBody>
      </p:sp>
      <p:sp>
        <p:nvSpPr>
          <p:cNvPr id="12" name="Rectangle 11">
            <a:extLst>
              <a:ext uri="{FF2B5EF4-FFF2-40B4-BE49-F238E27FC236}">
                <a16:creationId xmlns:a16="http://schemas.microsoft.com/office/drawing/2014/main" id="{02693FD5-D644-4140-9C59-6BB14A1C0C1D}"/>
              </a:ext>
            </a:extLst>
          </p:cNvPr>
          <p:cNvSpPr>
            <a:spLocks noGrp="1"/>
          </p:cNvSpPr>
          <p:nvPr/>
        </p:nvSpPr>
        <p:spPr>
          <a:xfrm>
            <a:off x="1647825" y="2952750"/>
            <a:ext cx="361950" cy="36195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S2</a:t>
            </a:r>
          </a:p>
        </p:txBody>
      </p:sp>
      <p:sp>
        <p:nvSpPr>
          <p:cNvPr id="13" name="Oval 12">
            <a:extLst>
              <a:ext uri="{FF2B5EF4-FFF2-40B4-BE49-F238E27FC236}">
                <a16:creationId xmlns:a16="http://schemas.microsoft.com/office/drawing/2014/main" id="{49C039DD-FDC4-4CBC-AD42-14A25C0251AA}"/>
              </a:ext>
            </a:extLst>
          </p:cNvPr>
          <p:cNvSpPr>
            <a:spLocks noGrp="1"/>
          </p:cNvSpPr>
          <p:nvPr/>
        </p:nvSpPr>
        <p:spPr>
          <a:xfrm>
            <a:off x="2295525" y="2952750"/>
            <a:ext cx="361950" cy="361950"/>
          </a:xfrm>
          <a:prstGeom prst="ellipse">
            <a:avLst/>
          </a:prstGeom>
          <a:solidFill>
            <a:srgbClr val="0B9B91"/>
          </a:solidFill>
          <a:ln w="0">
            <a:noFill/>
            <a:prstDash val="solid"/>
          </a:ln>
        </p:spPr>
        <p:txBody>
          <a:bodyPr/>
          <a:lstStyle/>
          <a:p>
            <a:endParaRPr lang="en-IQ"/>
          </a:p>
        </p:txBody>
      </p:sp>
      <p:sp>
        <p:nvSpPr>
          <p:cNvPr id="14" name="Rectangle 13">
            <a:extLst>
              <a:ext uri="{FF2B5EF4-FFF2-40B4-BE49-F238E27FC236}">
                <a16:creationId xmlns:a16="http://schemas.microsoft.com/office/drawing/2014/main" id="{E24AF03E-9FFB-4738-8B32-9F65CE261F6E}"/>
              </a:ext>
            </a:extLst>
          </p:cNvPr>
          <p:cNvSpPr>
            <a:spLocks noGrp="1"/>
          </p:cNvSpPr>
          <p:nvPr/>
        </p:nvSpPr>
        <p:spPr>
          <a:xfrm>
            <a:off x="2295525" y="2952750"/>
            <a:ext cx="361950" cy="36195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S3</a:t>
            </a:r>
          </a:p>
        </p:txBody>
      </p:sp>
      <p:sp>
        <p:nvSpPr>
          <p:cNvPr id="15" name="Oval 14">
            <a:extLst>
              <a:ext uri="{FF2B5EF4-FFF2-40B4-BE49-F238E27FC236}">
                <a16:creationId xmlns:a16="http://schemas.microsoft.com/office/drawing/2014/main" id="{C571EF4A-9462-4739-81A3-6D20358F3FA6}"/>
              </a:ext>
            </a:extLst>
          </p:cNvPr>
          <p:cNvSpPr>
            <a:spLocks noGrp="1"/>
          </p:cNvSpPr>
          <p:nvPr/>
        </p:nvSpPr>
        <p:spPr>
          <a:xfrm>
            <a:off x="2943225" y="2952750"/>
            <a:ext cx="361950" cy="361950"/>
          </a:xfrm>
          <a:prstGeom prst="ellipse">
            <a:avLst/>
          </a:prstGeom>
          <a:solidFill>
            <a:srgbClr val="2878B5"/>
          </a:solidFill>
          <a:ln w="0">
            <a:noFill/>
            <a:prstDash val="solid"/>
          </a:ln>
        </p:spPr>
        <p:txBody>
          <a:bodyPr/>
          <a:lstStyle/>
          <a:p>
            <a:endParaRPr lang="en-IQ"/>
          </a:p>
        </p:txBody>
      </p:sp>
      <p:sp>
        <p:nvSpPr>
          <p:cNvPr id="16" name="Rectangle 15">
            <a:extLst>
              <a:ext uri="{FF2B5EF4-FFF2-40B4-BE49-F238E27FC236}">
                <a16:creationId xmlns:a16="http://schemas.microsoft.com/office/drawing/2014/main" id="{38AF10BA-F5A4-4ED9-8F5E-EBC67EB0BEA9}"/>
              </a:ext>
            </a:extLst>
          </p:cNvPr>
          <p:cNvSpPr>
            <a:spLocks noGrp="1"/>
          </p:cNvSpPr>
          <p:nvPr/>
        </p:nvSpPr>
        <p:spPr>
          <a:xfrm>
            <a:off x="2943225" y="2952750"/>
            <a:ext cx="361950" cy="36195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S4</a:t>
            </a:r>
          </a:p>
        </p:txBody>
      </p:sp>
      <p:sp>
        <p:nvSpPr>
          <p:cNvPr id="17" name="Oval 16">
            <a:extLst>
              <a:ext uri="{FF2B5EF4-FFF2-40B4-BE49-F238E27FC236}">
                <a16:creationId xmlns:a16="http://schemas.microsoft.com/office/drawing/2014/main" id="{DDB591A2-78D8-4FAE-B1D8-DCC87C6DB470}"/>
              </a:ext>
            </a:extLst>
          </p:cNvPr>
          <p:cNvSpPr>
            <a:spLocks noGrp="1"/>
          </p:cNvSpPr>
          <p:nvPr/>
        </p:nvSpPr>
        <p:spPr>
          <a:xfrm>
            <a:off x="3590925" y="2952750"/>
            <a:ext cx="361950" cy="361950"/>
          </a:xfrm>
          <a:prstGeom prst="ellipse">
            <a:avLst/>
          </a:prstGeom>
          <a:solidFill>
            <a:srgbClr val="0B9B91"/>
          </a:solidFill>
          <a:ln w="0">
            <a:noFill/>
            <a:prstDash val="solid"/>
          </a:ln>
        </p:spPr>
        <p:txBody>
          <a:bodyPr/>
          <a:lstStyle/>
          <a:p>
            <a:endParaRPr lang="en-IQ"/>
          </a:p>
        </p:txBody>
      </p:sp>
      <p:sp>
        <p:nvSpPr>
          <p:cNvPr id="18" name="Rectangle 17">
            <a:extLst>
              <a:ext uri="{FF2B5EF4-FFF2-40B4-BE49-F238E27FC236}">
                <a16:creationId xmlns:a16="http://schemas.microsoft.com/office/drawing/2014/main" id="{A0970A09-0D09-45B5-B065-C09BB4BE9175}"/>
              </a:ext>
            </a:extLst>
          </p:cNvPr>
          <p:cNvSpPr>
            <a:spLocks noGrp="1"/>
          </p:cNvSpPr>
          <p:nvPr/>
        </p:nvSpPr>
        <p:spPr>
          <a:xfrm>
            <a:off x="3590925" y="2952750"/>
            <a:ext cx="361950" cy="36195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S5</a:t>
            </a:r>
          </a:p>
        </p:txBody>
      </p:sp>
      <p:sp>
        <p:nvSpPr>
          <p:cNvPr id="19" name="Oval 18">
            <a:extLst>
              <a:ext uri="{FF2B5EF4-FFF2-40B4-BE49-F238E27FC236}">
                <a16:creationId xmlns:a16="http://schemas.microsoft.com/office/drawing/2014/main" id="{9EC6A44F-32DE-4725-AB20-AE8D19220EE7}"/>
              </a:ext>
            </a:extLst>
          </p:cNvPr>
          <p:cNvSpPr>
            <a:spLocks noGrp="1"/>
          </p:cNvSpPr>
          <p:nvPr/>
        </p:nvSpPr>
        <p:spPr>
          <a:xfrm>
            <a:off x="4238625" y="2952750"/>
            <a:ext cx="361950" cy="361950"/>
          </a:xfrm>
          <a:prstGeom prst="ellipse">
            <a:avLst/>
          </a:prstGeom>
          <a:solidFill>
            <a:srgbClr val="2878B5"/>
          </a:solidFill>
          <a:ln w="0">
            <a:noFill/>
            <a:prstDash val="solid"/>
          </a:ln>
        </p:spPr>
        <p:txBody>
          <a:bodyPr/>
          <a:lstStyle/>
          <a:p>
            <a:endParaRPr lang="en-IQ"/>
          </a:p>
        </p:txBody>
      </p:sp>
      <p:sp>
        <p:nvSpPr>
          <p:cNvPr id="20" name="Rectangle 19">
            <a:extLst>
              <a:ext uri="{FF2B5EF4-FFF2-40B4-BE49-F238E27FC236}">
                <a16:creationId xmlns:a16="http://schemas.microsoft.com/office/drawing/2014/main" id="{D4D9CB9B-222F-4903-B213-D2DDEBA5E8EB}"/>
              </a:ext>
            </a:extLst>
          </p:cNvPr>
          <p:cNvSpPr>
            <a:spLocks noGrp="1"/>
          </p:cNvSpPr>
          <p:nvPr/>
        </p:nvSpPr>
        <p:spPr>
          <a:xfrm>
            <a:off x="4238625" y="2952750"/>
            <a:ext cx="361950" cy="36195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S6</a:t>
            </a:r>
          </a:p>
        </p:txBody>
      </p:sp>
      <p:sp>
        <p:nvSpPr>
          <p:cNvPr id="21" name="Oval 20">
            <a:extLst>
              <a:ext uri="{FF2B5EF4-FFF2-40B4-BE49-F238E27FC236}">
                <a16:creationId xmlns:a16="http://schemas.microsoft.com/office/drawing/2014/main" id="{4387BD9E-D97D-41AD-B520-F9F2752AD2CB}"/>
              </a:ext>
            </a:extLst>
          </p:cNvPr>
          <p:cNvSpPr>
            <a:spLocks noGrp="1"/>
          </p:cNvSpPr>
          <p:nvPr/>
        </p:nvSpPr>
        <p:spPr>
          <a:xfrm>
            <a:off x="4886325" y="2952750"/>
            <a:ext cx="361950" cy="361950"/>
          </a:xfrm>
          <a:prstGeom prst="ellipse">
            <a:avLst/>
          </a:prstGeom>
          <a:solidFill>
            <a:srgbClr val="0B9B91"/>
          </a:solidFill>
          <a:ln w="0">
            <a:noFill/>
            <a:prstDash val="solid"/>
          </a:ln>
        </p:spPr>
        <p:txBody>
          <a:bodyPr/>
          <a:lstStyle/>
          <a:p>
            <a:endParaRPr lang="en-IQ"/>
          </a:p>
        </p:txBody>
      </p:sp>
      <p:sp>
        <p:nvSpPr>
          <p:cNvPr id="22" name="Rectangle 21">
            <a:extLst>
              <a:ext uri="{FF2B5EF4-FFF2-40B4-BE49-F238E27FC236}">
                <a16:creationId xmlns:a16="http://schemas.microsoft.com/office/drawing/2014/main" id="{3E260A12-67FA-4610-970C-045B0BE38AEB}"/>
              </a:ext>
            </a:extLst>
          </p:cNvPr>
          <p:cNvSpPr>
            <a:spLocks noGrp="1"/>
          </p:cNvSpPr>
          <p:nvPr/>
        </p:nvSpPr>
        <p:spPr>
          <a:xfrm>
            <a:off x="4886325" y="2952750"/>
            <a:ext cx="361950" cy="36195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S7</a:t>
            </a:r>
          </a:p>
        </p:txBody>
      </p:sp>
      <p:sp>
        <p:nvSpPr>
          <p:cNvPr id="23" name="Oval 22">
            <a:extLst>
              <a:ext uri="{FF2B5EF4-FFF2-40B4-BE49-F238E27FC236}">
                <a16:creationId xmlns:a16="http://schemas.microsoft.com/office/drawing/2014/main" id="{73CCC8D8-B2FF-4445-BF1D-33FE55F6E304}"/>
              </a:ext>
            </a:extLst>
          </p:cNvPr>
          <p:cNvSpPr>
            <a:spLocks noGrp="1"/>
          </p:cNvSpPr>
          <p:nvPr/>
        </p:nvSpPr>
        <p:spPr>
          <a:xfrm>
            <a:off x="5534025" y="2952750"/>
            <a:ext cx="361950" cy="361950"/>
          </a:xfrm>
          <a:prstGeom prst="ellipse">
            <a:avLst/>
          </a:prstGeom>
          <a:solidFill>
            <a:srgbClr val="2878B5"/>
          </a:solidFill>
          <a:ln w="0">
            <a:noFill/>
            <a:prstDash val="solid"/>
          </a:ln>
        </p:spPr>
        <p:txBody>
          <a:bodyPr/>
          <a:lstStyle/>
          <a:p>
            <a:endParaRPr lang="en-IQ"/>
          </a:p>
        </p:txBody>
      </p:sp>
      <p:sp>
        <p:nvSpPr>
          <p:cNvPr id="24" name="Rectangle 23">
            <a:extLst>
              <a:ext uri="{FF2B5EF4-FFF2-40B4-BE49-F238E27FC236}">
                <a16:creationId xmlns:a16="http://schemas.microsoft.com/office/drawing/2014/main" id="{03B40349-0A00-490C-989F-0BCA0E0E9006}"/>
              </a:ext>
            </a:extLst>
          </p:cNvPr>
          <p:cNvSpPr>
            <a:spLocks noGrp="1"/>
          </p:cNvSpPr>
          <p:nvPr/>
        </p:nvSpPr>
        <p:spPr>
          <a:xfrm>
            <a:off x="5534025" y="2952750"/>
            <a:ext cx="361950" cy="361950"/>
          </a:xfrm>
          <a:prstGeom prst="rect">
            <a:avLst/>
          </a:prstGeom>
          <a:noFill/>
          <a:ln w="0">
            <a:noFill/>
            <a:prstDash val="solid"/>
          </a:ln>
        </p:spPr>
        <p:txBody>
          <a:bodyPr anchor="ctr"/>
          <a:lstStyle/>
          <a:p>
            <a:pPr algn="ctr">
              <a:defRPr sz="975" b="1">
                <a:solidFill>
                  <a:srgbClr val="FFFFFF"/>
                </a:solidFill>
              </a:defRPr>
            </a:pPr>
            <a:r>
              <a:rPr sz="975" b="1">
                <a:solidFill>
                  <a:srgbClr val="FFFFFF"/>
                </a:solidFill>
              </a:rPr>
              <a:t>S8</a:t>
            </a:r>
          </a:p>
        </p:txBody>
      </p:sp>
      <p:sp>
        <p:nvSpPr>
          <p:cNvPr id="25" name="Rounded Rectangle 24">
            <a:extLst>
              <a:ext uri="{FF2B5EF4-FFF2-40B4-BE49-F238E27FC236}">
                <a16:creationId xmlns:a16="http://schemas.microsoft.com/office/drawing/2014/main" id="{C56F39A5-6FFE-454C-A42E-026E145AB115}"/>
              </a:ext>
            </a:extLst>
          </p:cNvPr>
          <p:cNvSpPr>
            <a:spLocks noGrp="1"/>
          </p:cNvSpPr>
          <p:nvPr/>
        </p:nvSpPr>
        <p:spPr>
          <a:xfrm>
            <a:off x="7810500" y="2762250"/>
            <a:ext cx="619125" cy="952500"/>
          </a:xfrm>
          <a:prstGeom prst="roundRect">
            <a:avLst>
              <a:gd name="adj" fmla="val 12308"/>
            </a:avLst>
          </a:prstGeom>
          <a:solidFill>
            <a:srgbClr val="FFFFFF"/>
          </a:solidFill>
          <a:ln w="9525">
            <a:solidFill>
              <a:srgbClr val="CED9DB"/>
            </a:solidFill>
            <a:prstDash val="solid"/>
          </a:ln>
        </p:spPr>
        <p:txBody>
          <a:bodyPr/>
          <a:lstStyle/>
          <a:p>
            <a:endParaRPr lang="en-IQ"/>
          </a:p>
        </p:txBody>
      </p:sp>
      <p:sp>
        <p:nvSpPr>
          <p:cNvPr id="26" name="Rectangle 25">
            <a:extLst>
              <a:ext uri="{FF2B5EF4-FFF2-40B4-BE49-F238E27FC236}">
                <a16:creationId xmlns:a16="http://schemas.microsoft.com/office/drawing/2014/main" id="{D09A2E3C-19BB-4263-A226-04689ED852BC}"/>
              </a:ext>
            </a:extLst>
          </p:cNvPr>
          <p:cNvSpPr>
            <a:spLocks noGrp="1"/>
          </p:cNvSpPr>
          <p:nvPr/>
        </p:nvSpPr>
        <p:spPr>
          <a:xfrm>
            <a:off x="7905750" y="3000375"/>
            <a:ext cx="428625" cy="457200"/>
          </a:xfrm>
          <a:prstGeom prst="rect">
            <a:avLst/>
          </a:prstGeom>
          <a:noFill/>
          <a:ln w="0">
            <a:noFill/>
            <a:prstDash val="solid"/>
          </a:ln>
        </p:spPr>
        <p:txBody>
          <a:bodyPr anchor="ctr"/>
          <a:lstStyle/>
          <a:p>
            <a:pPr algn="ctr">
              <a:defRPr sz="1350" b="1">
                <a:solidFill>
                  <a:srgbClr val="092A3D"/>
                </a:solidFill>
              </a:defRPr>
            </a:pPr>
            <a:r>
              <a:rPr sz="1350" b="1">
                <a:solidFill>
                  <a:srgbClr val="092A3D"/>
                </a:solidFill>
              </a:rPr>
              <a:t>N1</a:t>
            </a:r>
          </a:p>
        </p:txBody>
      </p:sp>
      <p:sp>
        <p:nvSpPr>
          <p:cNvPr id="27" name="Rounded Rectangle 26">
            <a:extLst>
              <a:ext uri="{FF2B5EF4-FFF2-40B4-BE49-F238E27FC236}">
                <a16:creationId xmlns:a16="http://schemas.microsoft.com/office/drawing/2014/main" id="{D170B811-0811-4FA7-A19E-7C1360D417A3}"/>
              </a:ext>
            </a:extLst>
          </p:cNvPr>
          <p:cNvSpPr>
            <a:spLocks noGrp="1"/>
          </p:cNvSpPr>
          <p:nvPr/>
        </p:nvSpPr>
        <p:spPr>
          <a:xfrm>
            <a:off x="8667750" y="2762250"/>
            <a:ext cx="619125" cy="952500"/>
          </a:xfrm>
          <a:prstGeom prst="roundRect">
            <a:avLst>
              <a:gd name="adj" fmla="val 12308"/>
            </a:avLst>
          </a:prstGeom>
          <a:solidFill>
            <a:srgbClr val="FFFFFF"/>
          </a:solidFill>
          <a:ln w="9525">
            <a:solidFill>
              <a:srgbClr val="CED9DB"/>
            </a:solidFill>
            <a:prstDash val="solid"/>
          </a:ln>
        </p:spPr>
        <p:txBody>
          <a:bodyPr/>
          <a:lstStyle/>
          <a:p>
            <a:endParaRPr lang="en-IQ"/>
          </a:p>
        </p:txBody>
      </p:sp>
      <p:sp>
        <p:nvSpPr>
          <p:cNvPr id="28" name="Rectangle 27">
            <a:extLst>
              <a:ext uri="{FF2B5EF4-FFF2-40B4-BE49-F238E27FC236}">
                <a16:creationId xmlns:a16="http://schemas.microsoft.com/office/drawing/2014/main" id="{8816624E-C97E-4CEB-B8A9-3D78C129ADFC}"/>
              </a:ext>
            </a:extLst>
          </p:cNvPr>
          <p:cNvSpPr>
            <a:spLocks noGrp="1"/>
          </p:cNvSpPr>
          <p:nvPr/>
        </p:nvSpPr>
        <p:spPr>
          <a:xfrm>
            <a:off x="8763000" y="3000375"/>
            <a:ext cx="428625" cy="457200"/>
          </a:xfrm>
          <a:prstGeom prst="rect">
            <a:avLst/>
          </a:prstGeom>
          <a:noFill/>
          <a:ln w="0">
            <a:noFill/>
            <a:prstDash val="solid"/>
          </a:ln>
        </p:spPr>
        <p:txBody>
          <a:bodyPr anchor="ctr"/>
          <a:lstStyle/>
          <a:p>
            <a:pPr algn="ctr">
              <a:defRPr sz="1350" b="1">
                <a:solidFill>
                  <a:srgbClr val="092A3D"/>
                </a:solidFill>
              </a:defRPr>
            </a:pPr>
            <a:r>
              <a:rPr sz="1350" b="1">
                <a:solidFill>
                  <a:srgbClr val="092A3D"/>
                </a:solidFill>
              </a:rPr>
              <a:t>N2</a:t>
            </a:r>
          </a:p>
        </p:txBody>
      </p:sp>
      <p:sp>
        <p:nvSpPr>
          <p:cNvPr id="29" name="Rounded Rectangle 28">
            <a:extLst>
              <a:ext uri="{FF2B5EF4-FFF2-40B4-BE49-F238E27FC236}">
                <a16:creationId xmlns:a16="http://schemas.microsoft.com/office/drawing/2014/main" id="{7E5EEBD3-2289-4226-9514-7E50FE583EB9}"/>
              </a:ext>
            </a:extLst>
          </p:cNvPr>
          <p:cNvSpPr>
            <a:spLocks noGrp="1"/>
          </p:cNvSpPr>
          <p:nvPr/>
        </p:nvSpPr>
        <p:spPr>
          <a:xfrm>
            <a:off x="9525000" y="2762250"/>
            <a:ext cx="619125" cy="952500"/>
          </a:xfrm>
          <a:prstGeom prst="roundRect">
            <a:avLst>
              <a:gd name="adj" fmla="val 12308"/>
            </a:avLst>
          </a:prstGeom>
          <a:solidFill>
            <a:srgbClr val="FFFFFF"/>
          </a:solidFill>
          <a:ln w="9525">
            <a:solidFill>
              <a:srgbClr val="CED9DB"/>
            </a:solidFill>
            <a:prstDash val="solid"/>
          </a:ln>
        </p:spPr>
        <p:txBody>
          <a:bodyPr/>
          <a:lstStyle/>
          <a:p>
            <a:endParaRPr lang="en-IQ"/>
          </a:p>
        </p:txBody>
      </p:sp>
      <p:sp>
        <p:nvSpPr>
          <p:cNvPr id="30" name="Rectangle 29">
            <a:extLst>
              <a:ext uri="{FF2B5EF4-FFF2-40B4-BE49-F238E27FC236}">
                <a16:creationId xmlns:a16="http://schemas.microsoft.com/office/drawing/2014/main" id="{E47DB07A-EBE6-444E-9756-7D0D663A6854}"/>
              </a:ext>
            </a:extLst>
          </p:cNvPr>
          <p:cNvSpPr>
            <a:spLocks noGrp="1"/>
          </p:cNvSpPr>
          <p:nvPr/>
        </p:nvSpPr>
        <p:spPr>
          <a:xfrm>
            <a:off x="9620250" y="3000375"/>
            <a:ext cx="428625" cy="457200"/>
          </a:xfrm>
          <a:prstGeom prst="rect">
            <a:avLst/>
          </a:prstGeom>
          <a:noFill/>
          <a:ln w="0">
            <a:noFill/>
            <a:prstDash val="solid"/>
          </a:ln>
        </p:spPr>
        <p:txBody>
          <a:bodyPr anchor="ctr"/>
          <a:lstStyle/>
          <a:p>
            <a:pPr algn="ctr">
              <a:defRPr sz="1350" b="1">
                <a:solidFill>
                  <a:srgbClr val="092A3D"/>
                </a:solidFill>
              </a:defRPr>
            </a:pPr>
            <a:r>
              <a:rPr sz="1350" b="1">
                <a:solidFill>
                  <a:srgbClr val="092A3D"/>
                </a:solidFill>
              </a:rPr>
              <a:t>N3</a:t>
            </a:r>
          </a:p>
        </p:txBody>
      </p:sp>
      <p:sp>
        <p:nvSpPr>
          <p:cNvPr id="31" name="Rounded Rectangle 30">
            <a:extLst>
              <a:ext uri="{FF2B5EF4-FFF2-40B4-BE49-F238E27FC236}">
                <a16:creationId xmlns:a16="http://schemas.microsoft.com/office/drawing/2014/main" id="{0A45C85A-05F3-4756-8AD3-A287F03CE138}"/>
              </a:ext>
            </a:extLst>
          </p:cNvPr>
          <p:cNvSpPr>
            <a:spLocks noGrp="1"/>
          </p:cNvSpPr>
          <p:nvPr/>
        </p:nvSpPr>
        <p:spPr>
          <a:xfrm>
            <a:off x="10382250" y="2762250"/>
            <a:ext cx="619125" cy="952500"/>
          </a:xfrm>
          <a:prstGeom prst="roundRect">
            <a:avLst>
              <a:gd name="adj" fmla="val 12308"/>
            </a:avLst>
          </a:prstGeom>
          <a:solidFill>
            <a:srgbClr val="FFFFFF"/>
          </a:solidFill>
          <a:ln w="9525">
            <a:solidFill>
              <a:srgbClr val="CED9DB"/>
            </a:solidFill>
            <a:prstDash val="solid"/>
          </a:ln>
        </p:spPr>
        <p:txBody>
          <a:bodyPr/>
          <a:lstStyle/>
          <a:p>
            <a:endParaRPr lang="en-IQ"/>
          </a:p>
        </p:txBody>
      </p:sp>
      <p:sp>
        <p:nvSpPr>
          <p:cNvPr id="32" name="Rectangle 31">
            <a:extLst>
              <a:ext uri="{FF2B5EF4-FFF2-40B4-BE49-F238E27FC236}">
                <a16:creationId xmlns:a16="http://schemas.microsoft.com/office/drawing/2014/main" id="{4AF99DA7-B460-4170-AA56-CA8F0BD41258}"/>
              </a:ext>
            </a:extLst>
          </p:cNvPr>
          <p:cNvSpPr>
            <a:spLocks noGrp="1"/>
          </p:cNvSpPr>
          <p:nvPr/>
        </p:nvSpPr>
        <p:spPr>
          <a:xfrm>
            <a:off x="10477500" y="3000375"/>
            <a:ext cx="428625" cy="457200"/>
          </a:xfrm>
          <a:prstGeom prst="rect">
            <a:avLst/>
          </a:prstGeom>
          <a:noFill/>
          <a:ln w="0">
            <a:noFill/>
            <a:prstDash val="solid"/>
          </a:ln>
        </p:spPr>
        <p:txBody>
          <a:bodyPr anchor="ctr"/>
          <a:lstStyle/>
          <a:p>
            <a:pPr algn="ctr">
              <a:defRPr sz="1350" b="1">
                <a:solidFill>
                  <a:srgbClr val="092A3D"/>
                </a:solidFill>
              </a:defRPr>
            </a:pPr>
            <a:r>
              <a:rPr sz="1350" b="1">
                <a:solidFill>
                  <a:srgbClr val="092A3D"/>
                </a:solidFill>
              </a:rPr>
              <a:t>N4</a:t>
            </a:r>
          </a:p>
        </p:txBody>
      </p:sp>
      <p:sp>
        <p:nvSpPr>
          <p:cNvPr id="33" name="Rounded Rectangle 32">
            <a:extLst>
              <a:ext uri="{FF2B5EF4-FFF2-40B4-BE49-F238E27FC236}">
                <a16:creationId xmlns:a16="http://schemas.microsoft.com/office/drawing/2014/main" id="{DB50D05F-5940-4C1A-A4E3-205042A9FAF3}"/>
              </a:ext>
            </a:extLst>
          </p:cNvPr>
          <p:cNvSpPr>
            <a:spLocks noGrp="1"/>
          </p:cNvSpPr>
          <p:nvPr/>
        </p:nvSpPr>
        <p:spPr>
          <a:xfrm>
            <a:off x="1476375" y="4524375"/>
            <a:ext cx="9239250" cy="714375"/>
          </a:xfrm>
          <a:prstGeom prst="roundRect">
            <a:avLst>
              <a:gd name="adj" fmla="val 10667"/>
            </a:avLst>
          </a:prstGeom>
          <a:solidFill>
            <a:srgbClr val="092A3D"/>
          </a:solidFill>
          <a:ln w="0">
            <a:solidFill>
              <a:srgbClr val="092A3D"/>
            </a:solidFill>
            <a:prstDash val="solid"/>
          </a:ln>
        </p:spPr>
        <p:txBody>
          <a:bodyPr/>
          <a:lstStyle/>
          <a:p>
            <a:endParaRPr lang="en-IQ"/>
          </a:p>
        </p:txBody>
      </p:sp>
      <p:sp>
        <p:nvSpPr>
          <p:cNvPr id="34" name="Rectangle 33">
            <a:extLst>
              <a:ext uri="{FF2B5EF4-FFF2-40B4-BE49-F238E27FC236}">
                <a16:creationId xmlns:a16="http://schemas.microsoft.com/office/drawing/2014/main" id="{7D92D5AD-C955-4F29-9CFC-B9E55AD44655}"/>
              </a:ext>
            </a:extLst>
          </p:cNvPr>
          <p:cNvSpPr>
            <a:spLocks noGrp="1"/>
          </p:cNvSpPr>
          <p:nvPr/>
        </p:nvSpPr>
        <p:spPr>
          <a:xfrm>
            <a:off x="1666875" y="4600575"/>
            <a:ext cx="8858250" cy="561975"/>
          </a:xfrm>
          <a:prstGeom prst="rect">
            <a:avLst/>
          </a:prstGeom>
          <a:noFill/>
          <a:ln w="0">
            <a:noFill/>
            <a:prstDash val="solid"/>
          </a:ln>
        </p:spPr>
        <p:txBody>
          <a:bodyPr anchor="ctr"/>
          <a:lstStyle/>
          <a:p>
            <a:pPr algn="ctr">
              <a:defRPr sz="2025" b="1">
                <a:solidFill>
                  <a:srgbClr val="FFFFFF"/>
                </a:solidFill>
              </a:defRPr>
            </a:pPr>
            <a:r>
              <a:rPr sz="2025" b="1">
                <a:solidFill>
                  <a:srgbClr val="FFFFFF"/>
                </a:solidFill>
              </a:rPr>
              <a:t>Each service chooses one of four servers: 4⁸ = 65,536 candidates</a:t>
            </a:r>
          </a:p>
        </p:txBody>
      </p:sp>
      <p:sp>
        <p:nvSpPr>
          <p:cNvPr id="35" name="Rectangle 34">
            <a:extLst>
              <a:ext uri="{FF2B5EF4-FFF2-40B4-BE49-F238E27FC236}">
                <a16:creationId xmlns:a16="http://schemas.microsoft.com/office/drawing/2014/main" id="{7844EA32-5F17-4771-A791-5D1EEB093C8A}"/>
              </a:ext>
            </a:extLst>
          </p:cNvPr>
          <p:cNvSpPr>
            <a:spLocks noGrp="1"/>
          </p:cNvSpPr>
          <p:nvPr/>
        </p:nvSpPr>
        <p:spPr>
          <a:xfrm>
            <a:off x="1714500" y="5572125"/>
            <a:ext cx="8763000" cy="361950"/>
          </a:xfrm>
          <a:prstGeom prst="rect">
            <a:avLst/>
          </a:prstGeom>
          <a:noFill/>
          <a:ln w="0">
            <a:noFill/>
            <a:prstDash val="solid"/>
          </a:ln>
        </p:spPr>
        <p:txBody>
          <a:bodyPr anchor="ctr"/>
          <a:lstStyle/>
          <a:p>
            <a:pPr algn="ctr">
              <a:defRPr sz="1650" b="1">
                <a:solidFill>
                  <a:srgbClr val="F2A93B"/>
                </a:solidFill>
              </a:defRPr>
            </a:pPr>
            <a:r>
              <a:rPr sz="1650" b="1">
                <a:solidFill>
                  <a:srgbClr val="F2A93B"/>
                </a:solidFill>
              </a:rPr>
              <a:t>Can we find a strong assignment without evaluating all 65,536?</a:t>
            </a:r>
          </a:p>
        </p:txBody>
      </p:sp>
    </p:spTree>
    <p:extLst>
      <p:ext uri="{BB962C8B-B14F-4D97-AF65-F5344CB8AC3E}">
        <p14:creationId xmlns:p14="http://schemas.microsoft.com/office/powerpoint/2010/main" val="526862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1929723-1178-4353-8E58-4E08465C82BA}"/>
              </a:ext>
            </a:extLst>
          </p:cNvPr>
          <p:cNvSpPr>
            <a:spLocks noGrp="1"/>
          </p:cNvSpPr>
          <p:nvPr/>
        </p:nvSpPr>
        <p:spPr>
          <a:xfrm>
            <a:off x="609600" y="285750"/>
            <a:ext cx="64770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LEARNING OUTCOMES</a:t>
            </a:r>
          </a:p>
        </p:txBody>
      </p:sp>
      <p:sp>
        <p:nvSpPr>
          <p:cNvPr id="2" name="Rectangle 1">
            <a:extLst>
              <a:ext uri="{FF2B5EF4-FFF2-40B4-BE49-F238E27FC236}">
                <a16:creationId xmlns:a16="http://schemas.microsoft.com/office/drawing/2014/main" id="{77AED8A7-4E0C-4899-B0A5-0E1F82BB085B}"/>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What you will be able to do after this lecture</a:t>
            </a:r>
          </a:p>
        </p:txBody>
      </p:sp>
      <p:sp>
        <p:nvSpPr>
          <p:cNvPr id="3" name="Rectangle 2">
            <a:extLst>
              <a:ext uri="{FF2B5EF4-FFF2-40B4-BE49-F238E27FC236}">
                <a16:creationId xmlns:a16="http://schemas.microsoft.com/office/drawing/2014/main" id="{ACD27A5A-B59E-4A46-B6BA-984011756B13}"/>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432FA643-34E2-43BB-BDBF-ADEC20EF797E}"/>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2</a:t>
            </a:r>
          </a:p>
        </p:txBody>
      </p:sp>
      <p:sp>
        <p:nvSpPr>
          <p:cNvPr id="5" name="Rectangle 4">
            <a:extLst>
              <a:ext uri="{FF2B5EF4-FFF2-40B4-BE49-F238E27FC236}">
                <a16:creationId xmlns:a16="http://schemas.microsoft.com/office/drawing/2014/main" id="{5E497EC6-3D03-41B7-A236-947A36EE2A0F}"/>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03</a:t>
            </a:r>
          </a:p>
        </p:txBody>
      </p:sp>
      <p:sp>
        <p:nvSpPr>
          <p:cNvPr id="6" name="Oval 5">
            <a:extLst>
              <a:ext uri="{FF2B5EF4-FFF2-40B4-BE49-F238E27FC236}">
                <a16:creationId xmlns:a16="http://schemas.microsoft.com/office/drawing/2014/main" id="{8D30E9DF-2206-494C-972F-656549476CEF}"/>
              </a:ext>
            </a:extLst>
          </p:cNvPr>
          <p:cNvSpPr>
            <a:spLocks noGrp="1"/>
          </p:cNvSpPr>
          <p:nvPr/>
        </p:nvSpPr>
        <p:spPr>
          <a:xfrm>
            <a:off x="1238250" y="1476375"/>
            <a:ext cx="114300" cy="114300"/>
          </a:xfrm>
          <a:prstGeom prst="ellipse">
            <a:avLst/>
          </a:prstGeom>
          <a:solidFill>
            <a:srgbClr val="0B9B91"/>
          </a:solidFill>
          <a:ln w="0">
            <a:solidFill>
              <a:srgbClr val="0B9B91"/>
            </a:solidFill>
            <a:prstDash val="solid"/>
          </a:ln>
        </p:spPr>
        <p:txBody>
          <a:bodyPr/>
          <a:lstStyle/>
          <a:p>
            <a:endParaRPr lang="en-IQ"/>
          </a:p>
        </p:txBody>
      </p:sp>
      <p:sp>
        <p:nvSpPr>
          <p:cNvPr id="7" name="Rectangle 6">
            <a:extLst>
              <a:ext uri="{FF2B5EF4-FFF2-40B4-BE49-F238E27FC236}">
                <a16:creationId xmlns:a16="http://schemas.microsoft.com/office/drawing/2014/main" id="{46CBC055-A193-4406-9B85-C0D99E8526D7}"/>
              </a:ext>
            </a:extLst>
          </p:cNvPr>
          <p:cNvSpPr>
            <a:spLocks noGrp="1"/>
          </p:cNvSpPr>
          <p:nvPr/>
        </p:nvSpPr>
        <p:spPr>
          <a:xfrm>
            <a:off x="1514475" y="1285875"/>
            <a:ext cx="9534525" cy="771525"/>
          </a:xfrm>
          <a:prstGeom prst="rect">
            <a:avLst/>
          </a:prstGeom>
          <a:noFill/>
          <a:ln w="0">
            <a:noFill/>
            <a:prstDash val="solid"/>
          </a:ln>
        </p:spPr>
        <p:txBody>
          <a:bodyPr anchor="ctr"/>
          <a:lstStyle/>
          <a:p>
            <a:pPr algn="l">
              <a:defRPr sz="1650" b="0">
                <a:solidFill>
                  <a:srgbClr val="183544"/>
                </a:solidFill>
              </a:defRPr>
            </a:pPr>
            <a:r>
              <a:rPr sz="1650" b="0">
                <a:solidFill>
                  <a:srgbClr val="183544"/>
                </a:solidFill>
              </a:rPr>
              <a:t>Calculate the size of a finite search space.</a:t>
            </a:r>
          </a:p>
        </p:txBody>
      </p:sp>
      <p:sp>
        <p:nvSpPr>
          <p:cNvPr id="8" name="Oval 7">
            <a:extLst>
              <a:ext uri="{FF2B5EF4-FFF2-40B4-BE49-F238E27FC236}">
                <a16:creationId xmlns:a16="http://schemas.microsoft.com/office/drawing/2014/main" id="{7E8FDEB0-41EE-4498-989C-B7289B84E2B3}"/>
              </a:ext>
            </a:extLst>
          </p:cNvPr>
          <p:cNvSpPr>
            <a:spLocks noGrp="1"/>
          </p:cNvSpPr>
          <p:nvPr/>
        </p:nvSpPr>
        <p:spPr>
          <a:xfrm>
            <a:off x="1238250" y="2247900"/>
            <a:ext cx="114300" cy="114300"/>
          </a:xfrm>
          <a:prstGeom prst="ellipse">
            <a:avLst/>
          </a:prstGeom>
          <a:solidFill>
            <a:srgbClr val="0B9B91"/>
          </a:solidFill>
          <a:ln w="0">
            <a:solidFill>
              <a:srgbClr val="0B9B91"/>
            </a:solidFill>
            <a:prstDash val="solid"/>
          </a:ln>
        </p:spPr>
        <p:txBody>
          <a:bodyPr/>
          <a:lstStyle/>
          <a:p>
            <a:endParaRPr lang="en-IQ"/>
          </a:p>
        </p:txBody>
      </p:sp>
      <p:sp>
        <p:nvSpPr>
          <p:cNvPr id="9" name="Rectangle 8">
            <a:extLst>
              <a:ext uri="{FF2B5EF4-FFF2-40B4-BE49-F238E27FC236}">
                <a16:creationId xmlns:a16="http://schemas.microsoft.com/office/drawing/2014/main" id="{4FC98093-568B-4A71-82EF-C2B60BC3788C}"/>
              </a:ext>
            </a:extLst>
          </p:cNvPr>
          <p:cNvSpPr>
            <a:spLocks noGrp="1"/>
          </p:cNvSpPr>
          <p:nvPr/>
        </p:nvSpPr>
        <p:spPr>
          <a:xfrm>
            <a:off x="1514475" y="2057400"/>
            <a:ext cx="9534525" cy="771525"/>
          </a:xfrm>
          <a:prstGeom prst="rect">
            <a:avLst/>
          </a:prstGeom>
          <a:noFill/>
          <a:ln w="0">
            <a:noFill/>
            <a:prstDash val="solid"/>
          </a:ln>
        </p:spPr>
        <p:txBody>
          <a:bodyPr anchor="ctr"/>
          <a:lstStyle/>
          <a:p>
            <a:pPr algn="l">
              <a:defRPr sz="1650" b="0">
                <a:solidFill>
                  <a:srgbClr val="183544"/>
                </a:solidFill>
              </a:defRPr>
            </a:pPr>
            <a:r>
              <a:rPr sz="1650" b="0">
                <a:solidFill>
                  <a:srgbClr val="183544"/>
                </a:solidFill>
              </a:rPr>
              <a:t>Design a candidate representation that avoids ambiguity.</a:t>
            </a:r>
          </a:p>
        </p:txBody>
      </p:sp>
      <p:sp>
        <p:nvSpPr>
          <p:cNvPr id="10" name="Oval 9">
            <a:extLst>
              <a:ext uri="{FF2B5EF4-FFF2-40B4-BE49-F238E27FC236}">
                <a16:creationId xmlns:a16="http://schemas.microsoft.com/office/drawing/2014/main" id="{3E61F351-49C3-4B0A-B86B-9C930D6614E6}"/>
              </a:ext>
            </a:extLst>
          </p:cNvPr>
          <p:cNvSpPr>
            <a:spLocks noGrp="1"/>
          </p:cNvSpPr>
          <p:nvPr/>
        </p:nvSpPr>
        <p:spPr>
          <a:xfrm>
            <a:off x="1238250" y="3019425"/>
            <a:ext cx="114300" cy="114300"/>
          </a:xfrm>
          <a:prstGeom prst="ellipse">
            <a:avLst/>
          </a:prstGeom>
          <a:solidFill>
            <a:srgbClr val="0B9B91"/>
          </a:solidFill>
          <a:ln w="0">
            <a:solidFill>
              <a:srgbClr val="0B9B91"/>
            </a:solidFill>
            <a:prstDash val="solid"/>
          </a:ln>
        </p:spPr>
        <p:txBody>
          <a:bodyPr/>
          <a:lstStyle/>
          <a:p>
            <a:endParaRPr lang="en-IQ"/>
          </a:p>
        </p:txBody>
      </p:sp>
      <p:sp>
        <p:nvSpPr>
          <p:cNvPr id="11" name="Rectangle 10">
            <a:extLst>
              <a:ext uri="{FF2B5EF4-FFF2-40B4-BE49-F238E27FC236}">
                <a16:creationId xmlns:a16="http://schemas.microsoft.com/office/drawing/2014/main" id="{F5AE9BD5-89F3-4DE9-9A67-2674FCA63F27}"/>
              </a:ext>
            </a:extLst>
          </p:cNvPr>
          <p:cNvSpPr>
            <a:spLocks noGrp="1"/>
          </p:cNvSpPr>
          <p:nvPr/>
        </p:nvSpPr>
        <p:spPr>
          <a:xfrm>
            <a:off x="1514475" y="2828925"/>
            <a:ext cx="9534525" cy="771525"/>
          </a:xfrm>
          <a:prstGeom prst="rect">
            <a:avLst/>
          </a:prstGeom>
          <a:noFill/>
          <a:ln w="0">
            <a:noFill/>
            <a:prstDash val="solid"/>
          </a:ln>
        </p:spPr>
        <p:txBody>
          <a:bodyPr anchor="ctr"/>
          <a:lstStyle/>
          <a:p>
            <a:pPr algn="l">
              <a:defRPr sz="1650" b="0">
                <a:solidFill>
                  <a:srgbClr val="183544"/>
                </a:solidFill>
              </a:defRPr>
            </a:pPr>
            <a:r>
              <a:rPr sz="1650" b="0">
                <a:solidFill>
                  <a:srgbClr val="183544"/>
                </a:solidFill>
              </a:rPr>
              <a:t>Distinguish exhaustive search, random search and random walk.</a:t>
            </a:r>
          </a:p>
        </p:txBody>
      </p:sp>
      <p:sp>
        <p:nvSpPr>
          <p:cNvPr id="12" name="Oval 11">
            <a:extLst>
              <a:ext uri="{FF2B5EF4-FFF2-40B4-BE49-F238E27FC236}">
                <a16:creationId xmlns:a16="http://schemas.microsoft.com/office/drawing/2014/main" id="{8789463C-661B-4B54-9954-8413ACDD3EBD}"/>
              </a:ext>
            </a:extLst>
          </p:cNvPr>
          <p:cNvSpPr>
            <a:spLocks noGrp="1"/>
          </p:cNvSpPr>
          <p:nvPr/>
        </p:nvSpPr>
        <p:spPr>
          <a:xfrm>
            <a:off x="1238250" y="3790950"/>
            <a:ext cx="114300" cy="114300"/>
          </a:xfrm>
          <a:prstGeom prst="ellipse">
            <a:avLst/>
          </a:prstGeom>
          <a:solidFill>
            <a:srgbClr val="0B9B91"/>
          </a:solidFill>
          <a:ln w="0">
            <a:solidFill>
              <a:srgbClr val="0B9B91"/>
            </a:solidFill>
            <a:prstDash val="solid"/>
          </a:ln>
        </p:spPr>
        <p:txBody>
          <a:bodyPr/>
          <a:lstStyle/>
          <a:p>
            <a:endParaRPr lang="en-IQ"/>
          </a:p>
        </p:txBody>
      </p:sp>
      <p:sp>
        <p:nvSpPr>
          <p:cNvPr id="13" name="Rectangle 12">
            <a:extLst>
              <a:ext uri="{FF2B5EF4-FFF2-40B4-BE49-F238E27FC236}">
                <a16:creationId xmlns:a16="http://schemas.microsoft.com/office/drawing/2014/main" id="{59151925-BBB2-4153-86E5-622AA43CD4D3}"/>
              </a:ext>
            </a:extLst>
          </p:cNvPr>
          <p:cNvSpPr>
            <a:spLocks noGrp="1"/>
          </p:cNvSpPr>
          <p:nvPr/>
        </p:nvSpPr>
        <p:spPr>
          <a:xfrm>
            <a:off x="1514475" y="3600450"/>
            <a:ext cx="9534525" cy="771525"/>
          </a:xfrm>
          <a:prstGeom prst="rect">
            <a:avLst/>
          </a:prstGeom>
          <a:noFill/>
          <a:ln w="0">
            <a:noFill/>
            <a:prstDash val="solid"/>
          </a:ln>
        </p:spPr>
        <p:txBody>
          <a:bodyPr anchor="ctr"/>
          <a:lstStyle/>
          <a:p>
            <a:pPr algn="l">
              <a:defRPr sz="1650" b="0">
                <a:solidFill>
                  <a:srgbClr val="183544"/>
                </a:solidFill>
              </a:defRPr>
            </a:pPr>
            <a:r>
              <a:rPr sz="1650" b="0">
                <a:solidFill>
                  <a:srgbClr val="183544"/>
                </a:solidFill>
              </a:rPr>
              <a:t>Trace random search by hand on a constrained problem.</a:t>
            </a:r>
          </a:p>
        </p:txBody>
      </p:sp>
      <p:sp>
        <p:nvSpPr>
          <p:cNvPr id="14" name="Oval 13">
            <a:extLst>
              <a:ext uri="{FF2B5EF4-FFF2-40B4-BE49-F238E27FC236}">
                <a16:creationId xmlns:a16="http://schemas.microsoft.com/office/drawing/2014/main" id="{2958BDA9-9E76-4B8D-BC5D-E82F4A608FCF}"/>
              </a:ext>
            </a:extLst>
          </p:cNvPr>
          <p:cNvSpPr>
            <a:spLocks noGrp="1"/>
          </p:cNvSpPr>
          <p:nvPr/>
        </p:nvSpPr>
        <p:spPr>
          <a:xfrm>
            <a:off x="1238250" y="4562475"/>
            <a:ext cx="114300" cy="114300"/>
          </a:xfrm>
          <a:prstGeom prst="ellipse">
            <a:avLst/>
          </a:prstGeom>
          <a:solidFill>
            <a:srgbClr val="0B9B91"/>
          </a:solidFill>
          <a:ln w="0">
            <a:solidFill>
              <a:srgbClr val="0B9B91"/>
            </a:solidFill>
            <a:prstDash val="solid"/>
          </a:ln>
        </p:spPr>
        <p:txBody>
          <a:bodyPr/>
          <a:lstStyle/>
          <a:p>
            <a:endParaRPr lang="en-IQ"/>
          </a:p>
        </p:txBody>
      </p:sp>
      <p:sp>
        <p:nvSpPr>
          <p:cNvPr id="15" name="Rectangle 14">
            <a:extLst>
              <a:ext uri="{FF2B5EF4-FFF2-40B4-BE49-F238E27FC236}">
                <a16:creationId xmlns:a16="http://schemas.microsoft.com/office/drawing/2014/main" id="{B20171DE-C4BB-48BC-9EB8-0B8B062BCFEF}"/>
              </a:ext>
            </a:extLst>
          </p:cNvPr>
          <p:cNvSpPr>
            <a:spLocks noGrp="1"/>
          </p:cNvSpPr>
          <p:nvPr/>
        </p:nvSpPr>
        <p:spPr>
          <a:xfrm>
            <a:off x="1514475" y="4371975"/>
            <a:ext cx="9534525" cy="771525"/>
          </a:xfrm>
          <a:prstGeom prst="rect">
            <a:avLst/>
          </a:prstGeom>
          <a:noFill/>
          <a:ln w="0">
            <a:noFill/>
            <a:prstDash val="solid"/>
          </a:ln>
        </p:spPr>
        <p:txBody>
          <a:bodyPr anchor="ctr"/>
          <a:lstStyle/>
          <a:p>
            <a:pPr algn="l">
              <a:defRPr sz="1650" b="0">
                <a:solidFill>
                  <a:srgbClr val="183544"/>
                </a:solidFill>
              </a:defRPr>
            </a:pPr>
            <a:r>
              <a:rPr sz="1650" b="0">
                <a:solidFill>
                  <a:srgbClr val="183544"/>
                </a:solidFill>
              </a:rPr>
              <a:t>Implement reproducible random search in Java.</a:t>
            </a:r>
          </a:p>
        </p:txBody>
      </p:sp>
      <p:sp>
        <p:nvSpPr>
          <p:cNvPr id="16" name="Oval 15">
            <a:extLst>
              <a:ext uri="{FF2B5EF4-FFF2-40B4-BE49-F238E27FC236}">
                <a16:creationId xmlns:a16="http://schemas.microsoft.com/office/drawing/2014/main" id="{2E464335-7EA7-40DD-A515-C7C3DA4CAD88}"/>
              </a:ext>
            </a:extLst>
          </p:cNvPr>
          <p:cNvSpPr>
            <a:spLocks noGrp="1"/>
          </p:cNvSpPr>
          <p:nvPr/>
        </p:nvSpPr>
        <p:spPr>
          <a:xfrm>
            <a:off x="1238250" y="5334000"/>
            <a:ext cx="114300" cy="114300"/>
          </a:xfrm>
          <a:prstGeom prst="ellipse">
            <a:avLst/>
          </a:prstGeom>
          <a:solidFill>
            <a:srgbClr val="0B9B91"/>
          </a:solidFill>
          <a:ln w="0">
            <a:solidFill>
              <a:srgbClr val="0B9B91"/>
            </a:solidFill>
            <a:prstDash val="solid"/>
          </a:ln>
        </p:spPr>
        <p:txBody>
          <a:bodyPr/>
          <a:lstStyle/>
          <a:p>
            <a:endParaRPr lang="en-IQ"/>
          </a:p>
        </p:txBody>
      </p:sp>
      <p:sp>
        <p:nvSpPr>
          <p:cNvPr id="17" name="Rectangle 16">
            <a:extLst>
              <a:ext uri="{FF2B5EF4-FFF2-40B4-BE49-F238E27FC236}">
                <a16:creationId xmlns:a16="http://schemas.microsoft.com/office/drawing/2014/main" id="{AF939488-091C-4036-8800-8E9FEAB69B2A}"/>
              </a:ext>
            </a:extLst>
          </p:cNvPr>
          <p:cNvSpPr>
            <a:spLocks noGrp="1"/>
          </p:cNvSpPr>
          <p:nvPr/>
        </p:nvSpPr>
        <p:spPr>
          <a:xfrm>
            <a:off x="1514475" y="5143500"/>
            <a:ext cx="9534525" cy="771525"/>
          </a:xfrm>
          <a:prstGeom prst="rect">
            <a:avLst/>
          </a:prstGeom>
          <a:noFill/>
          <a:ln w="0">
            <a:noFill/>
            <a:prstDash val="solid"/>
          </a:ln>
        </p:spPr>
        <p:txBody>
          <a:bodyPr anchor="ctr"/>
          <a:lstStyle/>
          <a:p>
            <a:pPr algn="l">
              <a:defRPr sz="1650" b="0">
                <a:solidFill>
                  <a:srgbClr val="183544"/>
                </a:solidFill>
              </a:defRPr>
            </a:pPr>
            <a:r>
              <a:rPr sz="1650" b="0">
                <a:solidFill>
                  <a:srgbClr val="183544"/>
                </a:solidFill>
              </a:rPr>
              <a:t>Interpret results from repeated runs and equal budgets.</a:t>
            </a:r>
          </a:p>
        </p:txBody>
      </p:sp>
    </p:spTree>
    <p:extLst>
      <p:ext uri="{BB962C8B-B14F-4D97-AF65-F5344CB8AC3E}">
        <p14:creationId xmlns:p14="http://schemas.microsoft.com/office/powerpoint/2010/main" val="94288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14BF97D5-A133-408F-A34D-9C8BEA6A5EB1}"/>
              </a:ext>
            </a:extLst>
          </p:cNvPr>
          <p:cNvSpPr>
            <a:spLocks noGrp="1"/>
          </p:cNvSpPr>
          <p:nvPr/>
        </p:nvSpPr>
        <p:spPr>
          <a:xfrm>
            <a:off x="609600" y="285750"/>
            <a:ext cx="64770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PROBLEM MODEL</a:t>
            </a:r>
          </a:p>
        </p:txBody>
      </p:sp>
      <p:sp>
        <p:nvSpPr>
          <p:cNvPr id="2" name="Rectangle 1">
            <a:extLst>
              <a:ext uri="{FF2B5EF4-FFF2-40B4-BE49-F238E27FC236}">
                <a16:creationId xmlns:a16="http://schemas.microsoft.com/office/drawing/2014/main" id="{A9A02E78-152D-430E-8BF9-55D6DAD8F9E4}"/>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The model defines what the search is allowed to do</a:t>
            </a:r>
          </a:p>
        </p:txBody>
      </p:sp>
      <p:sp>
        <p:nvSpPr>
          <p:cNvPr id="3" name="Rectangle 2">
            <a:extLst>
              <a:ext uri="{FF2B5EF4-FFF2-40B4-BE49-F238E27FC236}">
                <a16:creationId xmlns:a16="http://schemas.microsoft.com/office/drawing/2014/main" id="{FF7B1679-1614-492C-845E-35A9C282F6F0}"/>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B40F0C53-D2B9-4B1F-9493-1AEA7231BE1F}"/>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2</a:t>
            </a:r>
          </a:p>
        </p:txBody>
      </p:sp>
      <p:sp>
        <p:nvSpPr>
          <p:cNvPr id="5" name="Rectangle 4">
            <a:extLst>
              <a:ext uri="{FF2B5EF4-FFF2-40B4-BE49-F238E27FC236}">
                <a16:creationId xmlns:a16="http://schemas.microsoft.com/office/drawing/2014/main" id="{54078A59-8071-4FD2-AE1F-901868A8D330}"/>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04</a:t>
            </a:r>
          </a:p>
        </p:txBody>
      </p:sp>
      <p:sp>
        <p:nvSpPr>
          <p:cNvPr id="6" name="Rectangle 5">
            <a:extLst>
              <a:ext uri="{FF2B5EF4-FFF2-40B4-BE49-F238E27FC236}">
                <a16:creationId xmlns:a16="http://schemas.microsoft.com/office/drawing/2014/main" id="{54741774-4882-4D0E-BD3C-078FB9898E43}"/>
              </a:ext>
            </a:extLst>
          </p:cNvPr>
          <p:cNvSpPr>
            <a:spLocks noGrp="1"/>
          </p:cNvSpPr>
          <p:nvPr/>
        </p:nvSpPr>
        <p:spPr>
          <a:xfrm>
            <a:off x="952500" y="1619250"/>
            <a:ext cx="2476500" cy="342900"/>
          </a:xfrm>
          <a:prstGeom prst="rect">
            <a:avLst/>
          </a:prstGeom>
          <a:noFill/>
          <a:ln w="0">
            <a:noFill/>
            <a:prstDash val="solid"/>
          </a:ln>
        </p:spPr>
        <p:txBody>
          <a:bodyPr anchor="ctr"/>
          <a:lstStyle/>
          <a:p>
            <a:pPr algn="l">
              <a:defRPr sz="1650" b="1">
                <a:solidFill>
                  <a:srgbClr val="0B9B91"/>
                </a:solidFill>
              </a:defRPr>
            </a:pPr>
            <a:r>
              <a:rPr sz="1650" b="1">
                <a:solidFill>
                  <a:srgbClr val="0B9B91"/>
                </a:solidFill>
              </a:rPr>
              <a:t>DECISIONS</a:t>
            </a:r>
          </a:p>
        </p:txBody>
      </p:sp>
      <p:sp>
        <p:nvSpPr>
          <p:cNvPr id="7" name="Rectangle 6">
            <a:extLst>
              <a:ext uri="{FF2B5EF4-FFF2-40B4-BE49-F238E27FC236}">
                <a16:creationId xmlns:a16="http://schemas.microsoft.com/office/drawing/2014/main" id="{703AC6D6-3559-48B5-BDC3-B65DCED9AE64}"/>
              </a:ext>
            </a:extLst>
          </p:cNvPr>
          <p:cNvSpPr>
            <a:spLocks noGrp="1"/>
          </p:cNvSpPr>
          <p:nvPr/>
        </p:nvSpPr>
        <p:spPr>
          <a:xfrm>
            <a:off x="3714750" y="1619250"/>
            <a:ext cx="7334250" cy="342900"/>
          </a:xfrm>
          <a:prstGeom prst="rect">
            <a:avLst/>
          </a:prstGeom>
          <a:noFill/>
          <a:ln w="0">
            <a:noFill/>
            <a:prstDash val="solid"/>
          </a:ln>
        </p:spPr>
        <p:txBody>
          <a:bodyPr anchor="ctr"/>
          <a:lstStyle/>
          <a:p>
            <a:pPr algn="l">
              <a:defRPr sz="1725" b="0">
                <a:solidFill>
                  <a:srgbClr val="183544"/>
                </a:solidFill>
              </a:defRPr>
            </a:pPr>
            <a:r>
              <a:rPr sz="1725" b="0">
                <a:solidFill>
                  <a:srgbClr val="183544"/>
                </a:solidFill>
              </a:rPr>
              <a:t>one server index for each service</a:t>
            </a:r>
          </a:p>
        </p:txBody>
      </p:sp>
      <p:sp>
        <p:nvSpPr>
          <p:cNvPr id="8" name="Rectangle 7">
            <a:extLst>
              <a:ext uri="{FF2B5EF4-FFF2-40B4-BE49-F238E27FC236}">
                <a16:creationId xmlns:a16="http://schemas.microsoft.com/office/drawing/2014/main" id="{F54A13A8-4AC2-4476-8775-243BCCA3A419}"/>
              </a:ext>
            </a:extLst>
          </p:cNvPr>
          <p:cNvSpPr>
            <a:spLocks noGrp="1"/>
          </p:cNvSpPr>
          <p:nvPr/>
        </p:nvSpPr>
        <p:spPr>
          <a:xfrm>
            <a:off x="952500" y="2524125"/>
            <a:ext cx="2476500" cy="342900"/>
          </a:xfrm>
          <a:prstGeom prst="rect">
            <a:avLst/>
          </a:prstGeom>
          <a:noFill/>
          <a:ln w="0">
            <a:noFill/>
            <a:prstDash val="solid"/>
          </a:ln>
        </p:spPr>
        <p:txBody>
          <a:bodyPr anchor="ctr"/>
          <a:lstStyle/>
          <a:p>
            <a:pPr algn="l">
              <a:defRPr sz="1650" b="1">
                <a:solidFill>
                  <a:srgbClr val="2878B5"/>
                </a:solidFill>
              </a:defRPr>
            </a:pPr>
            <a:r>
              <a:rPr sz="1650" b="1">
                <a:solidFill>
                  <a:srgbClr val="2878B5"/>
                </a:solidFill>
              </a:rPr>
              <a:t>OBJECTIVE</a:t>
            </a:r>
          </a:p>
        </p:txBody>
      </p:sp>
      <p:sp>
        <p:nvSpPr>
          <p:cNvPr id="9" name="Rectangle 8">
            <a:extLst>
              <a:ext uri="{FF2B5EF4-FFF2-40B4-BE49-F238E27FC236}">
                <a16:creationId xmlns:a16="http://schemas.microsoft.com/office/drawing/2014/main" id="{3EFD3CE1-8BCC-4DEE-BB94-9E7546EECABE}"/>
              </a:ext>
            </a:extLst>
          </p:cNvPr>
          <p:cNvSpPr>
            <a:spLocks noGrp="1"/>
          </p:cNvSpPr>
          <p:nvPr/>
        </p:nvSpPr>
        <p:spPr>
          <a:xfrm>
            <a:off x="3714750" y="2524125"/>
            <a:ext cx="7334250" cy="342900"/>
          </a:xfrm>
          <a:prstGeom prst="rect">
            <a:avLst/>
          </a:prstGeom>
          <a:noFill/>
          <a:ln w="0">
            <a:noFill/>
            <a:prstDash val="solid"/>
          </a:ln>
        </p:spPr>
        <p:txBody>
          <a:bodyPr anchor="ctr"/>
          <a:lstStyle/>
          <a:p>
            <a:pPr algn="l">
              <a:defRPr sz="1725" b="0">
                <a:solidFill>
                  <a:srgbClr val="183544"/>
                </a:solidFill>
              </a:defRPr>
            </a:pPr>
            <a:r>
              <a:rPr sz="1725" b="0">
                <a:solidFill>
                  <a:srgbClr val="183544"/>
                </a:solidFill>
              </a:rPr>
              <a:t>total latency + 5 × number of used servers</a:t>
            </a:r>
          </a:p>
        </p:txBody>
      </p:sp>
      <p:sp>
        <p:nvSpPr>
          <p:cNvPr id="10" name="Rectangle 9">
            <a:extLst>
              <a:ext uri="{FF2B5EF4-FFF2-40B4-BE49-F238E27FC236}">
                <a16:creationId xmlns:a16="http://schemas.microsoft.com/office/drawing/2014/main" id="{FC762EF1-1F90-4033-9D86-F73082189BF0}"/>
              </a:ext>
            </a:extLst>
          </p:cNvPr>
          <p:cNvSpPr>
            <a:spLocks noGrp="1"/>
          </p:cNvSpPr>
          <p:nvPr/>
        </p:nvSpPr>
        <p:spPr>
          <a:xfrm>
            <a:off x="952500" y="3429000"/>
            <a:ext cx="2476500" cy="342900"/>
          </a:xfrm>
          <a:prstGeom prst="rect">
            <a:avLst/>
          </a:prstGeom>
          <a:noFill/>
          <a:ln w="0">
            <a:noFill/>
            <a:prstDash val="solid"/>
          </a:ln>
        </p:spPr>
        <p:txBody>
          <a:bodyPr anchor="ctr"/>
          <a:lstStyle/>
          <a:p>
            <a:pPr algn="l">
              <a:defRPr sz="1650" b="1">
                <a:solidFill>
                  <a:srgbClr val="F2A93B"/>
                </a:solidFill>
              </a:defRPr>
            </a:pPr>
            <a:r>
              <a:rPr sz="1650" b="1">
                <a:solidFill>
                  <a:srgbClr val="F2A93B"/>
                </a:solidFill>
              </a:rPr>
              <a:t>CONSTRAINTS</a:t>
            </a:r>
          </a:p>
        </p:txBody>
      </p:sp>
      <p:sp>
        <p:nvSpPr>
          <p:cNvPr id="11" name="Rectangle 10">
            <a:extLst>
              <a:ext uri="{FF2B5EF4-FFF2-40B4-BE49-F238E27FC236}">
                <a16:creationId xmlns:a16="http://schemas.microsoft.com/office/drawing/2014/main" id="{3B4D085C-8A6D-4C7F-A405-2C91606D051A}"/>
              </a:ext>
            </a:extLst>
          </p:cNvPr>
          <p:cNvSpPr>
            <a:spLocks noGrp="1"/>
          </p:cNvSpPr>
          <p:nvPr/>
        </p:nvSpPr>
        <p:spPr>
          <a:xfrm>
            <a:off x="3714750" y="3429000"/>
            <a:ext cx="7334250" cy="342900"/>
          </a:xfrm>
          <a:prstGeom prst="rect">
            <a:avLst/>
          </a:prstGeom>
          <a:noFill/>
          <a:ln w="0">
            <a:noFill/>
            <a:prstDash val="solid"/>
          </a:ln>
        </p:spPr>
        <p:txBody>
          <a:bodyPr anchor="ctr"/>
          <a:lstStyle/>
          <a:p>
            <a:pPr algn="l">
              <a:defRPr sz="1725" b="0">
                <a:solidFill>
                  <a:srgbClr val="183544"/>
                </a:solidFill>
              </a:defRPr>
            </a:pPr>
            <a:r>
              <a:rPr sz="1725" b="0">
                <a:solidFill>
                  <a:srgbClr val="183544"/>
                </a:solidFill>
              </a:rPr>
              <a:t>server load must not exceed capacity</a:t>
            </a:r>
          </a:p>
        </p:txBody>
      </p:sp>
      <p:sp>
        <p:nvSpPr>
          <p:cNvPr id="12" name="Rectangle 11">
            <a:extLst>
              <a:ext uri="{FF2B5EF4-FFF2-40B4-BE49-F238E27FC236}">
                <a16:creationId xmlns:a16="http://schemas.microsoft.com/office/drawing/2014/main" id="{F9549F88-F31A-4A26-A378-4C73D4912771}"/>
              </a:ext>
            </a:extLst>
          </p:cNvPr>
          <p:cNvSpPr>
            <a:spLocks noGrp="1"/>
          </p:cNvSpPr>
          <p:nvPr/>
        </p:nvSpPr>
        <p:spPr>
          <a:xfrm>
            <a:off x="952500" y="4333875"/>
            <a:ext cx="2476500" cy="342900"/>
          </a:xfrm>
          <a:prstGeom prst="rect">
            <a:avLst/>
          </a:prstGeom>
          <a:noFill/>
          <a:ln w="0">
            <a:noFill/>
            <a:prstDash val="solid"/>
          </a:ln>
        </p:spPr>
        <p:txBody>
          <a:bodyPr anchor="ctr"/>
          <a:lstStyle/>
          <a:p>
            <a:pPr algn="l">
              <a:defRPr sz="1650" b="1">
                <a:solidFill>
                  <a:srgbClr val="2C9976"/>
                </a:solidFill>
              </a:defRPr>
            </a:pPr>
            <a:r>
              <a:rPr sz="1650" b="1">
                <a:solidFill>
                  <a:srgbClr val="2C9976"/>
                </a:solidFill>
              </a:rPr>
              <a:t>DATA</a:t>
            </a:r>
          </a:p>
        </p:txBody>
      </p:sp>
      <p:sp>
        <p:nvSpPr>
          <p:cNvPr id="13" name="Rectangle 12">
            <a:extLst>
              <a:ext uri="{FF2B5EF4-FFF2-40B4-BE49-F238E27FC236}">
                <a16:creationId xmlns:a16="http://schemas.microsoft.com/office/drawing/2014/main" id="{813F73F3-CB1A-4483-8608-ACE155656C14}"/>
              </a:ext>
            </a:extLst>
          </p:cNvPr>
          <p:cNvSpPr>
            <a:spLocks noGrp="1"/>
          </p:cNvSpPr>
          <p:nvPr/>
        </p:nvSpPr>
        <p:spPr>
          <a:xfrm>
            <a:off x="3714750" y="4333875"/>
            <a:ext cx="7334250" cy="342900"/>
          </a:xfrm>
          <a:prstGeom prst="rect">
            <a:avLst/>
          </a:prstGeom>
          <a:noFill/>
          <a:ln w="0">
            <a:noFill/>
            <a:prstDash val="solid"/>
          </a:ln>
        </p:spPr>
        <p:txBody>
          <a:bodyPr anchor="ctr"/>
          <a:lstStyle/>
          <a:p>
            <a:pPr algn="l">
              <a:defRPr sz="1725" b="0">
                <a:solidFill>
                  <a:srgbClr val="183544"/>
                </a:solidFill>
              </a:defRPr>
            </a:pPr>
            <a:r>
              <a:rPr sz="1725" b="0">
                <a:solidFill>
                  <a:srgbClr val="183544"/>
                </a:solidFill>
              </a:rPr>
              <a:t>service demands, server capacities and latency matrix</a:t>
            </a:r>
          </a:p>
        </p:txBody>
      </p:sp>
      <p:sp>
        <p:nvSpPr>
          <p:cNvPr id="14" name="Rounded Rectangle 13">
            <a:extLst>
              <a:ext uri="{FF2B5EF4-FFF2-40B4-BE49-F238E27FC236}">
                <a16:creationId xmlns:a16="http://schemas.microsoft.com/office/drawing/2014/main" id="{417ED9DF-AF8F-450F-9B65-8DFEEACF0D50}"/>
              </a:ext>
            </a:extLst>
          </p:cNvPr>
          <p:cNvSpPr>
            <a:spLocks noGrp="1"/>
          </p:cNvSpPr>
          <p:nvPr/>
        </p:nvSpPr>
        <p:spPr>
          <a:xfrm>
            <a:off x="2524125" y="5429250"/>
            <a:ext cx="7143750" cy="571500"/>
          </a:xfrm>
          <a:prstGeom prst="roundRect">
            <a:avLst>
              <a:gd name="adj" fmla="val 13333"/>
            </a:avLst>
          </a:prstGeom>
          <a:solidFill>
            <a:srgbClr val="E6F3F2"/>
          </a:solidFill>
          <a:ln w="0">
            <a:solidFill>
              <a:srgbClr val="E6F3F2"/>
            </a:solidFill>
            <a:prstDash val="solid"/>
          </a:ln>
        </p:spPr>
        <p:txBody>
          <a:bodyPr/>
          <a:lstStyle/>
          <a:p>
            <a:endParaRPr lang="en-IQ"/>
          </a:p>
        </p:txBody>
      </p:sp>
      <p:sp>
        <p:nvSpPr>
          <p:cNvPr id="15" name="Rectangle 14">
            <a:extLst>
              <a:ext uri="{FF2B5EF4-FFF2-40B4-BE49-F238E27FC236}">
                <a16:creationId xmlns:a16="http://schemas.microsoft.com/office/drawing/2014/main" id="{D90C42D6-C688-4356-9F4D-88003205299C}"/>
              </a:ext>
            </a:extLst>
          </p:cNvPr>
          <p:cNvSpPr>
            <a:spLocks noGrp="1"/>
          </p:cNvSpPr>
          <p:nvPr/>
        </p:nvSpPr>
        <p:spPr>
          <a:xfrm>
            <a:off x="2714625" y="5505450"/>
            <a:ext cx="6762750" cy="419100"/>
          </a:xfrm>
          <a:prstGeom prst="rect">
            <a:avLst/>
          </a:prstGeom>
          <a:noFill/>
          <a:ln w="0">
            <a:noFill/>
            <a:prstDash val="solid"/>
          </a:ln>
        </p:spPr>
        <p:txBody>
          <a:bodyPr anchor="ctr"/>
          <a:lstStyle/>
          <a:p>
            <a:pPr algn="ctr">
              <a:defRPr sz="1650" b="1">
                <a:solidFill>
                  <a:srgbClr val="092A3D"/>
                </a:solidFill>
              </a:defRPr>
            </a:pPr>
            <a:r>
              <a:rPr sz="1650" b="1">
                <a:solidFill>
                  <a:srgbClr val="092A3D"/>
                </a:solidFill>
              </a:rPr>
              <a:t>Random search changes the candidate—not the model.</a:t>
            </a:r>
          </a:p>
        </p:txBody>
      </p:sp>
    </p:spTree>
    <p:extLst>
      <p:ext uri="{BB962C8B-B14F-4D97-AF65-F5344CB8AC3E}">
        <p14:creationId xmlns:p14="http://schemas.microsoft.com/office/powerpoint/2010/main" val="325846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115" name="Rectangle 114">
            <a:extLst>
              <a:ext uri="{FF2B5EF4-FFF2-40B4-BE49-F238E27FC236}">
                <a16:creationId xmlns:a16="http://schemas.microsoft.com/office/drawing/2014/main" id="{BB0F3ACC-0FA3-4BB4-B094-E21DE0DF69EE}"/>
              </a:ext>
            </a:extLst>
          </p:cNvPr>
          <p:cNvSpPr>
            <a:spLocks noGrp="1"/>
          </p:cNvSpPr>
          <p:nvPr/>
        </p:nvSpPr>
        <p:spPr>
          <a:xfrm>
            <a:off x="609600" y="285750"/>
            <a:ext cx="64770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PROBLEM DATA</a:t>
            </a:r>
          </a:p>
        </p:txBody>
      </p:sp>
      <p:sp>
        <p:nvSpPr>
          <p:cNvPr id="2" name="Rectangle 1">
            <a:extLst>
              <a:ext uri="{FF2B5EF4-FFF2-40B4-BE49-F238E27FC236}">
                <a16:creationId xmlns:a16="http://schemas.microsoft.com/office/drawing/2014/main" id="{5E8444E9-07C3-49EF-8B26-679C90214EAE}"/>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The instance is small enough to verify—but not trivial</a:t>
            </a:r>
          </a:p>
        </p:txBody>
      </p:sp>
      <p:sp>
        <p:nvSpPr>
          <p:cNvPr id="3" name="Rectangle 2">
            <a:extLst>
              <a:ext uri="{FF2B5EF4-FFF2-40B4-BE49-F238E27FC236}">
                <a16:creationId xmlns:a16="http://schemas.microsoft.com/office/drawing/2014/main" id="{C1B232B7-759B-4432-9370-A3DB7E3F7173}"/>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2B4C06EA-5C1A-43BF-9ED4-7F4E58279D86}"/>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2</a:t>
            </a:r>
          </a:p>
        </p:txBody>
      </p:sp>
      <p:sp>
        <p:nvSpPr>
          <p:cNvPr id="5" name="Rectangle 4">
            <a:extLst>
              <a:ext uri="{FF2B5EF4-FFF2-40B4-BE49-F238E27FC236}">
                <a16:creationId xmlns:a16="http://schemas.microsoft.com/office/drawing/2014/main" id="{EE54E4F0-7AE0-4D5A-B157-24C806BA962B}"/>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05</a:t>
            </a:r>
          </a:p>
        </p:txBody>
      </p:sp>
      <p:sp>
        <p:nvSpPr>
          <p:cNvPr id="6" name="Rectangle 5">
            <a:extLst>
              <a:ext uri="{FF2B5EF4-FFF2-40B4-BE49-F238E27FC236}">
                <a16:creationId xmlns:a16="http://schemas.microsoft.com/office/drawing/2014/main" id="{6176C95E-EC27-4139-90B2-B5EFB3D30972}"/>
              </a:ext>
            </a:extLst>
          </p:cNvPr>
          <p:cNvSpPr>
            <a:spLocks noGrp="1"/>
          </p:cNvSpPr>
          <p:nvPr/>
        </p:nvSpPr>
        <p:spPr>
          <a:xfrm>
            <a:off x="762000" y="1381125"/>
            <a:ext cx="1428750" cy="533400"/>
          </a:xfrm>
          <a:prstGeom prst="rect">
            <a:avLst/>
          </a:prstGeom>
          <a:solidFill>
            <a:srgbClr val="092A3D"/>
          </a:solidFill>
          <a:ln w="0">
            <a:solidFill>
              <a:srgbClr val="092A3D"/>
            </a:solidFill>
            <a:prstDash val="solid"/>
          </a:ln>
        </p:spPr>
        <p:txBody>
          <a:bodyPr/>
          <a:lstStyle/>
          <a:p>
            <a:endParaRPr lang="en-IQ"/>
          </a:p>
        </p:txBody>
      </p:sp>
      <p:sp>
        <p:nvSpPr>
          <p:cNvPr id="7" name="Rectangle 6">
            <a:extLst>
              <a:ext uri="{FF2B5EF4-FFF2-40B4-BE49-F238E27FC236}">
                <a16:creationId xmlns:a16="http://schemas.microsoft.com/office/drawing/2014/main" id="{B1205149-CF19-4CE5-AC20-204151F49ED2}"/>
              </a:ext>
            </a:extLst>
          </p:cNvPr>
          <p:cNvSpPr>
            <a:spLocks noGrp="1"/>
          </p:cNvSpPr>
          <p:nvPr/>
        </p:nvSpPr>
        <p:spPr>
          <a:xfrm>
            <a:off x="828675" y="1438275"/>
            <a:ext cx="1295400" cy="4191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rPr>
              <a:t>Service</a:t>
            </a:r>
          </a:p>
        </p:txBody>
      </p:sp>
      <p:sp>
        <p:nvSpPr>
          <p:cNvPr id="8" name="Rectangle 7">
            <a:extLst>
              <a:ext uri="{FF2B5EF4-FFF2-40B4-BE49-F238E27FC236}">
                <a16:creationId xmlns:a16="http://schemas.microsoft.com/office/drawing/2014/main" id="{1E414B58-94DB-4879-A525-1B6DF1AE4E6D}"/>
              </a:ext>
            </a:extLst>
          </p:cNvPr>
          <p:cNvSpPr>
            <a:spLocks noGrp="1"/>
          </p:cNvSpPr>
          <p:nvPr/>
        </p:nvSpPr>
        <p:spPr>
          <a:xfrm>
            <a:off x="2190750" y="1381125"/>
            <a:ext cx="1238250" cy="533400"/>
          </a:xfrm>
          <a:prstGeom prst="rect">
            <a:avLst/>
          </a:prstGeom>
          <a:solidFill>
            <a:srgbClr val="092A3D"/>
          </a:solidFill>
          <a:ln w="0">
            <a:solidFill>
              <a:srgbClr val="092A3D"/>
            </a:solidFill>
            <a:prstDash val="solid"/>
          </a:ln>
        </p:spPr>
        <p:txBody>
          <a:bodyPr/>
          <a:lstStyle/>
          <a:p>
            <a:endParaRPr lang="en-IQ"/>
          </a:p>
        </p:txBody>
      </p:sp>
      <p:sp>
        <p:nvSpPr>
          <p:cNvPr id="9" name="Rectangle 8">
            <a:extLst>
              <a:ext uri="{FF2B5EF4-FFF2-40B4-BE49-F238E27FC236}">
                <a16:creationId xmlns:a16="http://schemas.microsoft.com/office/drawing/2014/main" id="{C658CDED-6032-4068-8A53-BEE075FC0186}"/>
              </a:ext>
            </a:extLst>
          </p:cNvPr>
          <p:cNvSpPr>
            <a:spLocks noGrp="1"/>
          </p:cNvSpPr>
          <p:nvPr/>
        </p:nvSpPr>
        <p:spPr>
          <a:xfrm>
            <a:off x="2257425" y="1438275"/>
            <a:ext cx="1104900" cy="4191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rPr>
              <a:t>Demand</a:t>
            </a:r>
          </a:p>
        </p:txBody>
      </p:sp>
      <p:sp>
        <p:nvSpPr>
          <p:cNvPr id="10" name="Rectangle 9">
            <a:extLst>
              <a:ext uri="{FF2B5EF4-FFF2-40B4-BE49-F238E27FC236}">
                <a16:creationId xmlns:a16="http://schemas.microsoft.com/office/drawing/2014/main" id="{4BDF8DF5-2BD7-48D1-9D3F-419876D6DEB7}"/>
              </a:ext>
            </a:extLst>
          </p:cNvPr>
          <p:cNvSpPr>
            <a:spLocks noGrp="1"/>
          </p:cNvSpPr>
          <p:nvPr/>
        </p:nvSpPr>
        <p:spPr>
          <a:xfrm>
            <a:off x="3429000" y="1381125"/>
            <a:ext cx="1905000" cy="533400"/>
          </a:xfrm>
          <a:prstGeom prst="rect">
            <a:avLst/>
          </a:prstGeom>
          <a:solidFill>
            <a:srgbClr val="092A3D"/>
          </a:solidFill>
          <a:ln w="0">
            <a:solidFill>
              <a:srgbClr val="092A3D"/>
            </a:solidFill>
            <a:prstDash val="solid"/>
          </a:ln>
        </p:spPr>
        <p:txBody>
          <a:bodyPr/>
          <a:lstStyle/>
          <a:p>
            <a:endParaRPr lang="en-IQ"/>
          </a:p>
        </p:txBody>
      </p:sp>
      <p:sp>
        <p:nvSpPr>
          <p:cNvPr id="11" name="Rectangle 10">
            <a:extLst>
              <a:ext uri="{FF2B5EF4-FFF2-40B4-BE49-F238E27FC236}">
                <a16:creationId xmlns:a16="http://schemas.microsoft.com/office/drawing/2014/main" id="{F24FE1C7-9B51-418E-9097-807B9F09EEFA}"/>
              </a:ext>
            </a:extLst>
          </p:cNvPr>
          <p:cNvSpPr>
            <a:spLocks noGrp="1"/>
          </p:cNvSpPr>
          <p:nvPr/>
        </p:nvSpPr>
        <p:spPr>
          <a:xfrm>
            <a:off x="3495675" y="1438275"/>
            <a:ext cx="1771650" cy="4191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rPr>
              <a:t>Latency to N1</a:t>
            </a:r>
          </a:p>
        </p:txBody>
      </p:sp>
      <p:sp>
        <p:nvSpPr>
          <p:cNvPr id="12" name="Rectangle 11">
            <a:extLst>
              <a:ext uri="{FF2B5EF4-FFF2-40B4-BE49-F238E27FC236}">
                <a16:creationId xmlns:a16="http://schemas.microsoft.com/office/drawing/2014/main" id="{A8011A8F-FF15-483C-B4DB-86C93BC350D3}"/>
              </a:ext>
            </a:extLst>
          </p:cNvPr>
          <p:cNvSpPr>
            <a:spLocks noGrp="1"/>
          </p:cNvSpPr>
          <p:nvPr/>
        </p:nvSpPr>
        <p:spPr>
          <a:xfrm>
            <a:off x="5334000" y="1381125"/>
            <a:ext cx="1428750" cy="533400"/>
          </a:xfrm>
          <a:prstGeom prst="rect">
            <a:avLst/>
          </a:prstGeom>
          <a:solidFill>
            <a:srgbClr val="092A3D"/>
          </a:solidFill>
          <a:ln w="0">
            <a:solidFill>
              <a:srgbClr val="092A3D"/>
            </a:solidFill>
            <a:prstDash val="solid"/>
          </a:ln>
        </p:spPr>
        <p:txBody>
          <a:bodyPr/>
          <a:lstStyle/>
          <a:p>
            <a:endParaRPr lang="en-IQ"/>
          </a:p>
        </p:txBody>
      </p:sp>
      <p:sp>
        <p:nvSpPr>
          <p:cNvPr id="13" name="Rectangle 12">
            <a:extLst>
              <a:ext uri="{FF2B5EF4-FFF2-40B4-BE49-F238E27FC236}">
                <a16:creationId xmlns:a16="http://schemas.microsoft.com/office/drawing/2014/main" id="{AB680C6C-386C-4500-A39B-D1A820603558}"/>
              </a:ext>
            </a:extLst>
          </p:cNvPr>
          <p:cNvSpPr>
            <a:spLocks noGrp="1"/>
          </p:cNvSpPr>
          <p:nvPr/>
        </p:nvSpPr>
        <p:spPr>
          <a:xfrm>
            <a:off x="5400675" y="1438275"/>
            <a:ext cx="1295400" cy="4191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rPr>
              <a:t>N2</a:t>
            </a:r>
          </a:p>
        </p:txBody>
      </p:sp>
      <p:sp>
        <p:nvSpPr>
          <p:cNvPr id="14" name="Rectangle 13">
            <a:extLst>
              <a:ext uri="{FF2B5EF4-FFF2-40B4-BE49-F238E27FC236}">
                <a16:creationId xmlns:a16="http://schemas.microsoft.com/office/drawing/2014/main" id="{18FE6F2C-3514-4837-9769-3541DB7810BE}"/>
              </a:ext>
            </a:extLst>
          </p:cNvPr>
          <p:cNvSpPr>
            <a:spLocks noGrp="1"/>
          </p:cNvSpPr>
          <p:nvPr/>
        </p:nvSpPr>
        <p:spPr>
          <a:xfrm>
            <a:off x="6762750" y="1381125"/>
            <a:ext cx="1428750" cy="533400"/>
          </a:xfrm>
          <a:prstGeom prst="rect">
            <a:avLst/>
          </a:prstGeom>
          <a:solidFill>
            <a:srgbClr val="092A3D"/>
          </a:solidFill>
          <a:ln w="0">
            <a:solidFill>
              <a:srgbClr val="092A3D"/>
            </a:solidFill>
            <a:prstDash val="solid"/>
          </a:ln>
        </p:spPr>
        <p:txBody>
          <a:bodyPr/>
          <a:lstStyle/>
          <a:p>
            <a:endParaRPr lang="en-IQ"/>
          </a:p>
        </p:txBody>
      </p:sp>
      <p:sp>
        <p:nvSpPr>
          <p:cNvPr id="15" name="Rectangle 14">
            <a:extLst>
              <a:ext uri="{FF2B5EF4-FFF2-40B4-BE49-F238E27FC236}">
                <a16:creationId xmlns:a16="http://schemas.microsoft.com/office/drawing/2014/main" id="{25B4E3F4-61B7-4F0D-9D72-AFDBEEDB9AD4}"/>
              </a:ext>
            </a:extLst>
          </p:cNvPr>
          <p:cNvSpPr>
            <a:spLocks noGrp="1"/>
          </p:cNvSpPr>
          <p:nvPr/>
        </p:nvSpPr>
        <p:spPr>
          <a:xfrm>
            <a:off x="6829425" y="1438275"/>
            <a:ext cx="1295400" cy="4191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rPr>
              <a:t>N3</a:t>
            </a:r>
          </a:p>
        </p:txBody>
      </p:sp>
      <p:sp>
        <p:nvSpPr>
          <p:cNvPr id="16" name="Rectangle 15">
            <a:extLst>
              <a:ext uri="{FF2B5EF4-FFF2-40B4-BE49-F238E27FC236}">
                <a16:creationId xmlns:a16="http://schemas.microsoft.com/office/drawing/2014/main" id="{E024218B-CF57-4F98-8E74-844F40C267A2}"/>
              </a:ext>
            </a:extLst>
          </p:cNvPr>
          <p:cNvSpPr>
            <a:spLocks noGrp="1"/>
          </p:cNvSpPr>
          <p:nvPr/>
        </p:nvSpPr>
        <p:spPr>
          <a:xfrm>
            <a:off x="8191500" y="1381125"/>
            <a:ext cx="1428750" cy="533400"/>
          </a:xfrm>
          <a:prstGeom prst="rect">
            <a:avLst/>
          </a:prstGeom>
          <a:solidFill>
            <a:srgbClr val="092A3D"/>
          </a:solidFill>
          <a:ln w="0">
            <a:solidFill>
              <a:srgbClr val="092A3D"/>
            </a:solidFill>
            <a:prstDash val="solid"/>
          </a:ln>
        </p:spPr>
        <p:txBody>
          <a:bodyPr/>
          <a:lstStyle/>
          <a:p>
            <a:endParaRPr lang="en-IQ"/>
          </a:p>
        </p:txBody>
      </p:sp>
      <p:sp>
        <p:nvSpPr>
          <p:cNvPr id="17" name="Rectangle 16">
            <a:extLst>
              <a:ext uri="{FF2B5EF4-FFF2-40B4-BE49-F238E27FC236}">
                <a16:creationId xmlns:a16="http://schemas.microsoft.com/office/drawing/2014/main" id="{97C41841-B08B-4A6D-8F2C-0E394C5919DE}"/>
              </a:ext>
            </a:extLst>
          </p:cNvPr>
          <p:cNvSpPr>
            <a:spLocks noGrp="1"/>
          </p:cNvSpPr>
          <p:nvPr/>
        </p:nvSpPr>
        <p:spPr>
          <a:xfrm>
            <a:off x="8258175" y="1438275"/>
            <a:ext cx="1295400" cy="4191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rPr>
              <a:t>N4</a:t>
            </a:r>
          </a:p>
        </p:txBody>
      </p:sp>
      <p:sp>
        <p:nvSpPr>
          <p:cNvPr id="18" name="Rectangle 17">
            <a:extLst>
              <a:ext uri="{FF2B5EF4-FFF2-40B4-BE49-F238E27FC236}">
                <a16:creationId xmlns:a16="http://schemas.microsoft.com/office/drawing/2014/main" id="{6E0F3878-B0D8-4E04-839C-3547397D8FCE}"/>
              </a:ext>
            </a:extLst>
          </p:cNvPr>
          <p:cNvSpPr>
            <a:spLocks noGrp="1"/>
          </p:cNvSpPr>
          <p:nvPr/>
        </p:nvSpPr>
        <p:spPr>
          <a:xfrm>
            <a:off x="762000" y="1914525"/>
            <a:ext cx="1428750" cy="476250"/>
          </a:xfrm>
          <a:prstGeom prst="rect">
            <a:avLst/>
          </a:prstGeom>
          <a:solidFill>
            <a:srgbClr val="E9EEEC"/>
          </a:solidFill>
          <a:ln w="9525">
            <a:solidFill>
              <a:srgbClr val="CED9DB"/>
            </a:solidFill>
            <a:prstDash val="solid"/>
          </a:ln>
        </p:spPr>
        <p:txBody>
          <a:bodyPr/>
          <a:lstStyle/>
          <a:p>
            <a:endParaRPr lang="en-IQ"/>
          </a:p>
        </p:txBody>
      </p:sp>
      <p:sp>
        <p:nvSpPr>
          <p:cNvPr id="19" name="Rectangle 18">
            <a:extLst>
              <a:ext uri="{FF2B5EF4-FFF2-40B4-BE49-F238E27FC236}">
                <a16:creationId xmlns:a16="http://schemas.microsoft.com/office/drawing/2014/main" id="{0D77DF13-3456-458F-849E-BB2D35D0CF6F}"/>
              </a:ext>
            </a:extLst>
          </p:cNvPr>
          <p:cNvSpPr>
            <a:spLocks noGrp="1"/>
          </p:cNvSpPr>
          <p:nvPr/>
        </p:nvSpPr>
        <p:spPr>
          <a:xfrm>
            <a:off x="828675" y="1952625"/>
            <a:ext cx="1295400" cy="400050"/>
          </a:xfrm>
          <a:prstGeom prst="rect">
            <a:avLst/>
          </a:prstGeom>
          <a:noFill/>
          <a:ln w="0">
            <a:noFill/>
            <a:prstDash val="solid"/>
          </a:ln>
        </p:spPr>
        <p:txBody>
          <a:bodyPr anchor="ctr"/>
          <a:lstStyle/>
          <a:p>
            <a:pPr algn="ctr">
              <a:defRPr sz="1200" b="1">
                <a:solidFill>
                  <a:srgbClr val="0B9B91"/>
                </a:solidFill>
              </a:defRPr>
            </a:pPr>
            <a:r>
              <a:rPr sz="1200" b="1">
                <a:solidFill>
                  <a:srgbClr val="0B9B91"/>
                </a:solidFill>
              </a:rPr>
              <a:t>S1</a:t>
            </a:r>
          </a:p>
        </p:txBody>
      </p:sp>
      <p:sp>
        <p:nvSpPr>
          <p:cNvPr id="20" name="Rectangle 19">
            <a:extLst>
              <a:ext uri="{FF2B5EF4-FFF2-40B4-BE49-F238E27FC236}">
                <a16:creationId xmlns:a16="http://schemas.microsoft.com/office/drawing/2014/main" id="{6CF773BF-F56F-4A64-971F-B1366EF82B6A}"/>
              </a:ext>
            </a:extLst>
          </p:cNvPr>
          <p:cNvSpPr>
            <a:spLocks noGrp="1"/>
          </p:cNvSpPr>
          <p:nvPr/>
        </p:nvSpPr>
        <p:spPr>
          <a:xfrm>
            <a:off x="2190750" y="1914525"/>
            <a:ext cx="1238250" cy="476250"/>
          </a:xfrm>
          <a:prstGeom prst="rect">
            <a:avLst/>
          </a:prstGeom>
          <a:solidFill>
            <a:srgbClr val="E9EEEC"/>
          </a:solidFill>
          <a:ln w="9525">
            <a:solidFill>
              <a:srgbClr val="CED9DB"/>
            </a:solidFill>
            <a:prstDash val="solid"/>
          </a:ln>
        </p:spPr>
        <p:txBody>
          <a:bodyPr/>
          <a:lstStyle/>
          <a:p>
            <a:endParaRPr lang="en-IQ"/>
          </a:p>
        </p:txBody>
      </p:sp>
      <p:sp>
        <p:nvSpPr>
          <p:cNvPr id="21" name="Rectangle 20">
            <a:extLst>
              <a:ext uri="{FF2B5EF4-FFF2-40B4-BE49-F238E27FC236}">
                <a16:creationId xmlns:a16="http://schemas.microsoft.com/office/drawing/2014/main" id="{ECA79F95-A842-4296-B62D-21783364B4FF}"/>
              </a:ext>
            </a:extLst>
          </p:cNvPr>
          <p:cNvSpPr>
            <a:spLocks noGrp="1"/>
          </p:cNvSpPr>
          <p:nvPr/>
        </p:nvSpPr>
        <p:spPr>
          <a:xfrm>
            <a:off x="2257425" y="1952625"/>
            <a:ext cx="11049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3</a:t>
            </a:r>
          </a:p>
        </p:txBody>
      </p:sp>
      <p:sp>
        <p:nvSpPr>
          <p:cNvPr id="22" name="Rectangle 21">
            <a:extLst>
              <a:ext uri="{FF2B5EF4-FFF2-40B4-BE49-F238E27FC236}">
                <a16:creationId xmlns:a16="http://schemas.microsoft.com/office/drawing/2014/main" id="{94EE73CC-F1B3-446D-B294-CF47F6714333}"/>
              </a:ext>
            </a:extLst>
          </p:cNvPr>
          <p:cNvSpPr>
            <a:spLocks noGrp="1"/>
          </p:cNvSpPr>
          <p:nvPr/>
        </p:nvSpPr>
        <p:spPr>
          <a:xfrm>
            <a:off x="3429000" y="1914525"/>
            <a:ext cx="1905000" cy="476250"/>
          </a:xfrm>
          <a:prstGeom prst="rect">
            <a:avLst/>
          </a:prstGeom>
          <a:solidFill>
            <a:srgbClr val="E9EEEC"/>
          </a:solidFill>
          <a:ln w="9525">
            <a:solidFill>
              <a:srgbClr val="CED9DB"/>
            </a:solidFill>
            <a:prstDash val="solid"/>
          </a:ln>
        </p:spPr>
        <p:txBody>
          <a:bodyPr/>
          <a:lstStyle/>
          <a:p>
            <a:endParaRPr lang="en-IQ"/>
          </a:p>
        </p:txBody>
      </p:sp>
      <p:sp>
        <p:nvSpPr>
          <p:cNvPr id="23" name="Rectangle 22">
            <a:extLst>
              <a:ext uri="{FF2B5EF4-FFF2-40B4-BE49-F238E27FC236}">
                <a16:creationId xmlns:a16="http://schemas.microsoft.com/office/drawing/2014/main" id="{F46701C0-6E7B-44DF-BA77-A6AD9FA27F6E}"/>
              </a:ext>
            </a:extLst>
          </p:cNvPr>
          <p:cNvSpPr>
            <a:spLocks noGrp="1"/>
          </p:cNvSpPr>
          <p:nvPr/>
        </p:nvSpPr>
        <p:spPr>
          <a:xfrm>
            <a:off x="3495675" y="1952625"/>
            <a:ext cx="177165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4</a:t>
            </a:r>
          </a:p>
        </p:txBody>
      </p:sp>
      <p:sp>
        <p:nvSpPr>
          <p:cNvPr id="24" name="Rectangle 23">
            <a:extLst>
              <a:ext uri="{FF2B5EF4-FFF2-40B4-BE49-F238E27FC236}">
                <a16:creationId xmlns:a16="http://schemas.microsoft.com/office/drawing/2014/main" id="{7AC04341-A50D-4C82-88E4-6E94D1F78D71}"/>
              </a:ext>
            </a:extLst>
          </p:cNvPr>
          <p:cNvSpPr>
            <a:spLocks noGrp="1"/>
          </p:cNvSpPr>
          <p:nvPr/>
        </p:nvSpPr>
        <p:spPr>
          <a:xfrm>
            <a:off x="5334000" y="1914525"/>
            <a:ext cx="1428750" cy="476250"/>
          </a:xfrm>
          <a:prstGeom prst="rect">
            <a:avLst/>
          </a:prstGeom>
          <a:solidFill>
            <a:srgbClr val="E9EEEC"/>
          </a:solidFill>
          <a:ln w="9525">
            <a:solidFill>
              <a:srgbClr val="CED9DB"/>
            </a:solidFill>
            <a:prstDash val="solid"/>
          </a:ln>
        </p:spPr>
        <p:txBody>
          <a:bodyPr/>
          <a:lstStyle/>
          <a:p>
            <a:endParaRPr lang="en-IQ"/>
          </a:p>
        </p:txBody>
      </p:sp>
      <p:sp>
        <p:nvSpPr>
          <p:cNvPr id="25" name="Rectangle 24">
            <a:extLst>
              <a:ext uri="{FF2B5EF4-FFF2-40B4-BE49-F238E27FC236}">
                <a16:creationId xmlns:a16="http://schemas.microsoft.com/office/drawing/2014/main" id="{ADCD2188-26F3-42F3-9945-2202B8DD796B}"/>
              </a:ext>
            </a:extLst>
          </p:cNvPr>
          <p:cNvSpPr>
            <a:spLocks noGrp="1"/>
          </p:cNvSpPr>
          <p:nvPr/>
        </p:nvSpPr>
        <p:spPr>
          <a:xfrm>
            <a:off x="5400675" y="1952625"/>
            <a:ext cx="12954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7</a:t>
            </a:r>
          </a:p>
        </p:txBody>
      </p:sp>
      <p:sp>
        <p:nvSpPr>
          <p:cNvPr id="26" name="Rectangle 25">
            <a:extLst>
              <a:ext uri="{FF2B5EF4-FFF2-40B4-BE49-F238E27FC236}">
                <a16:creationId xmlns:a16="http://schemas.microsoft.com/office/drawing/2014/main" id="{E7CF1AB4-706B-4A01-A246-2671CC7BA25B}"/>
              </a:ext>
            </a:extLst>
          </p:cNvPr>
          <p:cNvSpPr>
            <a:spLocks noGrp="1"/>
          </p:cNvSpPr>
          <p:nvPr/>
        </p:nvSpPr>
        <p:spPr>
          <a:xfrm>
            <a:off x="6762750" y="1914525"/>
            <a:ext cx="1428750" cy="476250"/>
          </a:xfrm>
          <a:prstGeom prst="rect">
            <a:avLst/>
          </a:prstGeom>
          <a:solidFill>
            <a:srgbClr val="E9EEEC"/>
          </a:solidFill>
          <a:ln w="9525">
            <a:solidFill>
              <a:srgbClr val="CED9DB"/>
            </a:solidFill>
            <a:prstDash val="solid"/>
          </a:ln>
        </p:spPr>
        <p:txBody>
          <a:bodyPr/>
          <a:lstStyle/>
          <a:p>
            <a:endParaRPr lang="en-IQ"/>
          </a:p>
        </p:txBody>
      </p:sp>
      <p:sp>
        <p:nvSpPr>
          <p:cNvPr id="27" name="Rectangle 26">
            <a:extLst>
              <a:ext uri="{FF2B5EF4-FFF2-40B4-BE49-F238E27FC236}">
                <a16:creationId xmlns:a16="http://schemas.microsoft.com/office/drawing/2014/main" id="{F3BF40B3-CAA8-491A-8B91-9FC01654DD6E}"/>
              </a:ext>
            </a:extLst>
          </p:cNvPr>
          <p:cNvSpPr>
            <a:spLocks noGrp="1"/>
          </p:cNvSpPr>
          <p:nvPr/>
        </p:nvSpPr>
        <p:spPr>
          <a:xfrm>
            <a:off x="6829425" y="1952625"/>
            <a:ext cx="12954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9</a:t>
            </a:r>
          </a:p>
        </p:txBody>
      </p:sp>
      <p:sp>
        <p:nvSpPr>
          <p:cNvPr id="28" name="Rectangle 27">
            <a:extLst>
              <a:ext uri="{FF2B5EF4-FFF2-40B4-BE49-F238E27FC236}">
                <a16:creationId xmlns:a16="http://schemas.microsoft.com/office/drawing/2014/main" id="{0B2E3B38-3E8F-4EEB-A57B-2348EBBF9E01}"/>
              </a:ext>
            </a:extLst>
          </p:cNvPr>
          <p:cNvSpPr>
            <a:spLocks noGrp="1"/>
          </p:cNvSpPr>
          <p:nvPr/>
        </p:nvSpPr>
        <p:spPr>
          <a:xfrm>
            <a:off x="8191500" y="1914525"/>
            <a:ext cx="1428750" cy="476250"/>
          </a:xfrm>
          <a:prstGeom prst="rect">
            <a:avLst/>
          </a:prstGeom>
          <a:solidFill>
            <a:srgbClr val="E9EEEC"/>
          </a:solidFill>
          <a:ln w="9525">
            <a:solidFill>
              <a:srgbClr val="CED9DB"/>
            </a:solidFill>
            <a:prstDash val="solid"/>
          </a:ln>
        </p:spPr>
        <p:txBody>
          <a:bodyPr/>
          <a:lstStyle/>
          <a:p>
            <a:endParaRPr lang="en-IQ"/>
          </a:p>
        </p:txBody>
      </p:sp>
      <p:sp>
        <p:nvSpPr>
          <p:cNvPr id="29" name="Rectangle 28">
            <a:extLst>
              <a:ext uri="{FF2B5EF4-FFF2-40B4-BE49-F238E27FC236}">
                <a16:creationId xmlns:a16="http://schemas.microsoft.com/office/drawing/2014/main" id="{F77059B0-77F2-4BC3-8D19-D346D08360E0}"/>
              </a:ext>
            </a:extLst>
          </p:cNvPr>
          <p:cNvSpPr>
            <a:spLocks noGrp="1"/>
          </p:cNvSpPr>
          <p:nvPr/>
        </p:nvSpPr>
        <p:spPr>
          <a:xfrm>
            <a:off x="8258175" y="1952625"/>
            <a:ext cx="12954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6</a:t>
            </a:r>
          </a:p>
        </p:txBody>
      </p:sp>
      <p:sp>
        <p:nvSpPr>
          <p:cNvPr id="30" name="Rectangle 29">
            <a:extLst>
              <a:ext uri="{FF2B5EF4-FFF2-40B4-BE49-F238E27FC236}">
                <a16:creationId xmlns:a16="http://schemas.microsoft.com/office/drawing/2014/main" id="{5B4BF183-3988-4D6A-BFAD-BFC85DCCA32D}"/>
              </a:ext>
            </a:extLst>
          </p:cNvPr>
          <p:cNvSpPr>
            <a:spLocks noGrp="1"/>
          </p:cNvSpPr>
          <p:nvPr/>
        </p:nvSpPr>
        <p:spPr>
          <a:xfrm>
            <a:off x="762000" y="2390775"/>
            <a:ext cx="1428750" cy="476250"/>
          </a:xfrm>
          <a:prstGeom prst="rect">
            <a:avLst/>
          </a:prstGeom>
          <a:solidFill>
            <a:srgbClr val="FFFFFF"/>
          </a:solidFill>
          <a:ln w="9525">
            <a:solidFill>
              <a:srgbClr val="CED9DB"/>
            </a:solidFill>
            <a:prstDash val="solid"/>
          </a:ln>
        </p:spPr>
        <p:txBody>
          <a:bodyPr/>
          <a:lstStyle/>
          <a:p>
            <a:endParaRPr lang="en-IQ"/>
          </a:p>
        </p:txBody>
      </p:sp>
      <p:sp>
        <p:nvSpPr>
          <p:cNvPr id="31" name="Rectangle 30">
            <a:extLst>
              <a:ext uri="{FF2B5EF4-FFF2-40B4-BE49-F238E27FC236}">
                <a16:creationId xmlns:a16="http://schemas.microsoft.com/office/drawing/2014/main" id="{B09E0708-5E48-4C95-88A4-5A9A38FDC53F}"/>
              </a:ext>
            </a:extLst>
          </p:cNvPr>
          <p:cNvSpPr>
            <a:spLocks noGrp="1"/>
          </p:cNvSpPr>
          <p:nvPr/>
        </p:nvSpPr>
        <p:spPr>
          <a:xfrm>
            <a:off x="828675" y="2428875"/>
            <a:ext cx="1295400" cy="400050"/>
          </a:xfrm>
          <a:prstGeom prst="rect">
            <a:avLst/>
          </a:prstGeom>
          <a:noFill/>
          <a:ln w="0">
            <a:noFill/>
            <a:prstDash val="solid"/>
          </a:ln>
        </p:spPr>
        <p:txBody>
          <a:bodyPr anchor="ctr"/>
          <a:lstStyle/>
          <a:p>
            <a:pPr algn="ctr">
              <a:defRPr sz="1200" b="1">
                <a:solidFill>
                  <a:srgbClr val="0B9B91"/>
                </a:solidFill>
              </a:defRPr>
            </a:pPr>
            <a:r>
              <a:rPr sz="1200" b="1">
                <a:solidFill>
                  <a:srgbClr val="0B9B91"/>
                </a:solidFill>
              </a:rPr>
              <a:t>S2</a:t>
            </a:r>
          </a:p>
        </p:txBody>
      </p:sp>
      <p:sp>
        <p:nvSpPr>
          <p:cNvPr id="32" name="Rectangle 31">
            <a:extLst>
              <a:ext uri="{FF2B5EF4-FFF2-40B4-BE49-F238E27FC236}">
                <a16:creationId xmlns:a16="http://schemas.microsoft.com/office/drawing/2014/main" id="{3C922EA4-8922-45F7-AE50-1490D5D80FBF}"/>
              </a:ext>
            </a:extLst>
          </p:cNvPr>
          <p:cNvSpPr>
            <a:spLocks noGrp="1"/>
          </p:cNvSpPr>
          <p:nvPr/>
        </p:nvSpPr>
        <p:spPr>
          <a:xfrm>
            <a:off x="2190750" y="2390775"/>
            <a:ext cx="1238250" cy="476250"/>
          </a:xfrm>
          <a:prstGeom prst="rect">
            <a:avLst/>
          </a:prstGeom>
          <a:solidFill>
            <a:srgbClr val="FFFFFF"/>
          </a:solidFill>
          <a:ln w="9525">
            <a:solidFill>
              <a:srgbClr val="CED9DB"/>
            </a:solidFill>
            <a:prstDash val="solid"/>
          </a:ln>
        </p:spPr>
        <p:txBody>
          <a:bodyPr/>
          <a:lstStyle/>
          <a:p>
            <a:endParaRPr lang="en-IQ"/>
          </a:p>
        </p:txBody>
      </p:sp>
      <p:sp>
        <p:nvSpPr>
          <p:cNvPr id="33" name="Rectangle 32">
            <a:extLst>
              <a:ext uri="{FF2B5EF4-FFF2-40B4-BE49-F238E27FC236}">
                <a16:creationId xmlns:a16="http://schemas.microsoft.com/office/drawing/2014/main" id="{F1FE1783-22C2-41EE-B8F9-609674BE878A}"/>
              </a:ext>
            </a:extLst>
          </p:cNvPr>
          <p:cNvSpPr>
            <a:spLocks noGrp="1"/>
          </p:cNvSpPr>
          <p:nvPr/>
        </p:nvSpPr>
        <p:spPr>
          <a:xfrm>
            <a:off x="2257425" y="2428875"/>
            <a:ext cx="11049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2</a:t>
            </a:r>
          </a:p>
        </p:txBody>
      </p:sp>
      <p:sp>
        <p:nvSpPr>
          <p:cNvPr id="34" name="Rectangle 33">
            <a:extLst>
              <a:ext uri="{FF2B5EF4-FFF2-40B4-BE49-F238E27FC236}">
                <a16:creationId xmlns:a16="http://schemas.microsoft.com/office/drawing/2014/main" id="{941FECBF-FD03-4A6B-90A1-7BC9C35403B8}"/>
              </a:ext>
            </a:extLst>
          </p:cNvPr>
          <p:cNvSpPr>
            <a:spLocks noGrp="1"/>
          </p:cNvSpPr>
          <p:nvPr/>
        </p:nvSpPr>
        <p:spPr>
          <a:xfrm>
            <a:off x="3429000" y="2390775"/>
            <a:ext cx="1905000" cy="476250"/>
          </a:xfrm>
          <a:prstGeom prst="rect">
            <a:avLst/>
          </a:prstGeom>
          <a:solidFill>
            <a:srgbClr val="FFFFFF"/>
          </a:solidFill>
          <a:ln w="9525">
            <a:solidFill>
              <a:srgbClr val="CED9DB"/>
            </a:solidFill>
            <a:prstDash val="solid"/>
          </a:ln>
        </p:spPr>
        <p:txBody>
          <a:bodyPr/>
          <a:lstStyle/>
          <a:p>
            <a:endParaRPr lang="en-IQ"/>
          </a:p>
        </p:txBody>
      </p:sp>
      <p:sp>
        <p:nvSpPr>
          <p:cNvPr id="35" name="Rectangle 34">
            <a:extLst>
              <a:ext uri="{FF2B5EF4-FFF2-40B4-BE49-F238E27FC236}">
                <a16:creationId xmlns:a16="http://schemas.microsoft.com/office/drawing/2014/main" id="{CAA57F3A-EBB0-4923-B86F-CFA893FEB08C}"/>
              </a:ext>
            </a:extLst>
          </p:cNvPr>
          <p:cNvSpPr>
            <a:spLocks noGrp="1"/>
          </p:cNvSpPr>
          <p:nvPr/>
        </p:nvSpPr>
        <p:spPr>
          <a:xfrm>
            <a:off x="3495675" y="2428875"/>
            <a:ext cx="177165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8</a:t>
            </a:r>
          </a:p>
        </p:txBody>
      </p:sp>
      <p:sp>
        <p:nvSpPr>
          <p:cNvPr id="36" name="Rectangle 35">
            <a:extLst>
              <a:ext uri="{FF2B5EF4-FFF2-40B4-BE49-F238E27FC236}">
                <a16:creationId xmlns:a16="http://schemas.microsoft.com/office/drawing/2014/main" id="{0623DED7-9089-492F-8857-EFABBB648437}"/>
              </a:ext>
            </a:extLst>
          </p:cNvPr>
          <p:cNvSpPr>
            <a:spLocks noGrp="1"/>
          </p:cNvSpPr>
          <p:nvPr/>
        </p:nvSpPr>
        <p:spPr>
          <a:xfrm>
            <a:off x="5334000" y="2390775"/>
            <a:ext cx="1428750" cy="476250"/>
          </a:xfrm>
          <a:prstGeom prst="rect">
            <a:avLst/>
          </a:prstGeom>
          <a:solidFill>
            <a:srgbClr val="FFFFFF"/>
          </a:solidFill>
          <a:ln w="9525">
            <a:solidFill>
              <a:srgbClr val="CED9DB"/>
            </a:solidFill>
            <a:prstDash val="solid"/>
          </a:ln>
        </p:spPr>
        <p:txBody>
          <a:bodyPr/>
          <a:lstStyle/>
          <a:p>
            <a:endParaRPr lang="en-IQ"/>
          </a:p>
        </p:txBody>
      </p:sp>
      <p:sp>
        <p:nvSpPr>
          <p:cNvPr id="37" name="Rectangle 36">
            <a:extLst>
              <a:ext uri="{FF2B5EF4-FFF2-40B4-BE49-F238E27FC236}">
                <a16:creationId xmlns:a16="http://schemas.microsoft.com/office/drawing/2014/main" id="{496CC171-523E-4E3C-A7BB-C2C8F65B07EA}"/>
              </a:ext>
            </a:extLst>
          </p:cNvPr>
          <p:cNvSpPr>
            <a:spLocks noGrp="1"/>
          </p:cNvSpPr>
          <p:nvPr/>
        </p:nvSpPr>
        <p:spPr>
          <a:xfrm>
            <a:off x="5400675" y="2428875"/>
            <a:ext cx="12954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3</a:t>
            </a:r>
          </a:p>
        </p:txBody>
      </p:sp>
      <p:sp>
        <p:nvSpPr>
          <p:cNvPr id="38" name="Rectangle 37">
            <a:extLst>
              <a:ext uri="{FF2B5EF4-FFF2-40B4-BE49-F238E27FC236}">
                <a16:creationId xmlns:a16="http://schemas.microsoft.com/office/drawing/2014/main" id="{1DC758AB-65A2-400B-8FB7-41B12F3D0F2A}"/>
              </a:ext>
            </a:extLst>
          </p:cNvPr>
          <p:cNvSpPr>
            <a:spLocks noGrp="1"/>
          </p:cNvSpPr>
          <p:nvPr/>
        </p:nvSpPr>
        <p:spPr>
          <a:xfrm>
            <a:off x="6762750" y="2390775"/>
            <a:ext cx="1428750" cy="476250"/>
          </a:xfrm>
          <a:prstGeom prst="rect">
            <a:avLst/>
          </a:prstGeom>
          <a:solidFill>
            <a:srgbClr val="FFFFFF"/>
          </a:solidFill>
          <a:ln w="9525">
            <a:solidFill>
              <a:srgbClr val="CED9DB"/>
            </a:solidFill>
            <a:prstDash val="solid"/>
          </a:ln>
        </p:spPr>
        <p:txBody>
          <a:bodyPr/>
          <a:lstStyle/>
          <a:p>
            <a:endParaRPr lang="en-IQ"/>
          </a:p>
        </p:txBody>
      </p:sp>
      <p:sp>
        <p:nvSpPr>
          <p:cNvPr id="39" name="Rectangle 38">
            <a:extLst>
              <a:ext uri="{FF2B5EF4-FFF2-40B4-BE49-F238E27FC236}">
                <a16:creationId xmlns:a16="http://schemas.microsoft.com/office/drawing/2014/main" id="{E7879C6C-DA05-45D4-8612-C6B331A0E332}"/>
              </a:ext>
            </a:extLst>
          </p:cNvPr>
          <p:cNvSpPr>
            <a:spLocks noGrp="1"/>
          </p:cNvSpPr>
          <p:nvPr/>
        </p:nvSpPr>
        <p:spPr>
          <a:xfrm>
            <a:off x="6829425" y="2428875"/>
            <a:ext cx="12954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7</a:t>
            </a:r>
          </a:p>
        </p:txBody>
      </p:sp>
      <p:sp>
        <p:nvSpPr>
          <p:cNvPr id="40" name="Rectangle 39">
            <a:extLst>
              <a:ext uri="{FF2B5EF4-FFF2-40B4-BE49-F238E27FC236}">
                <a16:creationId xmlns:a16="http://schemas.microsoft.com/office/drawing/2014/main" id="{4E95F6F7-99D2-4A5E-B930-D3CF07453F1C}"/>
              </a:ext>
            </a:extLst>
          </p:cNvPr>
          <p:cNvSpPr>
            <a:spLocks noGrp="1"/>
          </p:cNvSpPr>
          <p:nvPr/>
        </p:nvSpPr>
        <p:spPr>
          <a:xfrm>
            <a:off x="8191500" y="2390775"/>
            <a:ext cx="1428750" cy="476250"/>
          </a:xfrm>
          <a:prstGeom prst="rect">
            <a:avLst/>
          </a:prstGeom>
          <a:solidFill>
            <a:srgbClr val="FFFFFF"/>
          </a:solidFill>
          <a:ln w="9525">
            <a:solidFill>
              <a:srgbClr val="CED9DB"/>
            </a:solidFill>
            <a:prstDash val="solid"/>
          </a:ln>
        </p:spPr>
        <p:txBody>
          <a:bodyPr/>
          <a:lstStyle/>
          <a:p>
            <a:endParaRPr lang="en-IQ"/>
          </a:p>
        </p:txBody>
      </p:sp>
      <p:sp>
        <p:nvSpPr>
          <p:cNvPr id="41" name="Rectangle 40">
            <a:extLst>
              <a:ext uri="{FF2B5EF4-FFF2-40B4-BE49-F238E27FC236}">
                <a16:creationId xmlns:a16="http://schemas.microsoft.com/office/drawing/2014/main" id="{78AD8938-9A1D-45F0-8B12-DCC7320444C0}"/>
              </a:ext>
            </a:extLst>
          </p:cNvPr>
          <p:cNvSpPr>
            <a:spLocks noGrp="1"/>
          </p:cNvSpPr>
          <p:nvPr/>
        </p:nvSpPr>
        <p:spPr>
          <a:xfrm>
            <a:off x="8258175" y="2428875"/>
            <a:ext cx="12954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5</a:t>
            </a:r>
          </a:p>
        </p:txBody>
      </p:sp>
      <p:sp>
        <p:nvSpPr>
          <p:cNvPr id="42" name="Rectangle 41">
            <a:extLst>
              <a:ext uri="{FF2B5EF4-FFF2-40B4-BE49-F238E27FC236}">
                <a16:creationId xmlns:a16="http://schemas.microsoft.com/office/drawing/2014/main" id="{52F5E1C5-45C4-49C7-A849-7776DF6118AB}"/>
              </a:ext>
            </a:extLst>
          </p:cNvPr>
          <p:cNvSpPr>
            <a:spLocks noGrp="1"/>
          </p:cNvSpPr>
          <p:nvPr/>
        </p:nvSpPr>
        <p:spPr>
          <a:xfrm>
            <a:off x="762000" y="2867025"/>
            <a:ext cx="1428750" cy="476250"/>
          </a:xfrm>
          <a:prstGeom prst="rect">
            <a:avLst/>
          </a:prstGeom>
          <a:solidFill>
            <a:srgbClr val="E9EEEC"/>
          </a:solidFill>
          <a:ln w="9525">
            <a:solidFill>
              <a:srgbClr val="CED9DB"/>
            </a:solidFill>
            <a:prstDash val="solid"/>
          </a:ln>
        </p:spPr>
        <p:txBody>
          <a:bodyPr/>
          <a:lstStyle/>
          <a:p>
            <a:endParaRPr lang="en-IQ"/>
          </a:p>
        </p:txBody>
      </p:sp>
      <p:sp>
        <p:nvSpPr>
          <p:cNvPr id="43" name="Rectangle 42">
            <a:extLst>
              <a:ext uri="{FF2B5EF4-FFF2-40B4-BE49-F238E27FC236}">
                <a16:creationId xmlns:a16="http://schemas.microsoft.com/office/drawing/2014/main" id="{8A33975D-8591-4F25-A211-1704EB1B07F5}"/>
              </a:ext>
            </a:extLst>
          </p:cNvPr>
          <p:cNvSpPr>
            <a:spLocks noGrp="1"/>
          </p:cNvSpPr>
          <p:nvPr/>
        </p:nvSpPr>
        <p:spPr>
          <a:xfrm>
            <a:off x="828675" y="2905125"/>
            <a:ext cx="1295400" cy="400050"/>
          </a:xfrm>
          <a:prstGeom prst="rect">
            <a:avLst/>
          </a:prstGeom>
          <a:noFill/>
          <a:ln w="0">
            <a:noFill/>
            <a:prstDash val="solid"/>
          </a:ln>
        </p:spPr>
        <p:txBody>
          <a:bodyPr anchor="ctr"/>
          <a:lstStyle/>
          <a:p>
            <a:pPr algn="ctr">
              <a:defRPr sz="1200" b="1">
                <a:solidFill>
                  <a:srgbClr val="0B9B91"/>
                </a:solidFill>
              </a:defRPr>
            </a:pPr>
            <a:r>
              <a:rPr sz="1200" b="1">
                <a:solidFill>
                  <a:srgbClr val="0B9B91"/>
                </a:solidFill>
              </a:rPr>
              <a:t>S3</a:t>
            </a:r>
          </a:p>
        </p:txBody>
      </p:sp>
      <p:sp>
        <p:nvSpPr>
          <p:cNvPr id="44" name="Rectangle 43">
            <a:extLst>
              <a:ext uri="{FF2B5EF4-FFF2-40B4-BE49-F238E27FC236}">
                <a16:creationId xmlns:a16="http://schemas.microsoft.com/office/drawing/2014/main" id="{D0C28099-3CC2-4819-B62E-3E0A8218CF1F}"/>
              </a:ext>
            </a:extLst>
          </p:cNvPr>
          <p:cNvSpPr>
            <a:spLocks noGrp="1"/>
          </p:cNvSpPr>
          <p:nvPr/>
        </p:nvSpPr>
        <p:spPr>
          <a:xfrm>
            <a:off x="2190750" y="2867025"/>
            <a:ext cx="1238250" cy="476250"/>
          </a:xfrm>
          <a:prstGeom prst="rect">
            <a:avLst/>
          </a:prstGeom>
          <a:solidFill>
            <a:srgbClr val="E9EEEC"/>
          </a:solidFill>
          <a:ln w="9525">
            <a:solidFill>
              <a:srgbClr val="CED9DB"/>
            </a:solidFill>
            <a:prstDash val="solid"/>
          </a:ln>
        </p:spPr>
        <p:txBody>
          <a:bodyPr/>
          <a:lstStyle/>
          <a:p>
            <a:endParaRPr lang="en-IQ"/>
          </a:p>
        </p:txBody>
      </p:sp>
      <p:sp>
        <p:nvSpPr>
          <p:cNvPr id="45" name="Rectangle 44">
            <a:extLst>
              <a:ext uri="{FF2B5EF4-FFF2-40B4-BE49-F238E27FC236}">
                <a16:creationId xmlns:a16="http://schemas.microsoft.com/office/drawing/2014/main" id="{BE4DCE21-8F24-448E-8B9E-805768424378}"/>
              </a:ext>
            </a:extLst>
          </p:cNvPr>
          <p:cNvSpPr>
            <a:spLocks noGrp="1"/>
          </p:cNvSpPr>
          <p:nvPr/>
        </p:nvSpPr>
        <p:spPr>
          <a:xfrm>
            <a:off x="2257425" y="2905125"/>
            <a:ext cx="11049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4</a:t>
            </a:r>
          </a:p>
        </p:txBody>
      </p:sp>
      <p:sp>
        <p:nvSpPr>
          <p:cNvPr id="46" name="Rectangle 45">
            <a:extLst>
              <a:ext uri="{FF2B5EF4-FFF2-40B4-BE49-F238E27FC236}">
                <a16:creationId xmlns:a16="http://schemas.microsoft.com/office/drawing/2014/main" id="{AACDD9CF-872B-4712-8A9F-241845872AC8}"/>
              </a:ext>
            </a:extLst>
          </p:cNvPr>
          <p:cNvSpPr>
            <a:spLocks noGrp="1"/>
          </p:cNvSpPr>
          <p:nvPr/>
        </p:nvSpPr>
        <p:spPr>
          <a:xfrm>
            <a:off x="3429000" y="2867025"/>
            <a:ext cx="1905000" cy="476250"/>
          </a:xfrm>
          <a:prstGeom prst="rect">
            <a:avLst/>
          </a:prstGeom>
          <a:solidFill>
            <a:srgbClr val="E9EEEC"/>
          </a:solidFill>
          <a:ln w="9525">
            <a:solidFill>
              <a:srgbClr val="CED9DB"/>
            </a:solidFill>
            <a:prstDash val="solid"/>
          </a:ln>
        </p:spPr>
        <p:txBody>
          <a:bodyPr/>
          <a:lstStyle/>
          <a:p>
            <a:endParaRPr lang="en-IQ"/>
          </a:p>
        </p:txBody>
      </p:sp>
      <p:sp>
        <p:nvSpPr>
          <p:cNvPr id="47" name="Rectangle 46">
            <a:extLst>
              <a:ext uri="{FF2B5EF4-FFF2-40B4-BE49-F238E27FC236}">
                <a16:creationId xmlns:a16="http://schemas.microsoft.com/office/drawing/2014/main" id="{E270EEC2-8E8B-4C67-A82E-2A6CADF91D7C}"/>
              </a:ext>
            </a:extLst>
          </p:cNvPr>
          <p:cNvSpPr>
            <a:spLocks noGrp="1"/>
          </p:cNvSpPr>
          <p:nvPr/>
        </p:nvSpPr>
        <p:spPr>
          <a:xfrm>
            <a:off x="3495675" y="2905125"/>
            <a:ext cx="177165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6</a:t>
            </a:r>
          </a:p>
        </p:txBody>
      </p:sp>
      <p:sp>
        <p:nvSpPr>
          <p:cNvPr id="48" name="Rectangle 47">
            <a:extLst>
              <a:ext uri="{FF2B5EF4-FFF2-40B4-BE49-F238E27FC236}">
                <a16:creationId xmlns:a16="http://schemas.microsoft.com/office/drawing/2014/main" id="{D2D7A11A-1C34-4CE1-9131-BBF48FD7DD76}"/>
              </a:ext>
            </a:extLst>
          </p:cNvPr>
          <p:cNvSpPr>
            <a:spLocks noGrp="1"/>
          </p:cNvSpPr>
          <p:nvPr/>
        </p:nvSpPr>
        <p:spPr>
          <a:xfrm>
            <a:off x="5334000" y="2867025"/>
            <a:ext cx="1428750" cy="476250"/>
          </a:xfrm>
          <a:prstGeom prst="rect">
            <a:avLst/>
          </a:prstGeom>
          <a:solidFill>
            <a:srgbClr val="E9EEEC"/>
          </a:solidFill>
          <a:ln w="9525">
            <a:solidFill>
              <a:srgbClr val="CED9DB"/>
            </a:solidFill>
            <a:prstDash val="solid"/>
          </a:ln>
        </p:spPr>
        <p:txBody>
          <a:bodyPr/>
          <a:lstStyle/>
          <a:p>
            <a:endParaRPr lang="en-IQ"/>
          </a:p>
        </p:txBody>
      </p:sp>
      <p:sp>
        <p:nvSpPr>
          <p:cNvPr id="49" name="Rectangle 48">
            <a:extLst>
              <a:ext uri="{FF2B5EF4-FFF2-40B4-BE49-F238E27FC236}">
                <a16:creationId xmlns:a16="http://schemas.microsoft.com/office/drawing/2014/main" id="{80D1020D-232D-4900-8518-58D786C87100}"/>
              </a:ext>
            </a:extLst>
          </p:cNvPr>
          <p:cNvSpPr>
            <a:spLocks noGrp="1"/>
          </p:cNvSpPr>
          <p:nvPr/>
        </p:nvSpPr>
        <p:spPr>
          <a:xfrm>
            <a:off x="5400675" y="2905125"/>
            <a:ext cx="12954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8</a:t>
            </a:r>
          </a:p>
        </p:txBody>
      </p:sp>
      <p:sp>
        <p:nvSpPr>
          <p:cNvPr id="50" name="Rectangle 49">
            <a:extLst>
              <a:ext uri="{FF2B5EF4-FFF2-40B4-BE49-F238E27FC236}">
                <a16:creationId xmlns:a16="http://schemas.microsoft.com/office/drawing/2014/main" id="{DF235D99-C1E5-44E9-A581-D61BACEADC5F}"/>
              </a:ext>
            </a:extLst>
          </p:cNvPr>
          <p:cNvSpPr>
            <a:spLocks noGrp="1"/>
          </p:cNvSpPr>
          <p:nvPr/>
        </p:nvSpPr>
        <p:spPr>
          <a:xfrm>
            <a:off x="6762750" y="2867025"/>
            <a:ext cx="1428750" cy="476250"/>
          </a:xfrm>
          <a:prstGeom prst="rect">
            <a:avLst/>
          </a:prstGeom>
          <a:solidFill>
            <a:srgbClr val="E9EEEC"/>
          </a:solidFill>
          <a:ln w="9525">
            <a:solidFill>
              <a:srgbClr val="CED9DB"/>
            </a:solidFill>
            <a:prstDash val="solid"/>
          </a:ln>
        </p:spPr>
        <p:txBody>
          <a:bodyPr/>
          <a:lstStyle/>
          <a:p>
            <a:endParaRPr lang="en-IQ"/>
          </a:p>
        </p:txBody>
      </p:sp>
      <p:sp>
        <p:nvSpPr>
          <p:cNvPr id="51" name="Rectangle 50">
            <a:extLst>
              <a:ext uri="{FF2B5EF4-FFF2-40B4-BE49-F238E27FC236}">
                <a16:creationId xmlns:a16="http://schemas.microsoft.com/office/drawing/2014/main" id="{AA29E2D6-626F-4345-8E64-4257A027094A}"/>
              </a:ext>
            </a:extLst>
          </p:cNvPr>
          <p:cNvSpPr>
            <a:spLocks noGrp="1"/>
          </p:cNvSpPr>
          <p:nvPr/>
        </p:nvSpPr>
        <p:spPr>
          <a:xfrm>
            <a:off x="6829425" y="2905125"/>
            <a:ext cx="12954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4</a:t>
            </a:r>
          </a:p>
        </p:txBody>
      </p:sp>
      <p:sp>
        <p:nvSpPr>
          <p:cNvPr id="52" name="Rectangle 51">
            <a:extLst>
              <a:ext uri="{FF2B5EF4-FFF2-40B4-BE49-F238E27FC236}">
                <a16:creationId xmlns:a16="http://schemas.microsoft.com/office/drawing/2014/main" id="{1D766FBE-6508-4BC2-91C4-11A5A597FDAB}"/>
              </a:ext>
            </a:extLst>
          </p:cNvPr>
          <p:cNvSpPr>
            <a:spLocks noGrp="1"/>
          </p:cNvSpPr>
          <p:nvPr/>
        </p:nvSpPr>
        <p:spPr>
          <a:xfrm>
            <a:off x="8191500" y="2867025"/>
            <a:ext cx="1428750" cy="476250"/>
          </a:xfrm>
          <a:prstGeom prst="rect">
            <a:avLst/>
          </a:prstGeom>
          <a:solidFill>
            <a:srgbClr val="E9EEEC"/>
          </a:solidFill>
          <a:ln w="9525">
            <a:solidFill>
              <a:srgbClr val="CED9DB"/>
            </a:solidFill>
            <a:prstDash val="solid"/>
          </a:ln>
        </p:spPr>
        <p:txBody>
          <a:bodyPr/>
          <a:lstStyle/>
          <a:p>
            <a:endParaRPr lang="en-IQ"/>
          </a:p>
        </p:txBody>
      </p:sp>
      <p:sp>
        <p:nvSpPr>
          <p:cNvPr id="53" name="Rectangle 52">
            <a:extLst>
              <a:ext uri="{FF2B5EF4-FFF2-40B4-BE49-F238E27FC236}">
                <a16:creationId xmlns:a16="http://schemas.microsoft.com/office/drawing/2014/main" id="{CB2C1947-4314-4BB3-9040-297BB2AA6D1E}"/>
              </a:ext>
            </a:extLst>
          </p:cNvPr>
          <p:cNvSpPr>
            <a:spLocks noGrp="1"/>
          </p:cNvSpPr>
          <p:nvPr/>
        </p:nvSpPr>
        <p:spPr>
          <a:xfrm>
            <a:off x="8258175" y="2905125"/>
            <a:ext cx="12954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7</a:t>
            </a:r>
          </a:p>
        </p:txBody>
      </p:sp>
      <p:sp>
        <p:nvSpPr>
          <p:cNvPr id="54" name="Rectangle 53">
            <a:extLst>
              <a:ext uri="{FF2B5EF4-FFF2-40B4-BE49-F238E27FC236}">
                <a16:creationId xmlns:a16="http://schemas.microsoft.com/office/drawing/2014/main" id="{44D99B55-C116-466F-8105-F0003D7CB7CE}"/>
              </a:ext>
            </a:extLst>
          </p:cNvPr>
          <p:cNvSpPr>
            <a:spLocks noGrp="1"/>
          </p:cNvSpPr>
          <p:nvPr/>
        </p:nvSpPr>
        <p:spPr>
          <a:xfrm>
            <a:off x="762000" y="3343275"/>
            <a:ext cx="1428750" cy="476250"/>
          </a:xfrm>
          <a:prstGeom prst="rect">
            <a:avLst/>
          </a:prstGeom>
          <a:solidFill>
            <a:srgbClr val="FFFFFF"/>
          </a:solidFill>
          <a:ln w="9525">
            <a:solidFill>
              <a:srgbClr val="CED9DB"/>
            </a:solidFill>
            <a:prstDash val="solid"/>
          </a:ln>
        </p:spPr>
        <p:txBody>
          <a:bodyPr/>
          <a:lstStyle/>
          <a:p>
            <a:endParaRPr lang="en-IQ"/>
          </a:p>
        </p:txBody>
      </p:sp>
      <p:sp>
        <p:nvSpPr>
          <p:cNvPr id="55" name="Rectangle 54">
            <a:extLst>
              <a:ext uri="{FF2B5EF4-FFF2-40B4-BE49-F238E27FC236}">
                <a16:creationId xmlns:a16="http://schemas.microsoft.com/office/drawing/2014/main" id="{1E6252E6-D8C0-4EC2-83B7-06FC38573123}"/>
              </a:ext>
            </a:extLst>
          </p:cNvPr>
          <p:cNvSpPr>
            <a:spLocks noGrp="1"/>
          </p:cNvSpPr>
          <p:nvPr/>
        </p:nvSpPr>
        <p:spPr>
          <a:xfrm>
            <a:off x="828675" y="3381375"/>
            <a:ext cx="1295400" cy="400050"/>
          </a:xfrm>
          <a:prstGeom prst="rect">
            <a:avLst/>
          </a:prstGeom>
          <a:noFill/>
          <a:ln w="0">
            <a:noFill/>
            <a:prstDash val="solid"/>
          </a:ln>
        </p:spPr>
        <p:txBody>
          <a:bodyPr anchor="ctr"/>
          <a:lstStyle/>
          <a:p>
            <a:pPr algn="ctr">
              <a:defRPr sz="1200" b="1">
                <a:solidFill>
                  <a:srgbClr val="0B9B91"/>
                </a:solidFill>
              </a:defRPr>
            </a:pPr>
            <a:r>
              <a:rPr sz="1200" b="1">
                <a:solidFill>
                  <a:srgbClr val="0B9B91"/>
                </a:solidFill>
              </a:rPr>
              <a:t>S4</a:t>
            </a:r>
          </a:p>
        </p:txBody>
      </p:sp>
      <p:sp>
        <p:nvSpPr>
          <p:cNvPr id="56" name="Rectangle 55">
            <a:extLst>
              <a:ext uri="{FF2B5EF4-FFF2-40B4-BE49-F238E27FC236}">
                <a16:creationId xmlns:a16="http://schemas.microsoft.com/office/drawing/2014/main" id="{C0B5290F-A228-4216-A7DE-2FCDF90D242C}"/>
              </a:ext>
            </a:extLst>
          </p:cNvPr>
          <p:cNvSpPr>
            <a:spLocks noGrp="1"/>
          </p:cNvSpPr>
          <p:nvPr/>
        </p:nvSpPr>
        <p:spPr>
          <a:xfrm>
            <a:off x="2190750" y="3343275"/>
            <a:ext cx="1238250" cy="476250"/>
          </a:xfrm>
          <a:prstGeom prst="rect">
            <a:avLst/>
          </a:prstGeom>
          <a:solidFill>
            <a:srgbClr val="FFFFFF"/>
          </a:solidFill>
          <a:ln w="9525">
            <a:solidFill>
              <a:srgbClr val="CED9DB"/>
            </a:solidFill>
            <a:prstDash val="solid"/>
          </a:ln>
        </p:spPr>
        <p:txBody>
          <a:bodyPr/>
          <a:lstStyle/>
          <a:p>
            <a:endParaRPr lang="en-IQ"/>
          </a:p>
        </p:txBody>
      </p:sp>
      <p:sp>
        <p:nvSpPr>
          <p:cNvPr id="57" name="Rectangle 56">
            <a:extLst>
              <a:ext uri="{FF2B5EF4-FFF2-40B4-BE49-F238E27FC236}">
                <a16:creationId xmlns:a16="http://schemas.microsoft.com/office/drawing/2014/main" id="{8FC19506-EAC8-4E17-A352-78E9F0346961}"/>
              </a:ext>
            </a:extLst>
          </p:cNvPr>
          <p:cNvSpPr>
            <a:spLocks noGrp="1"/>
          </p:cNvSpPr>
          <p:nvPr/>
        </p:nvSpPr>
        <p:spPr>
          <a:xfrm>
            <a:off x="2257425" y="3381375"/>
            <a:ext cx="11049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2</a:t>
            </a:r>
          </a:p>
        </p:txBody>
      </p:sp>
      <p:sp>
        <p:nvSpPr>
          <p:cNvPr id="58" name="Rectangle 57">
            <a:extLst>
              <a:ext uri="{FF2B5EF4-FFF2-40B4-BE49-F238E27FC236}">
                <a16:creationId xmlns:a16="http://schemas.microsoft.com/office/drawing/2014/main" id="{5544D9D5-0C4E-42BC-834A-1E3914F77DC7}"/>
              </a:ext>
            </a:extLst>
          </p:cNvPr>
          <p:cNvSpPr>
            <a:spLocks noGrp="1"/>
          </p:cNvSpPr>
          <p:nvPr/>
        </p:nvSpPr>
        <p:spPr>
          <a:xfrm>
            <a:off x="3429000" y="3343275"/>
            <a:ext cx="1905000" cy="476250"/>
          </a:xfrm>
          <a:prstGeom prst="rect">
            <a:avLst/>
          </a:prstGeom>
          <a:solidFill>
            <a:srgbClr val="FFFFFF"/>
          </a:solidFill>
          <a:ln w="9525">
            <a:solidFill>
              <a:srgbClr val="CED9DB"/>
            </a:solidFill>
            <a:prstDash val="solid"/>
          </a:ln>
        </p:spPr>
        <p:txBody>
          <a:bodyPr/>
          <a:lstStyle/>
          <a:p>
            <a:endParaRPr lang="en-IQ"/>
          </a:p>
        </p:txBody>
      </p:sp>
      <p:sp>
        <p:nvSpPr>
          <p:cNvPr id="59" name="Rectangle 58">
            <a:extLst>
              <a:ext uri="{FF2B5EF4-FFF2-40B4-BE49-F238E27FC236}">
                <a16:creationId xmlns:a16="http://schemas.microsoft.com/office/drawing/2014/main" id="{4507116A-42F7-4F7F-BDEE-49EEB577DAAE}"/>
              </a:ext>
            </a:extLst>
          </p:cNvPr>
          <p:cNvSpPr>
            <a:spLocks noGrp="1"/>
          </p:cNvSpPr>
          <p:nvPr/>
        </p:nvSpPr>
        <p:spPr>
          <a:xfrm>
            <a:off x="3495675" y="3381375"/>
            <a:ext cx="177165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7</a:t>
            </a:r>
          </a:p>
        </p:txBody>
      </p:sp>
      <p:sp>
        <p:nvSpPr>
          <p:cNvPr id="60" name="Rectangle 59">
            <a:extLst>
              <a:ext uri="{FF2B5EF4-FFF2-40B4-BE49-F238E27FC236}">
                <a16:creationId xmlns:a16="http://schemas.microsoft.com/office/drawing/2014/main" id="{1A6A2ECB-A5DC-49CB-9718-42F7F3BD9D44}"/>
              </a:ext>
            </a:extLst>
          </p:cNvPr>
          <p:cNvSpPr>
            <a:spLocks noGrp="1"/>
          </p:cNvSpPr>
          <p:nvPr/>
        </p:nvSpPr>
        <p:spPr>
          <a:xfrm>
            <a:off x="5334000" y="3343275"/>
            <a:ext cx="1428750" cy="476250"/>
          </a:xfrm>
          <a:prstGeom prst="rect">
            <a:avLst/>
          </a:prstGeom>
          <a:solidFill>
            <a:srgbClr val="FFFFFF"/>
          </a:solidFill>
          <a:ln w="9525">
            <a:solidFill>
              <a:srgbClr val="CED9DB"/>
            </a:solidFill>
            <a:prstDash val="solid"/>
          </a:ln>
        </p:spPr>
        <p:txBody>
          <a:bodyPr/>
          <a:lstStyle/>
          <a:p>
            <a:endParaRPr lang="en-IQ"/>
          </a:p>
        </p:txBody>
      </p:sp>
      <p:sp>
        <p:nvSpPr>
          <p:cNvPr id="61" name="Rectangle 60">
            <a:extLst>
              <a:ext uri="{FF2B5EF4-FFF2-40B4-BE49-F238E27FC236}">
                <a16:creationId xmlns:a16="http://schemas.microsoft.com/office/drawing/2014/main" id="{19A19BDE-0CD0-45F6-8A3C-A41FD9D2B4AD}"/>
              </a:ext>
            </a:extLst>
          </p:cNvPr>
          <p:cNvSpPr>
            <a:spLocks noGrp="1"/>
          </p:cNvSpPr>
          <p:nvPr/>
        </p:nvSpPr>
        <p:spPr>
          <a:xfrm>
            <a:off x="5400675" y="3381375"/>
            <a:ext cx="12954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5</a:t>
            </a:r>
          </a:p>
        </p:txBody>
      </p:sp>
      <p:sp>
        <p:nvSpPr>
          <p:cNvPr id="62" name="Rectangle 61">
            <a:extLst>
              <a:ext uri="{FF2B5EF4-FFF2-40B4-BE49-F238E27FC236}">
                <a16:creationId xmlns:a16="http://schemas.microsoft.com/office/drawing/2014/main" id="{9CE08F37-C9AA-4D72-846E-B0A77272703B}"/>
              </a:ext>
            </a:extLst>
          </p:cNvPr>
          <p:cNvSpPr>
            <a:spLocks noGrp="1"/>
          </p:cNvSpPr>
          <p:nvPr/>
        </p:nvSpPr>
        <p:spPr>
          <a:xfrm>
            <a:off x="6762750" y="3343275"/>
            <a:ext cx="1428750" cy="476250"/>
          </a:xfrm>
          <a:prstGeom prst="rect">
            <a:avLst/>
          </a:prstGeom>
          <a:solidFill>
            <a:srgbClr val="FFFFFF"/>
          </a:solidFill>
          <a:ln w="9525">
            <a:solidFill>
              <a:srgbClr val="CED9DB"/>
            </a:solidFill>
            <a:prstDash val="solid"/>
          </a:ln>
        </p:spPr>
        <p:txBody>
          <a:bodyPr/>
          <a:lstStyle/>
          <a:p>
            <a:endParaRPr lang="en-IQ"/>
          </a:p>
        </p:txBody>
      </p:sp>
      <p:sp>
        <p:nvSpPr>
          <p:cNvPr id="63" name="Rectangle 62">
            <a:extLst>
              <a:ext uri="{FF2B5EF4-FFF2-40B4-BE49-F238E27FC236}">
                <a16:creationId xmlns:a16="http://schemas.microsoft.com/office/drawing/2014/main" id="{1C949F8C-1B0B-4ED3-A26B-A24DE550E003}"/>
              </a:ext>
            </a:extLst>
          </p:cNvPr>
          <p:cNvSpPr>
            <a:spLocks noGrp="1"/>
          </p:cNvSpPr>
          <p:nvPr/>
        </p:nvSpPr>
        <p:spPr>
          <a:xfrm>
            <a:off x="6829425" y="3381375"/>
            <a:ext cx="12954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8</a:t>
            </a:r>
          </a:p>
        </p:txBody>
      </p:sp>
      <p:sp>
        <p:nvSpPr>
          <p:cNvPr id="64" name="Rectangle 63">
            <a:extLst>
              <a:ext uri="{FF2B5EF4-FFF2-40B4-BE49-F238E27FC236}">
                <a16:creationId xmlns:a16="http://schemas.microsoft.com/office/drawing/2014/main" id="{F8608354-08BA-4A94-B51E-3D995F2DBCA3}"/>
              </a:ext>
            </a:extLst>
          </p:cNvPr>
          <p:cNvSpPr>
            <a:spLocks noGrp="1"/>
          </p:cNvSpPr>
          <p:nvPr/>
        </p:nvSpPr>
        <p:spPr>
          <a:xfrm>
            <a:off x="8191500" y="3343275"/>
            <a:ext cx="1428750" cy="476250"/>
          </a:xfrm>
          <a:prstGeom prst="rect">
            <a:avLst/>
          </a:prstGeom>
          <a:solidFill>
            <a:srgbClr val="FFFFFF"/>
          </a:solidFill>
          <a:ln w="9525">
            <a:solidFill>
              <a:srgbClr val="CED9DB"/>
            </a:solidFill>
            <a:prstDash val="solid"/>
          </a:ln>
        </p:spPr>
        <p:txBody>
          <a:bodyPr/>
          <a:lstStyle/>
          <a:p>
            <a:endParaRPr lang="en-IQ"/>
          </a:p>
        </p:txBody>
      </p:sp>
      <p:sp>
        <p:nvSpPr>
          <p:cNvPr id="65" name="Rectangle 64">
            <a:extLst>
              <a:ext uri="{FF2B5EF4-FFF2-40B4-BE49-F238E27FC236}">
                <a16:creationId xmlns:a16="http://schemas.microsoft.com/office/drawing/2014/main" id="{A3C0B6CE-C6CF-40AB-B84C-97129C9B1293}"/>
              </a:ext>
            </a:extLst>
          </p:cNvPr>
          <p:cNvSpPr>
            <a:spLocks noGrp="1"/>
          </p:cNvSpPr>
          <p:nvPr/>
        </p:nvSpPr>
        <p:spPr>
          <a:xfrm>
            <a:off x="8258175" y="3381375"/>
            <a:ext cx="12954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3</a:t>
            </a:r>
          </a:p>
        </p:txBody>
      </p:sp>
      <p:sp>
        <p:nvSpPr>
          <p:cNvPr id="66" name="Rectangle 65">
            <a:extLst>
              <a:ext uri="{FF2B5EF4-FFF2-40B4-BE49-F238E27FC236}">
                <a16:creationId xmlns:a16="http://schemas.microsoft.com/office/drawing/2014/main" id="{1F74B029-E15D-4AA0-8F09-EFA25B4BCB7B}"/>
              </a:ext>
            </a:extLst>
          </p:cNvPr>
          <p:cNvSpPr>
            <a:spLocks noGrp="1"/>
          </p:cNvSpPr>
          <p:nvPr/>
        </p:nvSpPr>
        <p:spPr>
          <a:xfrm>
            <a:off x="762000" y="3819525"/>
            <a:ext cx="1428750" cy="476250"/>
          </a:xfrm>
          <a:prstGeom prst="rect">
            <a:avLst/>
          </a:prstGeom>
          <a:solidFill>
            <a:srgbClr val="E9EEEC"/>
          </a:solidFill>
          <a:ln w="9525">
            <a:solidFill>
              <a:srgbClr val="CED9DB"/>
            </a:solidFill>
            <a:prstDash val="solid"/>
          </a:ln>
        </p:spPr>
        <p:txBody>
          <a:bodyPr/>
          <a:lstStyle/>
          <a:p>
            <a:endParaRPr lang="en-IQ"/>
          </a:p>
        </p:txBody>
      </p:sp>
      <p:sp>
        <p:nvSpPr>
          <p:cNvPr id="67" name="Rectangle 66">
            <a:extLst>
              <a:ext uri="{FF2B5EF4-FFF2-40B4-BE49-F238E27FC236}">
                <a16:creationId xmlns:a16="http://schemas.microsoft.com/office/drawing/2014/main" id="{C4F8BFD9-C602-47A4-9464-2C036B6F9221}"/>
              </a:ext>
            </a:extLst>
          </p:cNvPr>
          <p:cNvSpPr>
            <a:spLocks noGrp="1"/>
          </p:cNvSpPr>
          <p:nvPr/>
        </p:nvSpPr>
        <p:spPr>
          <a:xfrm>
            <a:off x="828675" y="3857625"/>
            <a:ext cx="1295400" cy="400050"/>
          </a:xfrm>
          <a:prstGeom prst="rect">
            <a:avLst/>
          </a:prstGeom>
          <a:noFill/>
          <a:ln w="0">
            <a:noFill/>
            <a:prstDash val="solid"/>
          </a:ln>
        </p:spPr>
        <p:txBody>
          <a:bodyPr anchor="ctr"/>
          <a:lstStyle/>
          <a:p>
            <a:pPr algn="ctr">
              <a:defRPr sz="1200" b="1">
                <a:solidFill>
                  <a:srgbClr val="0B9B91"/>
                </a:solidFill>
              </a:defRPr>
            </a:pPr>
            <a:r>
              <a:rPr sz="1200" b="1">
                <a:solidFill>
                  <a:srgbClr val="0B9B91"/>
                </a:solidFill>
              </a:rPr>
              <a:t>S5</a:t>
            </a:r>
          </a:p>
        </p:txBody>
      </p:sp>
      <p:sp>
        <p:nvSpPr>
          <p:cNvPr id="68" name="Rectangle 67">
            <a:extLst>
              <a:ext uri="{FF2B5EF4-FFF2-40B4-BE49-F238E27FC236}">
                <a16:creationId xmlns:a16="http://schemas.microsoft.com/office/drawing/2014/main" id="{89C7B734-64FF-403E-9EF5-4252D82DCB63}"/>
              </a:ext>
            </a:extLst>
          </p:cNvPr>
          <p:cNvSpPr>
            <a:spLocks noGrp="1"/>
          </p:cNvSpPr>
          <p:nvPr/>
        </p:nvSpPr>
        <p:spPr>
          <a:xfrm>
            <a:off x="2190750" y="3819525"/>
            <a:ext cx="1238250" cy="476250"/>
          </a:xfrm>
          <a:prstGeom prst="rect">
            <a:avLst/>
          </a:prstGeom>
          <a:solidFill>
            <a:srgbClr val="E9EEEC"/>
          </a:solidFill>
          <a:ln w="9525">
            <a:solidFill>
              <a:srgbClr val="CED9DB"/>
            </a:solidFill>
            <a:prstDash val="solid"/>
          </a:ln>
        </p:spPr>
        <p:txBody>
          <a:bodyPr/>
          <a:lstStyle/>
          <a:p>
            <a:endParaRPr lang="en-IQ"/>
          </a:p>
        </p:txBody>
      </p:sp>
      <p:sp>
        <p:nvSpPr>
          <p:cNvPr id="69" name="Rectangle 68">
            <a:extLst>
              <a:ext uri="{FF2B5EF4-FFF2-40B4-BE49-F238E27FC236}">
                <a16:creationId xmlns:a16="http://schemas.microsoft.com/office/drawing/2014/main" id="{C944DBFE-A352-4EC0-888C-2054A5AE2D7A}"/>
              </a:ext>
            </a:extLst>
          </p:cNvPr>
          <p:cNvSpPr>
            <a:spLocks noGrp="1"/>
          </p:cNvSpPr>
          <p:nvPr/>
        </p:nvSpPr>
        <p:spPr>
          <a:xfrm>
            <a:off x="2257425" y="3857625"/>
            <a:ext cx="11049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5</a:t>
            </a:r>
          </a:p>
        </p:txBody>
      </p:sp>
      <p:sp>
        <p:nvSpPr>
          <p:cNvPr id="70" name="Rectangle 69">
            <a:extLst>
              <a:ext uri="{FF2B5EF4-FFF2-40B4-BE49-F238E27FC236}">
                <a16:creationId xmlns:a16="http://schemas.microsoft.com/office/drawing/2014/main" id="{72A2121B-8818-4F93-91AB-8F2E37D58AB8}"/>
              </a:ext>
            </a:extLst>
          </p:cNvPr>
          <p:cNvSpPr>
            <a:spLocks noGrp="1"/>
          </p:cNvSpPr>
          <p:nvPr/>
        </p:nvSpPr>
        <p:spPr>
          <a:xfrm>
            <a:off x="3429000" y="3819525"/>
            <a:ext cx="1905000" cy="476250"/>
          </a:xfrm>
          <a:prstGeom prst="rect">
            <a:avLst/>
          </a:prstGeom>
          <a:solidFill>
            <a:srgbClr val="E9EEEC"/>
          </a:solidFill>
          <a:ln w="9525">
            <a:solidFill>
              <a:srgbClr val="CED9DB"/>
            </a:solidFill>
            <a:prstDash val="solid"/>
          </a:ln>
        </p:spPr>
        <p:txBody>
          <a:bodyPr/>
          <a:lstStyle/>
          <a:p>
            <a:endParaRPr lang="en-IQ"/>
          </a:p>
        </p:txBody>
      </p:sp>
      <p:sp>
        <p:nvSpPr>
          <p:cNvPr id="71" name="Rectangle 70">
            <a:extLst>
              <a:ext uri="{FF2B5EF4-FFF2-40B4-BE49-F238E27FC236}">
                <a16:creationId xmlns:a16="http://schemas.microsoft.com/office/drawing/2014/main" id="{FAB1DEE4-1B95-4224-A045-4B748A0D0B75}"/>
              </a:ext>
            </a:extLst>
          </p:cNvPr>
          <p:cNvSpPr>
            <a:spLocks noGrp="1"/>
          </p:cNvSpPr>
          <p:nvPr/>
        </p:nvSpPr>
        <p:spPr>
          <a:xfrm>
            <a:off x="3495675" y="3857625"/>
            <a:ext cx="177165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5</a:t>
            </a:r>
          </a:p>
        </p:txBody>
      </p:sp>
      <p:sp>
        <p:nvSpPr>
          <p:cNvPr id="72" name="Rectangle 71">
            <a:extLst>
              <a:ext uri="{FF2B5EF4-FFF2-40B4-BE49-F238E27FC236}">
                <a16:creationId xmlns:a16="http://schemas.microsoft.com/office/drawing/2014/main" id="{C183590A-0B05-4BA5-941E-B07CEA6472A9}"/>
              </a:ext>
            </a:extLst>
          </p:cNvPr>
          <p:cNvSpPr>
            <a:spLocks noGrp="1"/>
          </p:cNvSpPr>
          <p:nvPr/>
        </p:nvSpPr>
        <p:spPr>
          <a:xfrm>
            <a:off x="5334000" y="3819525"/>
            <a:ext cx="1428750" cy="476250"/>
          </a:xfrm>
          <a:prstGeom prst="rect">
            <a:avLst/>
          </a:prstGeom>
          <a:solidFill>
            <a:srgbClr val="E9EEEC"/>
          </a:solidFill>
          <a:ln w="9525">
            <a:solidFill>
              <a:srgbClr val="CED9DB"/>
            </a:solidFill>
            <a:prstDash val="solid"/>
          </a:ln>
        </p:spPr>
        <p:txBody>
          <a:bodyPr/>
          <a:lstStyle/>
          <a:p>
            <a:endParaRPr lang="en-IQ"/>
          </a:p>
        </p:txBody>
      </p:sp>
      <p:sp>
        <p:nvSpPr>
          <p:cNvPr id="73" name="Rectangle 72">
            <a:extLst>
              <a:ext uri="{FF2B5EF4-FFF2-40B4-BE49-F238E27FC236}">
                <a16:creationId xmlns:a16="http://schemas.microsoft.com/office/drawing/2014/main" id="{F13E4B41-9175-42DD-8C93-FE89B1206D3B}"/>
              </a:ext>
            </a:extLst>
          </p:cNvPr>
          <p:cNvSpPr>
            <a:spLocks noGrp="1"/>
          </p:cNvSpPr>
          <p:nvPr/>
        </p:nvSpPr>
        <p:spPr>
          <a:xfrm>
            <a:off x="5400675" y="3857625"/>
            <a:ext cx="12954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9</a:t>
            </a:r>
          </a:p>
        </p:txBody>
      </p:sp>
      <p:sp>
        <p:nvSpPr>
          <p:cNvPr id="74" name="Rectangle 73">
            <a:extLst>
              <a:ext uri="{FF2B5EF4-FFF2-40B4-BE49-F238E27FC236}">
                <a16:creationId xmlns:a16="http://schemas.microsoft.com/office/drawing/2014/main" id="{EACA8BCD-00D6-4298-9324-B2531494CCFD}"/>
              </a:ext>
            </a:extLst>
          </p:cNvPr>
          <p:cNvSpPr>
            <a:spLocks noGrp="1"/>
          </p:cNvSpPr>
          <p:nvPr/>
        </p:nvSpPr>
        <p:spPr>
          <a:xfrm>
            <a:off x="6762750" y="3819525"/>
            <a:ext cx="1428750" cy="476250"/>
          </a:xfrm>
          <a:prstGeom prst="rect">
            <a:avLst/>
          </a:prstGeom>
          <a:solidFill>
            <a:srgbClr val="E9EEEC"/>
          </a:solidFill>
          <a:ln w="9525">
            <a:solidFill>
              <a:srgbClr val="CED9DB"/>
            </a:solidFill>
            <a:prstDash val="solid"/>
          </a:ln>
        </p:spPr>
        <p:txBody>
          <a:bodyPr/>
          <a:lstStyle/>
          <a:p>
            <a:endParaRPr lang="en-IQ"/>
          </a:p>
        </p:txBody>
      </p:sp>
      <p:sp>
        <p:nvSpPr>
          <p:cNvPr id="75" name="Rectangle 74">
            <a:extLst>
              <a:ext uri="{FF2B5EF4-FFF2-40B4-BE49-F238E27FC236}">
                <a16:creationId xmlns:a16="http://schemas.microsoft.com/office/drawing/2014/main" id="{1452E409-ACB0-4C41-9FA4-865D97E5AF10}"/>
              </a:ext>
            </a:extLst>
          </p:cNvPr>
          <p:cNvSpPr>
            <a:spLocks noGrp="1"/>
          </p:cNvSpPr>
          <p:nvPr/>
        </p:nvSpPr>
        <p:spPr>
          <a:xfrm>
            <a:off x="6829425" y="3857625"/>
            <a:ext cx="12954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6</a:t>
            </a:r>
          </a:p>
        </p:txBody>
      </p:sp>
      <p:sp>
        <p:nvSpPr>
          <p:cNvPr id="76" name="Rectangle 75">
            <a:extLst>
              <a:ext uri="{FF2B5EF4-FFF2-40B4-BE49-F238E27FC236}">
                <a16:creationId xmlns:a16="http://schemas.microsoft.com/office/drawing/2014/main" id="{8B4B5180-B612-4347-BA26-3406AB2F9664}"/>
              </a:ext>
            </a:extLst>
          </p:cNvPr>
          <p:cNvSpPr>
            <a:spLocks noGrp="1"/>
          </p:cNvSpPr>
          <p:nvPr/>
        </p:nvSpPr>
        <p:spPr>
          <a:xfrm>
            <a:off x="8191500" y="3819525"/>
            <a:ext cx="1428750" cy="476250"/>
          </a:xfrm>
          <a:prstGeom prst="rect">
            <a:avLst/>
          </a:prstGeom>
          <a:solidFill>
            <a:srgbClr val="E9EEEC"/>
          </a:solidFill>
          <a:ln w="9525">
            <a:solidFill>
              <a:srgbClr val="CED9DB"/>
            </a:solidFill>
            <a:prstDash val="solid"/>
          </a:ln>
        </p:spPr>
        <p:txBody>
          <a:bodyPr/>
          <a:lstStyle/>
          <a:p>
            <a:endParaRPr lang="en-IQ"/>
          </a:p>
        </p:txBody>
      </p:sp>
      <p:sp>
        <p:nvSpPr>
          <p:cNvPr id="77" name="Rectangle 76">
            <a:extLst>
              <a:ext uri="{FF2B5EF4-FFF2-40B4-BE49-F238E27FC236}">
                <a16:creationId xmlns:a16="http://schemas.microsoft.com/office/drawing/2014/main" id="{E4002192-9BA2-400E-A0D2-0E2716D81C72}"/>
              </a:ext>
            </a:extLst>
          </p:cNvPr>
          <p:cNvSpPr>
            <a:spLocks noGrp="1"/>
          </p:cNvSpPr>
          <p:nvPr/>
        </p:nvSpPr>
        <p:spPr>
          <a:xfrm>
            <a:off x="8258175" y="3857625"/>
            <a:ext cx="12954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8</a:t>
            </a:r>
          </a:p>
        </p:txBody>
      </p:sp>
      <p:sp>
        <p:nvSpPr>
          <p:cNvPr id="78" name="Rectangle 77">
            <a:extLst>
              <a:ext uri="{FF2B5EF4-FFF2-40B4-BE49-F238E27FC236}">
                <a16:creationId xmlns:a16="http://schemas.microsoft.com/office/drawing/2014/main" id="{8CDA5DB7-CC03-42E0-9F88-A9E77D063F63}"/>
              </a:ext>
            </a:extLst>
          </p:cNvPr>
          <p:cNvSpPr>
            <a:spLocks noGrp="1"/>
          </p:cNvSpPr>
          <p:nvPr/>
        </p:nvSpPr>
        <p:spPr>
          <a:xfrm>
            <a:off x="762000" y="4295775"/>
            <a:ext cx="1428750" cy="476250"/>
          </a:xfrm>
          <a:prstGeom prst="rect">
            <a:avLst/>
          </a:prstGeom>
          <a:solidFill>
            <a:srgbClr val="FFFFFF"/>
          </a:solidFill>
          <a:ln w="9525">
            <a:solidFill>
              <a:srgbClr val="CED9DB"/>
            </a:solidFill>
            <a:prstDash val="solid"/>
          </a:ln>
        </p:spPr>
        <p:txBody>
          <a:bodyPr/>
          <a:lstStyle/>
          <a:p>
            <a:endParaRPr lang="en-IQ"/>
          </a:p>
        </p:txBody>
      </p:sp>
      <p:sp>
        <p:nvSpPr>
          <p:cNvPr id="79" name="Rectangle 78">
            <a:extLst>
              <a:ext uri="{FF2B5EF4-FFF2-40B4-BE49-F238E27FC236}">
                <a16:creationId xmlns:a16="http://schemas.microsoft.com/office/drawing/2014/main" id="{58196E23-58C7-4CA2-BC44-F1FF6AAF7E8D}"/>
              </a:ext>
            </a:extLst>
          </p:cNvPr>
          <p:cNvSpPr>
            <a:spLocks noGrp="1"/>
          </p:cNvSpPr>
          <p:nvPr/>
        </p:nvSpPr>
        <p:spPr>
          <a:xfrm>
            <a:off x="828675" y="4333875"/>
            <a:ext cx="1295400" cy="400050"/>
          </a:xfrm>
          <a:prstGeom prst="rect">
            <a:avLst/>
          </a:prstGeom>
          <a:noFill/>
          <a:ln w="0">
            <a:noFill/>
            <a:prstDash val="solid"/>
          </a:ln>
        </p:spPr>
        <p:txBody>
          <a:bodyPr anchor="ctr"/>
          <a:lstStyle/>
          <a:p>
            <a:pPr algn="ctr">
              <a:defRPr sz="1200" b="1">
                <a:solidFill>
                  <a:srgbClr val="0B9B91"/>
                </a:solidFill>
              </a:defRPr>
            </a:pPr>
            <a:r>
              <a:rPr sz="1200" b="1">
                <a:solidFill>
                  <a:srgbClr val="0B9B91"/>
                </a:solidFill>
              </a:rPr>
              <a:t>S6</a:t>
            </a:r>
          </a:p>
        </p:txBody>
      </p:sp>
      <p:sp>
        <p:nvSpPr>
          <p:cNvPr id="80" name="Rectangle 79">
            <a:extLst>
              <a:ext uri="{FF2B5EF4-FFF2-40B4-BE49-F238E27FC236}">
                <a16:creationId xmlns:a16="http://schemas.microsoft.com/office/drawing/2014/main" id="{C153F195-C96C-4FE5-BD94-4A851A241E7F}"/>
              </a:ext>
            </a:extLst>
          </p:cNvPr>
          <p:cNvSpPr>
            <a:spLocks noGrp="1"/>
          </p:cNvSpPr>
          <p:nvPr/>
        </p:nvSpPr>
        <p:spPr>
          <a:xfrm>
            <a:off x="2190750" y="4295775"/>
            <a:ext cx="1238250" cy="476250"/>
          </a:xfrm>
          <a:prstGeom prst="rect">
            <a:avLst/>
          </a:prstGeom>
          <a:solidFill>
            <a:srgbClr val="FFFFFF"/>
          </a:solidFill>
          <a:ln w="9525">
            <a:solidFill>
              <a:srgbClr val="CED9DB"/>
            </a:solidFill>
            <a:prstDash val="solid"/>
          </a:ln>
        </p:spPr>
        <p:txBody>
          <a:bodyPr/>
          <a:lstStyle/>
          <a:p>
            <a:endParaRPr lang="en-IQ"/>
          </a:p>
        </p:txBody>
      </p:sp>
      <p:sp>
        <p:nvSpPr>
          <p:cNvPr id="81" name="Rectangle 80">
            <a:extLst>
              <a:ext uri="{FF2B5EF4-FFF2-40B4-BE49-F238E27FC236}">
                <a16:creationId xmlns:a16="http://schemas.microsoft.com/office/drawing/2014/main" id="{05F6D887-3A23-42BD-B212-B041E1887455}"/>
              </a:ext>
            </a:extLst>
          </p:cNvPr>
          <p:cNvSpPr>
            <a:spLocks noGrp="1"/>
          </p:cNvSpPr>
          <p:nvPr/>
        </p:nvSpPr>
        <p:spPr>
          <a:xfrm>
            <a:off x="2257425" y="4333875"/>
            <a:ext cx="11049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3</a:t>
            </a:r>
          </a:p>
        </p:txBody>
      </p:sp>
      <p:sp>
        <p:nvSpPr>
          <p:cNvPr id="82" name="Rectangle 81">
            <a:extLst>
              <a:ext uri="{FF2B5EF4-FFF2-40B4-BE49-F238E27FC236}">
                <a16:creationId xmlns:a16="http://schemas.microsoft.com/office/drawing/2014/main" id="{1F83F36C-7F70-4D66-94DB-ACB81ADE9993}"/>
              </a:ext>
            </a:extLst>
          </p:cNvPr>
          <p:cNvSpPr>
            <a:spLocks noGrp="1"/>
          </p:cNvSpPr>
          <p:nvPr/>
        </p:nvSpPr>
        <p:spPr>
          <a:xfrm>
            <a:off x="3429000" y="4295775"/>
            <a:ext cx="1905000" cy="476250"/>
          </a:xfrm>
          <a:prstGeom prst="rect">
            <a:avLst/>
          </a:prstGeom>
          <a:solidFill>
            <a:srgbClr val="FFFFFF"/>
          </a:solidFill>
          <a:ln w="9525">
            <a:solidFill>
              <a:srgbClr val="CED9DB"/>
            </a:solidFill>
            <a:prstDash val="solid"/>
          </a:ln>
        </p:spPr>
        <p:txBody>
          <a:bodyPr/>
          <a:lstStyle/>
          <a:p>
            <a:endParaRPr lang="en-IQ"/>
          </a:p>
        </p:txBody>
      </p:sp>
      <p:sp>
        <p:nvSpPr>
          <p:cNvPr id="83" name="Rectangle 82">
            <a:extLst>
              <a:ext uri="{FF2B5EF4-FFF2-40B4-BE49-F238E27FC236}">
                <a16:creationId xmlns:a16="http://schemas.microsoft.com/office/drawing/2014/main" id="{FE9E9CBA-4083-400D-966D-39B30A01688A}"/>
              </a:ext>
            </a:extLst>
          </p:cNvPr>
          <p:cNvSpPr>
            <a:spLocks noGrp="1"/>
          </p:cNvSpPr>
          <p:nvPr/>
        </p:nvSpPr>
        <p:spPr>
          <a:xfrm>
            <a:off x="3495675" y="4333875"/>
            <a:ext cx="177165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9</a:t>
            </a:r>
          </a:p>
        </p:txBody>
      </p:sp>
      <p:sp>
        <p:nvSpPr>
          <p:cNvPr id="84" name="Rectangle 83">
            <a:extLst>
              <a:ext uri="{FF2B5EF4-FFF2-40B4-BE49-F238E27FC236}">
                <a16:creationId xmlns:a16="http://schemas.microsoft.com/office/drawing/2014/main" id="{0057F7F4-0E55-4D0E-9333-B7A2F2548B0F}"/>
              </a:ext>
            </a:extLst>
          </p:cNvPr>
          <p:cNvSpPr>
            <a:spLocks noGrp="1"/>
          </p:cNvSpPr>
          <p:nvPr/>
        </p:nvSpPr>
        <p:spPr>
          <a:xfrm>
            <a:off x="5334000" y="4295775"/>
            <a:ext cx="1428750" cy="476250"/>
          </a:xfrm>
          <a:prstGeom prst="rect">
            <a:avLst/>
          </a:prstGeom>
          <a:solidFill>
            <a:srgbClr val="FFFFFF"/>
          </a:solidFill>
          <a:ln w="9525">
            <a:solidFill>
              <a:srgbClr val="CED9DB"/>
            </a:solidFill>
            <a:prstDash val="solid"/>
          </a:ln>
        </p:spPr>
        <p:txBody>
          <a:bodyPr/>
          <a:lstStyle/>
          <a:p>
            <a:endParaRPr lang="en-IQ"/>
          </a:p>
        </p:txBody>
      </p:sp>
      <p:sp>
        <p:nvSpPr>
          <p:cNvPr id="85" name="Rectangle 84">
            <a:extLst>
              <a:ext uri="{FF2B5EF4-FFF2-40B4-BE49-F238E27FC236}">
                <a16:creationId xmlns:a16="http://schemas.microsoft.com/office/drawing/2014/main" id="{C6415FAB-C43A-4830-A1B6-4E029568D6CC}"/>
              </a:ext>
            </a:extLst>
          </p:cNvPr>
          <p:cNvSpPr>
            <a:spLocks noGrp="1"/>
          </p:cNvSpPr>
          <p:nvPr/>
        </p:nvSpPr>
        <p:spPr>
          <a:xfrm>
            <a:off x="5400675" y="4333875"/>
            <a:ext cx="12954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4</a:t>
            </a:r>
          </a:p>
        </p:txBody>
      </p:sp>
      <p:sp>
        <p:nvSpPr>
          <p:cNvPr id="86" name="Rectangle 85">
            <a:extLst>
              <a:ext uri="{FF2B5EF4-FFF2-40B4-BE49-F238E27FC236}">
                <a16:creationId xmlns:a16="http://schemas.microsoft.com/office/drawing/2014/main" id="{501F3600-B39F-4076-992A-099FE13F1B58}"/>
              </a:ext>
            </a:extLst>
          </p:cNvPr>
          <p:cNvSpPr>
            <a:spLocks noGrp="1"/>
          </p:cNvSpPr>
          <p:nvPr/>
        </p:nvSpPr>
        <p:spPr>
          <a:xfrm>
            <a:off x="6762750" y="4295775"/>
            <a:ext cx="1428750" cy="476250"/>
          </a:xfrm>
          <a:prstGeom prst="rect">
            <a:avLst/>
          </a:prstGeom>
          <a:solidFill>
            <a:srgbClr val="FFFFFF"/>
          </a:solidFill>
          <a:ln w="9525">
            <a:solidFill>
              <a:srgbClr val="CED9DB"/>
            </a:solidFill>
            <a:prstDash val="solid"/>
          </a:ln>
        </p:spPr>
        <p:txBody>
          <a:bodyPr/>
          <a:lstStyle/>
          <a:p>
            <a:endParaRPr lang="en-IQ"/>
          </a:p>
        </p:txBody>
      </p:sp>
      <p:sp>
        <p:nvSpPr>
          <p:cNvPr id="87" name="Rectangle 86">
            <a:extLst>
              <a:ext uri="{FF2B5EF4-FFF2-40B4-BE49-F238E27FC236}">
                <a16:creationId xmlns:a16="http://schemas.microsoft.com/office/drawing/2014/main" id="{39B88C6F-BC1C-4CA0-8922-E368984EB27A}"/>
              </a:ext>
            </a:extLst>
          </p:cNvPr>
          <p:cNvSpPr>
            <a:spLocks noGrp="1"/>
          </p:cNvSpPr>
          <p:nvPr/>
        </p:nvSpPr>
        <p:spPr>
          <a:xfrm>
            <a:off x="6829425" y="4333875"/>
            <a:ext cx="12954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7</a:t>
            </a:r>
          </a:p>
        </p:txBody>
      </p:sp>
      <p:sp>
        <p:nvSpPr>
          <p:cNvPr id="88" name="Rectangle 87">
            <a:extLst>
              <a:ext uri="{FF2B5EF4-FFF2-40B4-BE49-F238E27FC236}">
                <a16:creationId xmlns:a16="http://schemas.microsoft.com/office/drawing/2014/main" id="{866D7BF8-BC53-4C1B-B19B-BB911E125AF0}"/>
              </a:ext>
            </a:extLst>
          </p:cNvPr>
          <p:cNvSpPr>
            <a:spLocks noGrp="1"/>
          </p:cNvSpPr>
          <p:nvPr/>
        </p:nvSpPr>
        <p:spPr>
          <a:xfrm>
            <a:off x="8191500" y="4295775"/>
            <a:ext cx="1428750" cy="476250"/>
          </a:xfrm>
          <a:prstGeom prst="rect">
            <a:avLst/>
          </a:prstGeom>
          <a:solidFill>
            <a:srgbClr val="FFFFFF"/>
          </a:solidFill>
          <a:ln w="9525">
            <a:solidFill>
              <a:srgbClr val="CED9DB"/>
            </a:solidFill>
            <a:prstDash val="solid"/>
          </a:ln>
        </p:spPr>
        <p:txBody>
          <a:bodyPr/>
          <a:lstStyle/>
          <a:p>
            <a:endParaRPr lang="en-IQ"/>
          </a:p>
        </p:txBody>
      </p:sp>
      <p:sp>
        <p:nvSpPr>
          <p:cNvPr id="89" name="Rectangle 88">
            <a:extLst>
              <a:ext uri="{FF2B5EF4-FFF2-40B4-BE49-F238E27FC236}">
                <a16:creationId xmlns:a16="http://schemas.microsoft.com/office/drawing/2014/main" id="{0B68A91D-4264-4ECF-9F03-23DB1A902792}"/>
              </a:ext>
            </a:extLst>
          </p:cNvPr>
          <p:cNvSpPr>
            <a:spLocks noGrp="1"/>
          </p:cNvSpPr>
          <p:nvPr/>
        </p:nvSpPr>
        <p:spPr>
          <a:xfrm>
            <a:off x="8258175" y="4333875"/>
            <a:ext cx="12954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6</a:t>
            </a:r>
          </a:p>
        </p:txBody>
      </p:sp>
      <p:sp>
        <p:nvSpPr>
          <p:cNvPr id="90" name="Rectangle 89">
            <a:extLst>
              <a:ext uri="{FF2B5EF4-FFF2-40B4-BE49-F238E27FC236}">
                <a16:creationId xmlns:a16="http://schemas.microsoft.com/office/drawing/2014/main" id="{9828762F-397E-4281-B703-620988C5E22C}"/>
              </a:ext>
            </a:extLst>
          </p:cNvPr>
          <p:cNvSpPr>
            <a:spLocks noGrp="1"/>
          </p:cNvSpPr>
          <p:nvPr/>
        </p:nvSpPr>
        <p:spPr>
          <a:xfrm>
            <a:off x="762000" y="4772025"/>
            <a:ext cx="1428750" cy="476250"/>
          </a:xfrm>
          <a:prstGeom prst="rect">
            <a:avLst/>
          </a:prstGeom>
          <a:solidFill>
            <a:srgbClr val="E9EEEC"/>
          </a:solidFill>
          <a:ln w="9525">
            <a:solidFill>
              <a:srgbClr val="CED9DB"/>
            </a:solidFill>
            <a:prstDash val="solid"/>
          </a:ln>
        </p:spPr>
        <p:txBody>
          <a:bodyPr/>
          <a:lstStyle/>
          <a:p>
            <a:endParaRPr lang="en-IQ"/>
          </a:p>
        </p:txBody>
      </p:sp>
      <p:sp>
        <p:nvSpPr>
          <p:cNvPr id="91" name="Rectangle 90">
            <a:extLst>
              <a:ext uri="{FF2B5EF4-FFF2-40B4-BE49-F238E27FC236}">
                <a16:creationId xmlns:a16="http://schemas.microsoft.com/office/drawing/2014/main" id="{06BF470A-3CE9-452F-AB24-09A040782705}"/>
              </a:ext>
            </a:extLst>
          </p:cNvPr>
          <p:cNvSpPr>
            <a:spLocks noGrp="1"/>
          </p:cNvSpPr>
          <p:nvPr/>
        </p:nvSpPr>
        <p:spPr>
          <a:xfrm>
            <a:off x="828675" y="4810125"/>
            <a:ext cx="1295400" cy="400050"/>
          </a:xfrm>
          <a:prstGeom prst="rect">
            <a:avLst/>
          </a:prstGeom>
          <a:noFill/>
          <a:ln w="0">
            <a:noFill/>
            <a:prstDash val="solid"/>
          </a:ln>
        </p:spPr>
        <p:txBody>
          <a:bodyPr anchor="ctr"/>
          <a:lstStyle/>
          <a:p>
            <a:pPr algn="ctr">
              <a:defRPr sz="1200" b="1">
                <a:solidFill>
                  <a:srgbClr val="0B9B91"/>
                </a:solidFill>
              </a:defRPr>
            </a:pPr>
            <a:r>
              <a:rPr sz="1200" b="1">
                <a:solidFill>
                  <a:srgbClr val="0B9B91"/>
                </a:solidFill>
              </a:rPr>
              <a:t>S7</a:t>
            </a:r>
          </a:p>
        </p:txBody>
      </p:sp>
      <p:sp>
        <p:nvSpPr>
          <p:cNvPr id="92" name="Rectangle 91">
            <a:extLst>
              <a:ext uri="{FF2B5EF4-FFF2-40B4-BE49-F238E27FC236}">
                <a16:creationId xmlns:a16="http://schemas.microsoft.com/office/drawing/2014/main" id="{E0932617-F8BC-4C60-91EF-64DA88812555}"/>
              </a:ext>
            </a:extLst>
          </p:cNvPr>
          <p:cNvSpPr>
            <a:spLocks noGrp="1"/>
          </p:cNvSpPr>
          <p:nvPr/>
        </p:nvSpPr>
        <p:spPr>
          <a:xfrm>
            <a:off x="2190750" y="4772025"/>
            <a:ext cx="1238250" cy="476250"/>
          </a:xfrm>
          <a:prstGeom prst="rect">
            <a:avLst/>
          </a:prstGeom>
          <a:solidFill>
            <a:srgbClr val="E9EEEC"/>
          </a:solidFill>
          <a:ln w="9525">
            <a:solidFill>
              <a:srgbClr val="CED9DB"/>
            </a:solidFill>
            <a:prstDash val="solid"/>
          </a:ln>
        </p:spPr>
        <p:txBody>
          <a:bodyPr/>
          <a:lstStyle/>
          <a:p>
            <a:endParaRPr lang="en-IQ"/>
          </a:p>
        </p:txBody>
      </p:sp>
      <p:sp>
        <p:nvSpPr>
          <p:cNvPr id="93" name="Rectangle 92">
            <a:extLst>
              <a:ext uri="{FF2B5EF4-FFF2-40B4-BE49-F238E27FC236}">
                <a16:creationId xmlns:a16="http://schemas.microsoft.com/office/drawing/2014/main" id="{57D094C5-894D-49CE-AD3E-0C2AED60EBC7}"/>
              </a:ext>
            </a:extLst>
          </p:cNvPr>
          <p:cNvSpPr>
            <a:spLocks noGrp="1"/>
          </p:cNvSpPr>
          <p:nvPr/>
        </p:nvSpPr>
        <p:spPr>
          <a:xfrm>
            <a:off x="2257425" y="4810125"/>
            <a:ext cx="11049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2</a:t>
            </a:r>
          </a:p>
        </p:txBody>
      </p:sp>
      <p:sp>
        <p:nvSpPr>
          <p:cNvPr id="94" name="Rectangle 93">
            <a:extLst>
              <a:ext uri="{FF2B5EF4-FFF2-40B4-BE49-F238E27FC236}">
                <a16:creationId xmlns:a16="http://schemas.microsoft.com/office/drawing/2014/main" id="{4A50C8C9-71E9-4C4A-B0B2-C28EC786E9D7}"/>
              </a:ext>
            </a:extLst>
          </p:cNvPr>
          <p:cNvSpPr>
            <a:spLocks noGrp="1"/>
          </p:cNvSpPr>
          <p:nvPr/>
        </p:nvSpPr>
        <p:spPr>
          <a:xfrm>
            <a:off x="3429000" y="4772025"/>
            <a:ext cx="1905000" cy="476250"/>
          </a:xfrm>
          <a:prstGeom prst="rect">
            <a:avLst/>
          </a:prstGeom>
          <a:solidFill>
            <a:srgbClr val="E9EEEC"/>
          </a:solidFill>
          <a:ln w="9525">
            <a:solidFill>
              <a:srgbClr val="CED9DB"/>
            </a:solidFill>
            <a:prstDash val="solid"/>
          </a:ln>
        </p:spPr>
        <p:txBody>
          <a:bodyPr/>
          <a:lstStyle/>
          <a:p>
            <a:endParaRPr lang="en-IQ"/>
          </a:p>
        </p:txBody>
      </p:sp>
      <p:sp>
        <p:nvSpPr>
          <p:cNvPr id="95" name="Rectangle 94">
            <a:extLst>
              <a:ext uri="{FF2B5EF4-FFF2-40B4-BE49-F238E27FC236}">
                <a16:creationId xmlns:a16="http://schemas.microsoft.com/office/drawing/2014/main" id="{54C8B041-AA25-444B-85B0-3052531130A2}"/>
              </a:ext>
            </a:extLst>
          </p:cNvPr>
          <p:cNvSpPr>
            <a:spLocks noGrp="1"/>
          </p:cNvSpPr>
          <p:nvPr/>
        </p:nvSpPr>
        <p:spPr>
          <a:xfrm>
            <a:off x="3495675" y="4810125"/>
            <a:ext cx="177165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6</a:t>
            </a:r>
          </a:p>
        </p:txBody>
      </p:sp>
      <p:sp>
        <p:nvSpPr>
          <p:cNvPr id="96" name="Rectangle 95">
            <a:extLst>
              <a:ext uri="{FF2B5EF4-FFF2-40B4-BE49-F238E27FC236}">
                <a16:creationId xmlns:a16="http://schemas.microsoft.com/office/drawing/2014/main" id="{2A7C3B2F-90A5-4437-930F-C0F7A97CB7E0}"/>
              </a:ext>
            </a:extLst>
          </p:cNvPr>
          <p:cNvSpPr>
            <a:spLocks noGrp="1"/>
          </p:cNvSpPr>
          <p:nvPr/>
        </p:nvSpPr>
        <p:spPr>
          <a:xfrm>
            <a:off x="5334000" y="4772025"/>
            <a:ext cx="1428750" cy="476250"/>
          </a:xfrm>
          <a:prstGeom prst="rect">
            <a:avLst/>
          </a:prstGeom>
          <a:solidFill>
            <a:srgbClr val="E9EEEC"/>
          </a:solidFill>
          <a:ln w="9525">
            <a:solidFill>
              <a:srgbClr val="CED9DB"/>
            </a:solidFill>
            <a:prstDash val="solid"/>
          </a:ln>
        </p:spPr>
        <p:txBody>
          <a:bodyPr/>
          <a:lstStyle/>
          <a:p>
            <a:endParaRPr lang="en-IQ"/>
          </a:p>
        </p:txBody>
      </p:sp>
      <p:sp>
        <p:nvSpPr>
          <p:cNvPr id="97" name="Rectangle 96">
            <a:extLst>
              <a:ext uri="{FF2B5EF4-FFF2-40B4-BE49-F238E27FC236}">
                <a16:creationId xmlns:a16="http://schemas.microsoft.com/office/drawing/2014/main" id="{DE744A45-F5E7-4408-B483-CB40BB3EEE0F}"/>
              </a:ext>
            </a:extLst>
          </p:cNvPr>
          <p:cNvSpPr>
            <a:spLocks noGrp="1"/>
          </p:cNvSpPr>
          <p:nvPr/>
        </p:nvSpPr>
        <p:spPr>
          <a:xfrm>
            <a:off x="5400675" y="4810125"/>
            <a:ext cx="12954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7</a:t>
            </a:r>
          </a:p>
        </p:txBody>
      </p:sp>
      <p:sp>
        <p:nvSpPr>
          <p:cNvPr id="98" name="Rectangle 97">
            <a:extLst>
              <a:ext uri="{FF2B5EF4-FFF2-40B4-BE49-F238E27FC236}">
                <a16:creationId xmlns:a16="http://schemas.microsoft.com/office/drawing/2014/main" id="{57F9341F-F22F-4B84-9414-EC71F0996CBB}"/>
              </a:ext>
            </a:extLst>
          </p:cNvPr>
          <p:cNvSpPr>
            <a:spLocks noGrp="1"/>
          </p:cNvSpPr>
          <p:nvPr/>
        </p:nvSpPr>
        <p:spPr>
          <a:xfrm>
            <a:off x="6762750" y="4772025"/>
            <a:ext cx="1428750" cy="476250"/>
          </a:xfrm>
          <a:prstGeom prst="rect">
            <a:avLst/>
          </a:prstGeom>
          <a:solidFill>
            <a:srgbClr val="E9EEEC"/>
          </a:solidFill>
          <a:ln w="9525">
            <a:solidFill>
              <a:srgbClr val="CED9DB"/>
            </a:solidFill>
            <a:prstDash val="solid"/>
          </a:ln>
        </p:spPr>
        <p:txBody>
          <a:bodyPr/>
          <a:lstStyle/>
          <a:p>
            <a:endParaRPr lang="en-IQ"/>
          </a:p>
        </p:txBody>
      </p:sp>
      <p:sp>
        <p:nvSpPr>
          <p:cNvPr id="99" name="Rectangle 98">
            <a:extLst>
              <a:ext uri="{FF2B5EF4-FFF2-40B4-BE49-F238E27FC236}">
                <a16:creationId xmlns:a16="http://schemas.microsoft.com/office/drawing/2014/main" id="{30972592-549D-43B8-BBE2-99DBE8262FB0}"/>
              </a:ext>
            </a:extLst>
          </p:cNvPr>
          <p:cNvSpPr>
            <a:spLocks noGrp="1"/>
          </p:cNvSpPr>
          <p:nvPr/>
        </p:nvSpPr>
        <p:spPr>
          <a:xfrm>
            <a:off x="6829425" y="4810125"/>
            <a:ext cx="12954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3</a:t>
            </a:r>
          </a:p>
        </p:txBody>
      </p:sp>
      <p:sp>
        <p:nvSpPr>
          <p:cNvPr id="100" name="Rectangle 99">
            <a:extLst>
              <a:ext uri="{FF2B5EF4-FFF2-40B4-BE49-F238E27FC236}">
                <a16:creationId xmlns:a16="http://schemas.microsoft.com/office/drawing/2014/main" id="{2426182E-FA07-46C3-802D-1798CF928B41}"/>
              </a:ext>
            </a:extLst>
          </p:cNvPr>
          <p:cNvSpPr>
            <a:spLocks noGrp="1"/>
          </p:cNvSpPr>
          <p:nvPr/>
        </p:nvSpPr>
        <p:spPr>
          <a:xfrm>
            <a:off x="8191500" y="4772025"/>
            <a:ext cx="1428750" cy="476250"/>
          </a:xfrm>
          <a:prstGeom prst="rect">
            <a:avLst/>
          </a:prstGeom>
          <a:solidFill>
            <a:srgbClr val="E9EEEC"/>
          </a:solidFill>
          <a:ln w="9525">
            <a:solidFill>
              <a:srgbClr val="CED9DB"/>
            </a:solidFill>
            <a:prstDash val="solid"/>
          </a:ln>
        </p:spPr>
        <p:txBody>
          <a:bodyPr/>
          <a:lstStyle/>
          <a:p>
            <a:endParaRPr lang="en-IQ"/>
          </a:p>
        </p:txBody>
      </p:sp>
      <p:sp>
        <p:nvSpPr>
          <p:cNvPr id="101" name="Rectangle 100">
            <a:extLst>
              <a:ext uri="{FF2B5EF4-FFF2-40B4-BE49-F238E27FC236}">
                <a16:creationId xmlns:a16="http://schemas.microsoft.com/office/drawing/2014/main" id="{AD64AAD9-68CE-4A3B-B9BD-C4BF329AF1B9}"/>
              </a:ext>
            </a:extLst>
          </p:cNvPr>
          <p:cNvSpPr>
            <a:spLocks noGrp="1"/>
          </p:cNvSpPr>
          <p:nvPr/>
        </p:nvSpPr>
        <p:spPr>
          <a:xfrm>
            <a:off x="8258175" y="4810125"/>
            <a:ext cx="12954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8</a:t>
            </a:r>
          </a:p>
        </p:txBody>
      </p:sp>
      <p:sp>
        <p:nvSpPr>
          <p:cNvPr id="102" name="Rectangle 101">
            <a:extLst>
              <a:ext uri="{FF2B5EF4-FFF2-40B4-BE49-F238E27FC236}">
                <a16:creationId xmlns:a16="http://schemas.microsoft.com/office/drawing/2014/main" id="{80B57699-E174-4802-8FF6-AC133393467F}"/>
              </a:ext>
            </a:extLst>
          </p:cNvPr>
          <p:cNvSpPr>
            <a:spLocks noGrp="1"/>
          </p:cNvSpPr>
          <p:nvPr/>
        </p:nvSpPr>
        <p:spPr>
          <a:xfrm>
            <a:off x="762000" y="5248275"/>
            <a:ext cx="1428750" cy="476250"/>
          </a:xfrm>
          <a:prstGeom prst="rect">
            <a:avLst/>
          </a:prstGeom>
          <a:solidFill>
            <a:srgbClr val="FFFFFF"/>
          </a:solidFill>
          <a:ln w="9525">
            <a:solidFill>
              <a:srgbClr val="CED9DB"/>
            </a:solidFill>
            <a:prstDash val="solid"/>
          </a:ln>
        </p:spPr>
        <p:txBody>
          <a:bodyPr/>
          <a:lstStyle/>
          <a:p>
            <a:endParaRPr lang="en-IQ"/>
          </a:p>
        </p:txBody>
      </p:sp>
      <p:sp>
        <p:nvSpPr>
          <p:cNvPr id="103" name="Rectangle 102">
            <a:extLst>
              <a:ext uri="{FF2B5EF4-FFF2-40B4-BE49-F238E27FC236}">
                <a16:creationId xmlns:a16="http://schemas.microsoft.com/office/drawing/2014/main" id="{3C87D4A6-9D01-47E2-97E2-F3A411032D86}"/>
              </a:ext>
            </a:extLst>
          </p:cNvPr>
          <p:cNvSpPr>
            <a:spLocks noGrp="1"/>
          </p:cNvSpPr>
          <p:nvPr/>
        </p:nvSpPr>
        <p:spPr>
          <a:xfrm>
            <a:off x="828675" y="5286375"/>
            <a:ext cx="1295400" cy="400050"/>
          </a:xfrm>
          <a:prstGeom prst="rect">
            <a:avLst/>
          </a:prstGeom>
          <a:noFill/>
          <a:ln w="0">
            <a:noFill/>
            <a:prstDash val="solid"/>
          </a:ln>
        </p:spPr>
        <p:txBody>
          <a:bodyPr anchor="ctr"/>
          <a:lstStyle/>
          <a:p>
            <a:pPr algn="ctr">
              <a:defRPr sz="1200" b="1">
                <a:solidFill>
                  <a:srgbClr val="0B9B91"/>
                </a:solidFill>
              </a:defRPr>
            </a:pPr>
            <a:r>
              <a:rPr sz="1200" b="1">
                <a:solidFill>
                  <a:srgbClr val="0B9B91"/>
                </a:solidFill>
              </a:rPr>
              <a:t>S8</a:t>
            </a:r>
          </a:p>
        </p:txBody>
      </p:sp>
      <p:sp>
        <p:nvSpPr>
          <p:cNvPr id="104" name="Rectangle 103">
            <a:extLst>
              <a:ext uri="{FF2B5EF4-FFF2-40B4-BE49-F238E27FC236}">
                <a16:creationId xmlns:a16="http://schemas.microsoft.com/office/drawing/2014/main" id="{FB62FB57-9249-42E1-A46A-E93A5ADBA4FE}"/>
              </a:ext>
            </a:extLst>
          </p:cNvPr>
          <p:cNvSpPr>
            <a:spLocks noGrp="1"/>
          </p:cNvSpPr>
          <p:nvPr/>
        </p:nvSpPr>
        <p:spPr>
          <a:xfrm>
            <a:off x="2190750" y="5248275"/>
            <a:ext cx="1238250" cy="476250"/>
          </a:xfrm>
          <a:prstGeom prst="rect">
            <a:avLst/>
          </a:prstGeom>
          <a:solidFill>
            <a:srgbClr val="FFFFFF"/>
          </a:solidFill>
          <a:ln w="9525">
            <a:solidFill>
              <a:srgbClr val="CED9DB"/>
            </a:solidFill>
            <a:prstDash val="solid"/>
          </a:ln>
        </p:spPr>
        <p:txBody>
          <a:bodyPr/>
          <a:lstStyle/>
          <a:p>
            <a:endParaRPr lang="en-IQ"/>
          </a:p>
        </p:txBody>
      </p:sp>
      <p:sp>
        <p:nvSpPr>
          <p:cNvPr id="105" name="Rectangle 104">
            <a:extLst>
              <a:ext uri="{FF2B5EF4-FFF2-40B4-BE49-F238E27FC236}">
                <a16:creationId xmlns:a16="http://schemas.microsoft.com/office/drawing/2014/main" id="{762C8993-5C6E-420A-916C-588B06BC98C5}"/>
              </a:ext>
            </a:extLst>
          </p:cNvPr>
          <p:cNvSpPr>
            <a:spLocks noGrp="1"/>
          </p:cNvSpPr>
          <p:nvPr/>
        </p:nvSpPr>
        <p:spPr>
          <a:xfrm>
            <a:off x="2257425" y="5286375"/>
            <a:ext cx="11049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4</a:t>
            </a:r>
          </a:p>
        </p:txBody>
      </p:sp>
      <p:sp>
        <p:nvSpPr>
          <p:cNvPr id="106" name="Rectangle 105">
            <a:extLst>
              <a:ext uri="{FF2B5EF4-FFF2-40B4-BE49-F238E27FC236}">
                <a16:creationId xmlns:a16="http://schemas.microsoft.com/office/drawing/2014/main" id="{791553D5-AF59-454C-958E-90F6DF73E28C}"/>
              </a:ext>
            </a:extLst>
          </p:cNvPr>
          <p:cNvSpPr>
            <a:spLocks noGrp="1"/>
          </p:cNvSpPr>
          <p:nvPr/>
        </p:nvSpPr>
        <p:spPr>
          <a:xfrm>
            <a:off x="3429000" y="5248275"/>
            <a:ext cx="1905000" cy="476250"/>
          </a:xfrm>
          <a:prstGeom prst="rect">
            <a:avLst/>
          </a:prstGeom>
          <a:solidFill>
            <a:srgbClr val="FFFFFF"/>
          </a:solidFill>
          <a:ln w="9525">
            <a:solidFill>
              <a:srgbClr val="CED9DB"/>
            </a:solidFill>
            <a:prstDash val="solid"/>
          </a:ln>
        </p:spPr>
        <p:txBody>
          <a:bodyPr/>
          <a:lstStyle/>
          <a:p>
            <a:endParaRPr lang="en-IQ"/>
          </a:p>
        </p:txBody>
      </p:sp>
      <p:sp>
        <p:nvSpPr>
          <p:cNvPr id="107" name="Rectangle 106">
            <a:extLst>
              <a:ext uri="{FF2B5EF4-FFF2-40B4-BE49-F238E27FC236}">
                <a16:creationId xmlns:a16="http://schemas.microsoft.com/office/drawing/2014/main" id="{9FFA142B-B03E-46A0-9158-C8209AA49E4F}"/>
              </a:ext>
            </a:extLst>
          </p:cNvPr>
          <p:cNvSpPr>
            <a:spLocks noGrp="1"/>
          </p:cNvSpPr>
          <p:nvPr/>
        </p:nvSpPr>
        <p:spPr>
          <a:xfrm>
            <a:off x="3495675" y="5286375"/>
            <a:ext cx="177165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8</a:t>
            </a:r>
          </a:p>
        </p:txBody>
      </p:sp>
      <p:sp>
        <p:nvSpPr>
          <p:cNvPr id="108" name="Rectangle 107">
            <a:extLst>
              <a:ext uri="{FF2B5EF4-FFF2-40B4-BE49-F238E27FC236}">
                <a16:creationId xmlns:a16="http://schemas.microsoft.com/office/drawing/2014/main" id="{A1B34C39-A5B1-4CBC-A732-C5473A74BEBD}"/>
              </a:ext>
            </a:extLst>
          </p:cNvPr>
          <p:cNvSpPr>
            <a:spLocks noGrp="1"/>
          </p:cNvSpPr>
          <p:nvPr/>
        </p:nvSpPr>
        <p:spPr>
          <a:xfrm>
            <a:off x="5334000" y="5248275"/>
            <a:ext cx="1428750" cy="476250"/>
          </a:xfrm>
          <a:prstGeom prst="rect">
            <a:avLst/>
          </a:prstGeom>
          <a:solidFill>
            <a:srgbClr val="FFFFFF"/>
          </a:solidFill>
          <a:ln w="9525">
            <a:solidFill>
              <a:srgbClr val="CED9DB"/>
            </a:solidFill>
            <a:prstDash val="solid"/>
          </a:ln>
        </p:spPr>
        <p:txBody>
          <a:bodyPr/>
          <a:lstStyle/>
          <a:p>
            <a:endParaRPr lang="en-IQ"/>
          </a:p>
        </p:txBody>
      </p:sp>
      <p:sp>
        <p:nvSpPr>
          <p:cNvPr id="109" name="Rectangle 108">
            <a:extLst>
              <a:ext uri="{FF2B5EF4-FFF2-40B4-BE49-F238E27FC236}">
                <a16:creationId xmlns:a16="http://schemas.microsoft.com/office/drawing/2014/main" id="{FCB6E3CF-5C3F-4028-B9B0-991E82DF454D}"/>
              </a:ext>
            </a:extLst>
          </p:cNvPr>
          <p:cNvSpPr>
            <a:spLocks noGrp="1"/>
          </p:cNvSpPr>
          <p:nvPr/>
        </p:nvSpPr>
        <p:spPr>
          <a:xfrm>
            <a:off x="5400675" y="5286375"/>
            <a:ext cx="12954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6</a:t>
            </a:r>
          </a:p>
        </p:txBody>
      </p:sp>
      <p:sp>
        <p:nvSpPr>
          <p:cNvPr id="110" name="Rectangle 109">
            <a:extLst>
              <a:ext uri="{FF2B5EF4-FFF2-40B4-BE49-F238E27FC236}">
                <a16:creationId xmlns:a16="http://schemas.microsoft.com/office/drawing/2014/main" id="{05443A4B-7298-4153-80CB-871750796B5B}"/>
              </a:ext>
            </a:extLst>
          </p:cNvPr>
          <p:cNvSpPr>
            <a:spLocks noGrp="1"/>
          </p:cNvSpPr>
          <p:nvPr/>
        </p:nvSpPr>
        <p:spPr>
          <a:xfrm>
            <a:off x="6762750" y="5248275"/>
            <a:ext cx="1428750" cy="476250"/>
          </a:xfrm>
          <a:prstGeom prst="rect">
            <a:avLst/>
          </a:prstGeom>
          <a:solidFill>
            <a:srgbClr val="FFFFFF"/>
          </a:solidFill>
          <a:ln w="9525">
            <a:solidFill>
              <a:srgbClr val="CED9DB"/>
            </a:solidFill>
            <a:prstDash val="solid"/>
          </a:ln>
        </p:spPr>
        <p:txBody>
          <a:bodyPr/>
          <a:lstStyle/>
          <a:p>
            <a:endParaRPr lang="en-IQ"/>
          </a:p>
        </p:txBody>
      </p:sp>
      <p:sp>
        <p:nvSpPr>
          <p:cNvPr id="111" name="Rectangle 110">
            <a:extLst>
              <a:ext uri="{FF2B5EF4-FFF2-40B4-BE49-F238E27FC236}">
                <a16:creationId xmlns:a16="http://schemas.microsoft.com/office/drawing/2014/main" id="{5725AE6C-E031-44CD-94B4-FECA67A29923}"/>
              </a:ext>
            </a:extLst>
          </p:cNvPr>
          <p:cNvSpPr>
            <a:spLocks noGrp="1"/>
          </p:cNvSpPr>
          <p:nvPr/>
        </p:nvSpPr>
        <p:spPr>
          <a:xfrm>
            <a:off x="6829425" y="5286375"/>
            <a:ext cx="12954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5</a:t>
            </a:r>
          </a:p>
        </p:txBody>
      </p:sp>
      <p:sp>
        <p:nvSpPr>
          <p:cNvPr id="112" name="Rectangle 111">
            <a:extLst>
              <a:ext uri="{FF2B5EF4-FFF2-40B4-BE49-F238E27FC236}">
                <a16:creationId xmlns:a16="http://schemas.microsoft.com/office/drawing/2014/main" id="{43F523C4-211D-4AAB-AA38-F14E05EA4257}"/>
              </a:ext>
            </a:extLst>
          </p:cNvPr>
          <p:cNvSpPr>
            <a:spLocks noGrp="1"/>
          </p:cNvSpPr>
          <p:nvPr/>
        </p:nvSpPr>
        <p:spPr>
          <a:xfrm>
            <a:off x="8191500" y="5248275"/>
            <a:ext cx="1428750" cy="476250"/>
          </a:xfrm>
          <a:prstGeom prst="rect">
            <a:avLst/>
          </a:prstGeom>
          <a:solidFill>
            <a:srgbClr val="FFFFFF"/>
          </a:solidFill>
          <a:ln w="9525">
            <a:solidFill>
              <a:srgbClr val="CED9DB"/>
            </a:solidFill>
            <a:prstDash val="solid"/>
          </a:ln>
        </p:spPr>
        <p:txBody>
          <a:bodyPr/>
          <a:lstStyle/>
          <a:p>
            <a:endParaRPr lang="en-IQ"/>
          </a:p>
        </p:txBody>
      </p:sp>
      <p:sp>
        <p:nvSpPr>
          <p:cNvPr id="113" name="Rectangle 112">
            <a:extLst>
              <a:ext uri="{FF2B5EF4-FFF2-40B4-BE49-F238E27FC236}">
                <a16:creationId xmlns:a16="http://schemas.microsoft.com/office/drawing/2014/main" id="{407864C5-EDA7-4AAB-A920-1F42ED251984}"/>
              </a:ext>
            </a:extLst>
          </p:cNvPr>
          <p:cNvSpPr>
            <a:spLocks noGrp="1"/>
          </p:cNvSpPr>
          <p:nvPr/>
        </p:nvSpPr>
        <p:spPr>
          <a:xfrm>
            <a:off x="8258175" y="5286375"/>
            <a:ext cx="1295400" cy="400050"/>
          </a:xfrm>
          <a:prstGeom prst="rect">
            <a:avLst/>
          </a:prstGeom>
          <a:noFill/>
          <a:ln w="0">
            <a:noFill/>
            <a:prstDash val="solid"/>
          </a:ln>
        </p:spPr>
        <p:txBody>
          <a:bodyPr anchor="ctr"/>
          <a:lstStyle/>
          <a:p>
            <a:pPr algn="ctr">
              <a:defRPr sz="1200" b="0">
                <a:solidFill>
                  <a:srgbClr val="183544"/>
                </a:solidFill>
              </a:defRPr>
            </a:pPr>
            <a:r>
              <a:rPr sz="1200" b="0">
                <a:solidFill>
                  <a:srgbClr val="183544"/>
                </a:solidFill>
              </a:rPr>
              <a:t>4</a:t>
            </a:r>
          </a:p>
        </p:txBody>
      </p:sp>
      <p:sp>
        <p:nvSpPr>
          <p:cNvPr id="114" name="Rectangle 113">
            <a:extLst>
              <a:ext uri="{FF2B5EF4-FFF2-40B4-BE49-F238E27FC236}">
                <a16:creationId xmlns:a16="http://schemas.microsoft.com/office/drawing/2014/main" id="{5C12F50D-3791-4D32-8EE7-64BE20637670}"/>
              </a:ext>
            </a:extLst>
          </p:cNvPr>
          <p:cNvSpPr>
            <a:spLocks noGrp="1"/>
          </p:cNvSpPr>
          <p:nvPr/>
        </p:nvSpPr>
        <p:spPr>
          <a:xfrm>
            <a:off x="2095500" y="5905500"/>
            <a:ext cx="8001000" cy="323850"/>
          </a:xfrm>
          <a:prstGeom prst="rect">
            <a:avLst/>
          </a:prstGeom>
          <a:noFill/>
          <a:ln w="0">
            <a:noFill/>
            <a:prstDash val="solid"/>
          </a:ln>
        </p:spPr>
        <p:txBody>
          <a:bodyPr anchor="ctr"/>
          <a:lstStyle/>
          <a:p>
            <a:pPr algn="ctr">
              <a:defRPr sz="1575" b="1">
                <a:solidFill>
                  <a:srgbClr val="092A3D"/>
                </a:solidFill>
              </a:defRPr>
            </a:pPr>
            <a:r>
              <a:rPr sz="1575" b="1">
                <a:solidFill>
                  <a:srgbClr val="092A3D"/>
                </a:solidFill>
              </a:rPr>
              <a:t>Server capacities: N1=8 • N2=8 • N3=7 • N4=9</a:t>
            </a:r>
          </a:p>
        </p:txBody>
      </p:sp>
    </p:spTree>
    <p:extLst>
      <p:ext uri="{BB962C8B-B14F-4D97-AF65-F5344CB8AC3E}">
        <p14:creationId xmlns:p14="http://schemas.microsoft.com/office/powerpoint/2010/main" val="1887548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6434D691-CF88-4A42-A9FF-A8D58C336E89}"/>
              </a:ext>
            </a:extLst>
          </p:cNvPr>
          <p:cNvSpPr>
            <a:spLocks noGrp="1"/>
          </p:cNvSpPr>
          <p:nvPr/>
        </p:nvSpPr>
        <p:spPr>
          <a:xfrm>
            <a:off x="609600" y="285750"/>
            <a:ext cx="64770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REPRESENTATION</a:t>
            </a:r>
          </a:p>
        </p:txBody>
      </p:sp>
      <p:sp>
        <p:nvSpPr>
          <p:cNvPr id="2" name="Rectangle 1">
            <a:extLst>
              <a:ext uri="{FF2B5EF4-FFF2-40B4-BE49-F238E27FC236}">
                <a16:creationId xmlns:a16="http://schemas.microsoft.com/office/drawing/2014/main" id="{56CCF0BB-7477-4875-9769-2F72C4241E1D}"/>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An integer array gives every candidate one meaning</a:t>
            </a:r>
          </a:p>
        </p:txBody>
      </p:sp>
      <p:sp>
        <p:nvSpPr>
          <p:cNvPr id="3" name="Rectangle 2">
            <a:extLst>
              <a:ext uri="{FF2B5EF4-FFF2-40B4-BE49-F238E27FC236}">
                <a16:creationId xmlns:a16="http://schemas.microsoft.com/office/drawing/2014/main" id="{16774BE4-E25F-4500-9E11-D6442C131A6A}"/>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29414336-A93D-4E4A-893E-BBEC0E9E1D37}"/>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2</a:t>
            </a:r>
          </a:p>
        </p:txBody>
      </p:sp>
      <p:sp>
        <p:nvSpPr>
          <p:cNvPr id="5" name="Rectangle 4">
            <a:extLst>
              <a:ext uri="{FF2B5EF4-FFF2-40B4-BE49-F238E27FC236}">
                <a16:creationId xmlns:a16="http://schemas.microsoft.com/office/drawing/2014/main" id="{9907858C-47AE-4EA0-BC89-22B6707FC7BF}"/>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06</a:t>
            </a:r>
          </a:p>
        </p:txBody>
      </p:sp>
      <p:sp>
        <p:nvSpPr>
          <p:cNvPr id="6" name="Rounded Rectangle 5">
            <a:extLst>
              <a:ext uri="{FF2B5EF4-FFF2-40B4-BE49-F238E27FC236}">
                <a16:creationId xmlns:a16="http://schemas.microsoft.com/office/drawing/2014/main" id="{A8E20FAA-96C9-4943-BE6F-B873B823481C}"/>
              </a:ext>
            </a:extLst>
          </p:cNvPr>
          <p:cNvSpPr>
            <a:spLocks noGrp="1"/>
          </p:cNvSpPr>
          <p:nvPr/>
        </p:nvSpPr>
        <p:spPr>
          <a:xfrm>
            <a:off x="1524000" y="1619250"/>
            <a:ext cx="9144000" cy="781050"/>
          </a:xfrm>
          <a:prstGeom prst="roundRect">
            <a:avLst>
              <a:gd name="adj" fmla="val 9756"/>
            </a:avLst>
          </a:prstGeom>
          <a:solidFill>
            <a:srgbClr val="092A3D"/>
          </a:solidFill>
          <a:ln w="0">
            <a:solidFill>
              <a:srgbClr val="092A3D"/>
            </a:solidFill>
            <a:prstDash val="solid"/>
          </a:ln>
        </p:spPr>
        <p:txBody>
          <a:bodyPr/>
          <a:lstStyle/>
          <a:p>
            <a:endParaRPr lang="en-IQ"/>
          </a:p>
        </p:txBody>
      </p:sp>
      <p:sp>
        <p:nvSpPr>
          <p:cNvPr id="7" name="Rectangle 6">
            <a:extLst>
              <a:ext uri="{FF2B5EF4-FFF2-40B4-BE49-F238E27FC236}">
                <a16:creationId xmlns:a16="http://schemas.microsoft.com/office/drawing/2014/main" id="{3E858EAB-A0EE-46D0-BD46-8287CC4FE5D7}"/>
              </a:ext>
            </a:extLst>
          </p:cNvPr>
          <p:cNvSpPr>
            <a:spLocks noGrp="1"/>
          </p:cNvSpPr>
          <p:nvPr/>
        </p:nvSpPr>
        <p:spPr>
          <a:xfrm>
            <a:off x="1714500" y="1695450"/>
            <a:ext cx="8763000" cy="628650"/>
          </a:xfrm>
          <a:prstGeom prst="rect">
            <a:avLst/>
          </a:prstGeom>
          <a:noFill/>
          <a:ln w="0">
            <a:noFill/>
            <a:prstDash val="solid"/>
          </a:ln>
        </p:spPr>
        <p:txBody>
          <a:bodyPr anchor="ctr"/>
          <a:lstStyle/>
          <a:p>
            <a:pPr algn="ctr">
              <a:defRPr sz="2400" b="1">
                <a:solidFill>
                  <a:srgbClr val="FFFFFF"/>
                </a:solidFill>
              </a:defRPr>
            </a:pPr>
            <a:r>
              <a:rPr sz="2400" b="1">
                <a:solidFill>
                  <a:srgbClr val="FFFFFF"/>
                </a:solidFill>
              </a:rPr>
              <a:t>[0, 1, 2, 3, 0, 1, 2, 3]</a:t>
            </a:r>
          </a:p>
        </p:txBody>
      </p:sp>
      <p:sp>
        <p:nvSpPr>
          <p:cNvPr id="8" name="Rectangle 7">
            <a:extLst>
              <a:ext uri="{FF2B5EF4-FFF2-40B4-BE49-F238E27FC236}">
                <a16:creationId xmlns:a16="http://schemas.microsoft.com/office/drawing/2014/main" id="{A52240F9-363A-4520-B3A2-D838437D1CB6}"/>
              </a:ext>
            </a:extLst>
          </p:cNvPr>
          <p:cNvSpPr>
            <a:spLocks noGrp="1"/>
          </p:cNvSpPr>
          <p:nvPr/>
        </p:nvSpPr>
        <p:spPr>
          <a:xfrm>
            <a:off x="1619250" y="2857500"/>
            <a:ext cx="762000" cy="333375"/>
          </a:xfrm>
          <a:prstGeom prst="rect">
            <a:avLst/>
          </a:prstGeom>
          <a:noFill/>
          <a:ln w="0">
            <a:noFill/>
            <a:prstDash val="solid"/>
          </a:ln>
        </p:spPr>
        <p:txBody>
          <a:bodyPr anchor="ctr"/>
          <a:lstStyle/>
          <a:p>
            <a:pPr algn="ctr">
              <a:defRPr sz="1425" b="1">
                <a:solidFill>
                  <a:srgbClr val="0B9B91"/>
                </a:solidFill>
              </a:defRPr>
            </a:pPr>
            <a:r>
              <a:rPr sz="1425" b="1">
                <a:solidFill>
                  <a:srgbClr val="0B9B91"/>
                </a:solidFill>
              </a:rPr>
              <a:t>S1</a:t>
            </a:r>
          </a:p>
        </p:txBody>
      </p:sp>
      <p:sp>
        <p:nvSpPr>
          <p:cNvPr id="9" name="Straight Connector 8">
            <a:extLst>
              <a:ext uri="{FF2B5EF4-FFF2-40B4-BE49-F238E27FC236}">
                <a16:creationId xmlns:a16="http://schemas.microsoft.com/office/drawing/2014/main" id="{F4F0E933-CD37-4FED-9BCF-7AED388B846B}"/>
              </a:ext>
            </a:extLst>
          </p:cNvPr>
          <p:cNvSpPr>
            <a:spLocks noGrp="1"/>
          </p:cNvSpPr>
          <p:nvPr/>
        </p:nvSpPr>
        <p:spPr>
          <a:xfrm>
            <a:off x="2000250" y="3333750"/>
            <a:ext cx="0" cy="0"/>
          </a:xfrm>
          <a:prstGeom prst="line">
            <a:avLst/>
          </a:prstGeom>
          <a:noFill/>
          <a:ln w="28575">
            <a:solidFill>
              <a:srgbClr val="0B9B91"/>
            </a:solidFill>
            <a:prstDash val="solid"/>
          </a:ln>
        </p:spPr>
        <p:txBody>
          <a:bodyPr/>
          <a:lstStyle/>
          <a:p>
            <a:endParaRPr lang="en-IQ"/>
          </a:p>
        </p:txBody>
      </p:sp>
      <p:sp>
        <p:nvSpPr>
          <p:cNvPr id="10" name="Rectangle 9">
            <a:extLst>
              <a:ext uri="{FF2B5EF4-FFF2-40B4-BE49-F238E27FC236}">
                <a16:creationId xmlns:a16="http://schemas.microsoft.com/office/drawing/2014/main" id="{8B80E5D9-324F-470A-97E7-55EC6F75F5C6}"/>
              </a:ext>
            </a:extLst>
          </p:cNvPr>
          <p:cNvSpPr>
            <a:spLocks noGrp="1"/>
          </p:cNvSpPr>
          <p:nvPr/>
        </p:nvSpPr>
        <p:spPr>
          <a:xfrm>
            <a:off x="1619250" y="3762375"/>
            <a:ext cx="762000" cy="476250"/>
          </a:xfrm>
          <a:prstGeom prst="rect">
            <a:avLst/>
          </a:prstGeom>
          <a:noFill/>
          <a:ln w="0">
            <a:noFill/>
            <a:prstDash val="solid"/>
          </a:ln>
        </p:spPr>
        <p:txBody>
          <a:bodyPr anchor="ctr"/>
          <a:lstStyle/>
          <a:p>
            <a:pPr algn="ctr">
              <a:defRPr sz="1800" b="1">
                <a:solidFill>
                  <a:srgbClr val="2878B5"/>
                </a:solidFill>
              </a:defRPr>
            </a:pPr>
            <a:r>
              <a:rPr sz="1800" b="1">
                <a:solidFill>
                  <a:srgbClr val="2878B5"/>
                </a:solidFill>
              </a:rPr>
              <a:t>N1</a:t>
            </a:r>
          </a:p>
        </p:txBody>
      </p:sp>
      <p:sp>
        <p:nvSpPr>
          <p:cNvPr id="11" name="Rectangle 10">
            <a:extLst>
              <a:ext uri="{FF2B5EF4-FFF2-40B4-BE49-F238E27FC236}">
                <a16:creationId xmlns:a16="http://schemas.microsoft.com/office/drawing/2014/main" id="{348E9283-6110-4B7C-8A93-70B76F811450}"/>
              </a:ext>
            </a:extLst>
          </p:cNvPr>
          <p:cNvSpPr>
            <a:spLocks noGrp="1"/>
          </p:cNvSpPr>
          <p:nvPr/>
        </p:nvSpPr>
        <p:spPr>
          <a:xfrm>
            <a:off x="2714625" y="2857500"/>
            <a:ext cx="762000" cy="333375"/>
          </a:xfrm>
          <a:prstGeom prst="rect">
            <a:avLst/>
          </a:prstGeom>
          <a:noFill/>
          <a:ln w="0">
            <a:noFill/>
            <a:prstDash val="solid"/>
          </a:ln>
        </p:spPr>
        <p:txBody>
          <a:bodyPr anchor="ctr"/>
          <a:lstStyle/>
          <a:p>
            <a:pPr algn="ctr">
              <a:defRPr sz="1425" b="1">
                <a:solidFill>
                  <a:srgbClr val="0B9B91"/>
                </a:solidFill>
              </a:defRPr>
            </a:pPr>
            <a:r>
              <a:rPr sz="1425" b="1">
                <a:solidFill>
                  <a:srgbClr val="0B9B91"/>
                </a:solidFill>
              </a:rPr>
              <a:t>S2</a:t>
            </a:r>
          </a:p>
        </p:txBody>
      </p:sp>
      <p:sp>
        <p:nvSpPr>
          <p:cNvPr id="12" name="Straight Connector 11">
            <a:extLst>
              <a:ext uri="{FF2B5EF4-FFF2-40B4-BE49-F238E27FC236}">
                <a16:creationId xmlns:a16="http://schemas.microsoft.com/office/drawing/2014/main" id="{D522AD8F-9AE3-47E9-9ECC-4ADA4A63BDCB}"/>
              </a:ext>
            </a:extLst>
          </p:cNvPr>
          <p:cNvSpPr>
            <a:spLocks noGrp="1"/>
          </p:cNvSpPr>
          <p:nvPr/>
        </p:nvSpPr>
        <p:spPr>
          <a:xfrm>
            <a:off x="3095625" y="3333750"/>
            <a:ext cx="0" cy="0"/>
          </a:xfrm>
          <a:prstGeom prst="line">
            <a:avLst/>
          </a:prstGeom>
          <a:noFill/>
          <a:ln w="28575">
            <a:solidFill>
              <a:srgbClr val="0B9B91"/>
            </a:solidFill>
            <a:prstDash val="solid"/>
          </a:ln>
        </p:spPr>
        <p:txBody>
          <a:bodyPr/>
          <a:lstStyle/>
          <a:p>
            <a:endParaRPr lang="en-IQ"/>
          </a:p>
        </p:txBody>
      </p:sp>
      <p:sp>
        <p:nvSpPr>
          <p:cNvPr id="13" name="Rectangle 12">
            <a:extLst>
              <a:ext uri="{FF2B5EF4-FFF2-40B4-BE49-F238E27FC236}">
                <a16:creationId xmlns:a16="http://schemas.microsoft.com/office/drawing/2014/main" id="{934CEDC5-26F4-497D-835D-4AFDA5465EF9}"/>
              </a:ext>
            </a:extLst>
          </p:cNvPr>
          <p:cNvSpPr>
            <a:spLocks noGrp="1"/>
          </p:cNvSpPr>
          <p:nvPr/>
        </p:nvSpPr>
        <p:spPr>
          <a:xfrm>
            <a:off x="2714625" y="3762375"/>
            <a:ext cx="762000" cy="476250"/>
          </a:xfrm>
          <a:prstGeom prst="rect">
            <a:avLst/>
          </a:prstGeom>
          <a:noFill/>
          <a:ln w="0">
            <a:noFill/>
            <a:prstDash val="solid"/>
          </a:ln>
        </p:spPr>
        <p:txBody>
          <a:bodyPr anchor="ctr"/>
          <a:lstStyle/>
          <a:p>
            <a:pPr algn="ctr">
              <a:defRPr sz="1800" b="1">
                <a:solidFill>
                  <a:srgbClr val="2878B5"/>
                </a:solidFill>
              </a:defRPr>
            </a:pPr>
            <a:r>
              <a:rPr sz="1800" b="1">
                <a:solidFill>
                  <a:srgbClr val="2878B5"/>
                </a:solidFill>
              </a:rPr>
              <a:t>N2</a:t>
            </a:r>
          </a:p>
        </p:txBody>
      </p:sp>
      <p:sp>
        <p:nvSpPr>
          <p:cNvPr id="14" name="Rectangle 13">
            <a:extLst>
              <a:ext uri="{FF2B5EF4-FFF2-40B4-BE49-F238E27FC236}">
                <a16:creationId xmlns:a16="http://schemas.microsoft.com/office/drawing/2014/main" id="{C19553A7-CDD2-46BF-A541-1C4DA361DB72}"/>
              </a:ext>
            </a:extLst>
          </p:cNvPr>
          <p:cNvSpPr>
            <a:spLocks noGrp="1"/>
          </p:cNvSpPr>
          <p:nvPr/>
        </p:nvSpPr>
        <p:spPr>
          <a:xfrm>
            <a:off x="3810000" y="2857500"/>
            <a:ext cx="762000" cy="333375"/>
          </a:xfrm>
          <a:prstGeom prst="rect">
            <a:avLst/>
          </a:prstGeom>
          <a:noFill/>
          <a:ln w="0">
            <a:noFill/>
            <a:prstDash val="solid"/>
          </a:ln>
        </p:spPr>
        <p:txBody>
          <a:bodyPr anchor="ctr"/>
          <a:lstStyle/>
          <a:p>
            <a:pPr algn="ctr">
              <a:defRPr sz="1425" b="1">
                <a:solidFill>
                  <a:srgbClr val="0B9B91"/>
                </a:solidFill>
              </a:defRPr>
            </a:pPr>
            <a:r>
              <a:rPr sz="1425" b="1">
                <a:solidFill>
                  <a:srgbClr val="0B9B91"/>
                </a:solidFill>
              </a:rPr>
              <a:t>S3</a:t>
            </a:r>
          </a:p>
        </p:txBody>
      </p:sp>
      <p:sp>
        <p:nvSpPr>
          <p:cNvPr id="15" name="Straight Connector 14">
            <a:extLst>
              <a:ext uri="{FF2B5EF4-FFF2-40B4-BE49-F238E27FC236}">
                <a16:creationId xmlns:a16="http://schemas.microsoft.com/office/drawing/2014/main" id="{ED3C1764-DCA9-410B-9438-3405DF3E515D}"/>
              </a:ext>
            </a:extLst>
          </p:cNvPr>
          <p:cNvSpPr>
            <a:spLocks noGrp="1"/>
          </p:cNvSpPr>
          <p:nvPr/>
        </p:nvSpPr>
        <p:spPr>
          <a:xfrm>
            <a:off x="4191000" y="3333750"/>
            <a:ext cx="0" cy="0"/>
          </a:xfrm>
          <a:prstGeom prst="line">
            <a:avLst/>
          </a:prstGeom>
          <a:noFill/>
          <a:ln w="28575">
            <a:solidFill>
              <a:srgbClr val="0B9B91"/>
            </a:solidFill>
            <a:prstDash val="solid"/>
          </a:ln>
        </p:spPr>
        <p:txBody>
          <a:bodyPr/>
          <a:lstStyle/>
          <a:p>
            <a:endParaRPr lang="en-IQ"/>
          </a:p>
        </p:txBody>
      </p:sp>
      <p:sp>
        <p:nvSpPr>
          <p:cNvPr id="16" name="Rectangle 15">
            <a:extLst>
              <a:ext uri="{FF2B5EF4-FFF2-40B4-BE49-F238E27FC236}">
                <a16:creationId xmlns:a16="http://schemas.microsoft.com/office/drawing/2014/main" id="{42BDC7E5-7B61-4975-8E16-71D38D728338}"/>
              </a:ext>
            </a:extLst>
          </p:cNvPr>
          <p:cNvSpPr>
            <a:spLocks noGrp="1"/>
          </p:cNvSpPr>
          <p:nvPr/>
        </p:nvSpPr>
        <p:spPr>
          <a:xfrm>
            <a:off x="3810000" y="3762375"/>
            <a:ext cx="762000" cy="476250"/>
          </a:xfrm>
          <a:prstGeom prst="rect">
            <a:avLst/>
          </a:prstGeom>
          <a:noFill/>
          <a:ln w="0">
            <a:noFill/>
            <a:prstDash val="solid"/>
          </a:ln>
        </p:spPr>
        <p:txBody>
          <a:bodyPr anchor="ctr"/>
          <a:lstStyle/>
          <a:p>
            <a:pPr algn="ctr">
              <a:defRPr sz="1800" b="1">
                <a:solidFill>
                  <a:srgbClr val="2878B5"/>
                </a:solidFill>
              </a:defRPr>
            </a:pPr>
            <a:r>
              <a:rPr sz="1800" b="1">
                <a:solidFill>
                  <a:srgbClr val="2878B5"/>
                </a:solidFill>
              </a:rPr>
              <a:t>N3</a:t>
            </a:r>
          </a:p>
        </p:txBody>
      </p:sp>
      <p:sp>
        <p:nvSpPr>
          <p:cNvPr id="17" name="Rectangle 16">
            <a:extLst>
              <a:ext uri="{FF2B5EF4-FFF2-40B4-BE49-F238E27FC236}">
                <a16:creationId xmlns:a16="http://schemas.microsoft.com/office/drawing/2014/main" id="{75AD5FBC-1715-46B9-8021-566C42DFE18E}"/>
              </a:ext>
            </a:extLst>
          </p:cNvPr>
          <p:cNvSpPr>
            <a:spLocks noGrp="1"/>
          </p:cNvSpPr>
          <p:nvPr/>
        </p:nvSpPr>
        <p:spPr>
          <a:xfrm>
            <a:off x="4905375" y="2857500"/>
            <a:ext cx="762000" cy="333375"/>
          </a:xfrm>
          <a:prstGeom prst="rect">
            <a:avLst/>
          </a:prstGeom>
          <a:noFill/>
          <a:ln w="0">
            <a:noFill/>
            <a:prstDash val="solid"/>
          </a:ln>
        </p:spPr>
        <p:txBody>
          <a:bodyPr anchor="ctr"/>
          <a:lstStyle/>
          <a:p>
            <a:pPr algn="ctr">
              <a:defRPr sz="1425" b="1">
                <a:solidFill>
                  <a:srgbClr val="0B9B91"/>
                </a:solidFill>
              </a:defRPr>
            </a:pPr>
            <a:r>
              <a:rPr sz="1425" b="1">
                <a:solidFill>
                  <a:srgbClr val="0B9B91"/>
                </a:solidFill>
              </a:rPr>
              <a:t>S4</a:t>
            </a:r>
          </a:p>
        </p:txBody>
      </p:sp>
      <p:sp>
        <p:nvSpPr>
          <p:cNvPr id="18" name="Straight Connector 17">
            <a:extLst>
              <a:ext uri="{FF2B5EF4-FFF2-40B4-BE49-F238E27FC236}">
                <a16:creationId xmlns:a16="http://schemas.microsoft.com/office/drawing/2014/main" id="{FBEACB85-3163-466D-9964-C1B616E0F01B}"/>
              </a:ext>
            </a:extLst>
          </p:cNvPr>
          <p:cNvSpPr>
            <a:spLocks noGrp="1"/>
          </p:cNvSpPr>
          <p:nvPr/>
        </p:nvSpPr>
        <p:spPr>
          <a:xfrm>
            <a:off x="5286375" y="3333750"/>
            <a:ext cx="0" cy="0"/>
          </a:xfrm>
          <a:prstGeom prst="line">
            <a:avLst/>
          </a:prstGeom>
          <a:noFill/>
          <a:ln w="28575">
            <a:solidFill>
              <a:srgbClr val="0B9B91"/>
            </a:solidFill>
            <a:prstDash val="solid"/>
          </a:ln>
        </p:spPr>
        <p:txBody>
          <a:bodyPr/>
          <a:lstStyle/>
          <a:p>
            <a:endParaRPr lang="en-IQ"/>
          </a:p>
        </p:txBody>
      </p:sp>
      <p:sp>
        <p:nvSpPr>
          <p:cNvPr id="19" name="Rectangle 18">
            <a:extLst>
              <a:ext uri="{FF2B5EF4-FFF2-40B4-BE49-F238E27FC236}">
                <a16:creationId xmlns:a16="http://schemas.microsoft.com/office/drawing/2014/main" id="{C23E8D57-CD32-41FF-8F72-ABA1A999E3E5}"/>
              </a:ext>
            </a:extLst>
          </p:cNvPr>
          <p:cNvSpPr>
            <a:spLocks noGrp="1"/>
          </p:cNvSpPr>
          <p:nvPr/>
        </p:nvSpPr>
        <p:spPr>
          <a:xfrm>
            <a:off x="4905375" y="3762375"/>
            <a:ext cx="762000" cy="476250"/>
          </a:xfrm>
          <a:prstGeom prst="rect">
            <a:avLst/>
          </a:prstGeom>
          <a:noFill/>
          <a:ln w="0">
            <a:noFill/>
            <a:prstDash val="solid"/>
          </a:ln>
        </p:spPr>
        <p:txBody>
          <a:bodyPr anchor="ctr"/>
          <a:lstStyle/>
          <a:p>
            <a:pPr algn="ctr">
              <a:defRPr sz="1800" b="1">
                <a:solidFill>
                  <a:srgbClr val="2878B5"/>
                </a:solidFill>
              </a:defRPr>
            </a:pPr>
            <a:r>
              <a:rPr sz="1800" b="1">
                <a:solidFill>
                  <a:srgbClr val="2878B5"/>
                </a:solidFill>
              </a:rPr>
              <a:t>N4</a:t>
            </a:r>
          </a:p>
        </p:txBody>
      </p:sp>
      <p:sp>
        <p:nvSpPr>
          <p:cNvPr id="20" name="Rectangle 19">
            <a:extLst>
              <a:ext uri="{FF2B5EF4-FFF2-40B4-BE49-F238E27FC236}">
                <a16:creationId xmlns:a16="http://schemas.microsoft.com/office/drawing/2014/main" id="{68AE86D7-424D-4C78-8414-DCEB78ACC9E7}"/>
              </a:ext>
            </a:extLst>
          </p:cNvPr>
          <p:cNvSpPr>
            <a:spLocks noGrp="1"/>
          </p:cNvSpPr>
          <p:nvPr/>
        </p:nvSpPr>
        <p:spPr>
          <a:xfrm>
            <a:off x="6000750" y="2857500"/>
            <a:ext cx="762000" cy="333375"/>
          </a:xfrm>
          <a:prstGeom prst="rect">
            <a:avLst/>
          </a:prstGeom>
          <a:noFill/>
          <a:ln w="0">
            <a:noFill/>
            <a:prstDash val="solid"/>
          </a:ln>
        </p:spPr>
        <p:txBody>
          <a:bodyPr anchor="ctr"/>
          <a:lstStyle/>
          <a:p>
            <a:pPr algn="ctr">
              <a:defRPr sz="1425" b="1">
                <a:solidFill>
                  <a:srgbClr val="0B9B91"/>
                </a:solidFill>
              </a:defRPr>
            </a:pPr>
            <a:r>
              <a:rPr sz="1425" b="1">
                <a:solidFill>
                  <a:srgbClr val="0B9B91"/>
                </a:solidFill>
              </a:rPr>
              <a:t>S5</a:t>
            </a:r>
          </a:p>
        </p:txBody>
      </p:sp>
      <p:sp>
        <p:nvSpPr>
          <p:cNvPr id="21" name="Straight Connector 20">
            <a:extLst>
              <a:ext uri="{FF2B5EF4-FFF2-40B4-BE49-F238E27FC236}">
                <a16:creationId xmlns:a16="http://schemas.microsoft.com/office/drawing/2014/main" id="{5AD6EA7F-D494-4CD7-BC43-67C330250998}"/>
              </a:ext>
            </a:extLst>
          </p:cNvPr>
          <p:cNvSpPr>
            <a:spLocks noGrp="1"/>
          </p:cNvSpPr>
          <p:nvPr/>
        </p:nvSpPr>
        <p:spPr>
          <a:xfrm>
            <a:off x="6381750" y="3333750"/>
            <a:ext cx="0" cy="0"/>
          </a:xfrm>
          <a:prstGeom prst="line">
            <a:avLst/>
          </a:prstGeom>
          <a:noFill/>
          <a:ln w="28575">
            <a:solidFill>
              <a:srgbClr val="0B9B91"/>
            </a:solidFill>
            <a:prstDash val="solid"/>
          </a:ln>
        </p:spPr>
        <p:txBody>
          <a:bodyPr/>
          <a:lstStyle/>
          <a:p>
            <a:endParaRPr lang="en-IQ"/>
          </a:p>
        </p:txBody>
      </p:sp>
      <p:sp>
        <p:nvSpPr>
          <p:cNvPr id="22" name="Rectangle 21">
            <a:extLst>
              <a:ext uri="{FF2B5EF4-FFF2-40B4-BE49-F238E27FC236}">
                <a16:creationId xmlns:a16="http://schemas.microsoft.com/office/drawing/2014/main" id="{5CB47F00-C42C-4F30-9410-32ED1601890F}"/>
              </a:ext>
            </a:extLst>
          </p:cNvPr>
          <p:cNvSpPr>
            <a:spLocks noGrp="1"/>
          </p:cNvSpPr>
          <p:nvPr/>
        </p:nvSpPr>
        <p:spPr>
          <a:xfrm>
            <a:off x="6000750" y="3762375"/>
            <a:ext cx="762000" cy="476250"/>
          </a:xfrm>
          <a:prstGeom prst="rect">
            <a:avLst/>
          </a:prstGeom>
          <a:noFill/>
          <a:ln w="0">
            <a:noFill/>
            <a:prstDash val="solid"/>
          </a:ln>
        </p:spPr>
        <p:txBody>
          <a:bodyPr anchor="ctr"/>
          <a:lstStyle/>
          <a:p>
            <a:pPr algn="ctr">
              <a:defRPr sz="1800" b="1">
                <a:solidFill>
                  <a:srgbClr val="2878B5"/>
                </a:solidFill>
              </a:defRPr>
            </a:pPr>
            <a:r>
              <a:rPr sz="1800" b="1">
                <a:solidFill>
                  <a:srgbClr val="2878B5"/>
                </a:solidFill>
              </a:rPr>
              <a:t>N1</a:t>
            </a:r>
          </a:p>
        </p:txBody>
      </p:sp>
      <p:sp>
        <p:nvSpPr>
          <p:cNvPr id="23" name="Rectangle 22">
            <a:extLst>
              <a:ext uri="{FF2B5EF4-FFF2-40B4-BE49-F238E27FC236}">
                <a16:creationId xmlns:a16="http://schemas.microsoft.com/office/drawing/2014/main" id="{68B3CF75-F16F-417C-9A15-80D4998DF276}"/>
              </a:ext>
            </a:extLst>
          </p:cNvPr>
          <p:cNvSpPr>
            <a:spLocks noGrp="1"/>
          </p:cNvSpPr>
          <p:nvPr/>
        </p:nvSpPr>
        <p:spPr>
          <a:xfrm>
            <a:off x="7096125" y="2857500"/>
            <a:ext cx="762000" cy="333375"/>
          </a:xfrm>
          <a:prstGeom prst="rect">
            <a:avLst/>
          </a:prstGeom>
          <a:noFill/>
          <a:ln w="0">
            <a:noFill/>
            <a:prstDash val="solid"/>
          </a:ln>
        </p:spPr>
        <p:txBody>
          <a:bodyPr anchor="ctr"/>
          <a:lstStyle/>
          <a:p>
            <a:pPr algn="ctr">
              <a:defRPr sz="1425" b="1">
                <a:solidFill>
                  <a:srgbClr val="0B9B91"/>
                </a:solidFill>
              </a:defRPr>
            </a:pPr>
            <a:r>
              <a:rPr sz="1425" b="1">
                <a:solidFill>
                  <a:srgbClr val="0B9B91"/>
                </a:solidFill>
              </a:rPr>
              <a:t>S6</a:t>
            </a:r>
          </a:p>
        </p:txBody>
      </p:sp>
      <p:sp>
        <p:nvSpPr>
          <p:cNvPr id="24" name="Straight Connector 23">
            <a:extLst>
              <a:ext uri="{FF2B5EF4-FFF2-40B4-BE49-F238E27FC236}">
                <a16:creationId xmlns:a16="http://schemas.microsoft.com/office/drawing/2014/main" id="{9C601905-042D-4054-B9EB-A042A91ADF67}"/>
              </a:ext>
            </a:extLst>
          </p:cNvPr>
          <p:cNvSpPr>
            <a:spLocks noGrp="1"/>
          </p:cNvSpPr>
          <p:nvPr/>
        </p:nvSpPr>
        <p:spPr>
          <a:xfrm>
            <a:off x="7477125" y="3333750"/>
            <a:ext cx="0" cy="0"/>
          </a:xfrm>
          <a:prstGeom prst="line">
            <a:avLst/>
          </a:prstGeom>
          <a:noFill/>
          <a:ln w="28575">
            <a:solidFill>
              <a:srgbClr val="0B9B91"/>
            </a:solidFill>
            <a:prstDash val="solid"/>
          </a:ln>
        </p:spPr>
        <p:txBody>
          <a:bodyPr/>
          <a:lstStyle/>
          <a:p>
            <a:endParaRPr lang="en-IQ"/>
          </a:p>
        </p:txBody>
      </p:sp>
      <p:sp>
        <p:nvSpPr>
          <p:cNvPr id="25" name="Rectangle 24">
            <a:extLst>
              <a:ext uri="{FF2B5EF4-FFF2-40B4-BE49-F238E27FC236}">
                <a16:creationId xmlns:a16="http://schemas.microsoft.com/office/drawing/2014/main" id="{70F1EFE5-0714-443F-B747-843017219F67}"/>
              </a:ext>
            </a:extLst>
          </p:cNvPr>
          <p:cNvSpPr>
            <a:spLocks noGrp="1"/>
          </p:cNvSpPr>
          <p:nvPr/>
        </p:nvSpPr>
        <p:spPr>
          <a:xfrm>
            <a:off x="7096125" y="3762375"/>
            <a:ext cx="762000" cy="476250"/>
          </a:xfrm>
          <a:prstGeom prst="rect">
            <a:avLst/>
          </a:prstGeom>
          <a:noFill/>
          <a:ln w="0">
            <a:noFill/>
            <a:prstDash val="solid"/>
          </a:ln>
        </p:spPr>
        <p:txBody>
          <a:bodyPr anchor="ctr"/>
          <a:lstStyle/>
          <a:p>
            <a:pPr algn="ctr">
              <a:defRPr sz="1800" b="1">
                <a:solidFill>
                  <a:srgbClr val="2878B5"/>
                </a:solidFill>
              </a:defRPr>
            </a:pPr>
            <a:r>
              <a:rPr sz="1800" b="1">
                <a:solidFill>
                  <a:srgbClr val="2878B5"/>
                </a:solidFill>
              </a:rPr>
              <a:t>N2</a:t>
            </a:r>
          </a:p>
        </p:txBody>
      </p:sp>
      <p:sp>
        <p:nvSpPr>
          <p:cNvPr id="26" name="Rectangle 25">
            <a:extLst>
              <a:ext uri="{FF2B5EF4-FFF2-40B4-BE49-F238E27FC236}">
                <a16:creationId xmlns:a16="http://schemas.microsoft.com/office/drawing/2014/main" id="{FB0D5D1B-F018-4BBF-B1B4-DEBF6FA2B59C}"/>
              </a:ext>
            </a:extLst>
          </p:cNvPr>
          <p:cNvSpPr>
            <a:spLocks noGrp="1"/>
          </p:cNvSpPr>
          <p:nvPr/>
        </p:nvSpPr>
        <p:spPr>
          <a:xfrm>
            <a:off x="8191500" y="2857500"/>
            <a:ext cx="762000" cy="333375"/>
          </a:xfrm>
          <a:prstGeom prst="rect">
            <a:avLst/>
          </a:prstGeom>
          <a:noFill/>
          <a:ln w="0">
            <a:noFill/>
            <a:prstDash val="solid"/>
          </a:ln>
        </p:spPr>
        <p:txBody>
          <a:bodyPr anchor="ctr"/>
          <a:lstStyle/>
          <a:p>
            <a:pPr algn="ctr">
              <a:defRPr sz="1425" b="1">
                <a:solidFill>
                  <a:srgbClr val="0B9B91"/>
                </a:solidFill>
              </a:defRPr>
            </a:pPr>
            <a:r>
              <a:rPr sz="1425" b="1">
                <a:solidFill>
                  <a:srgbClr val="0B9B91"/>
                </a:solidFill>
              </a:rPr>
              <a:t>S7</a:t>
            </a:r>
          </a:p>
        </p:txBody>
      </p:sp>
      <p:sp>
        <p:nvSpPr>
          <p:cNvPr id="27" name="Straight Connector 26">
            <a:extLst>
              <a:ext uri="{FF2B5EF4-FFF2-40B4-BE49-F238E27FC236}">
                <a16:creationId xmlns:a16="http://schemas.microsoft.com/office/drawing/2014/main" id="{29C93C2F-E9B4-4C95-9747-33E9B7930C2A}"/>
              </a:ext>
            </a:extLst>
          </p:cNvPr>
          <p:cNvSpPr>
            <a:spLocks noGrp="1"/>
          </p:cNvSpPr>
          <p:nvPr/>
        </p:nvSpPr>
        <p:spPr>
          <a:xfrm>
            <a:off x="8572500" y="3333750"/>
            <a:ext cx="0" cy="0"/>
          </a:xfrm>
          <a:prstGeom prst="line">
            <a:avLst/>
          </a:prstGeom>
          <a:noFill/>
          <a:ln w="28575">
            <a:solidFill>
              <a:srgbClr val="0B9B91"/>
            </a:solidFill>
            <a:prstDash val="solid"/>
          </a:ln>
        </p:spPr>
        <p:txBody>
          <a:bodyPr/>
          <a:lstStyle/>
          <a:p>
            <a:endParaRPr lang="en-IQ"/>
          </a:p>
        </p:txBody>
      </p:sp>
      <p:sp>
        <p:nvSpPr>
          <p:cNvPr id="28" name="Rectangle 27">
            <a:extLst>
              <a:ext uri="{FF2B5EF4-FFF2-40B4-BE49-F238E27FC236}">
                <a16:creationId xmlns:a16="http://schemas.microsoft.com/office/drawing/2014/main" id="{3584C895-86D1-482E-8CE4-0D396F130C27}"/>
              </a:ext>
            </a:extLst>
          </p:cNvPr>
          <p:cNvSpPr>
            <a:spLocks noGrp="1"/>
          </p:cNvSpPr>
          <p:nvPr/>
        </p:nvSpPr>
        <p:spPr>
          <a:xfrm>
            <a:off x="8191500" y="3762375"/>
            <a:ext cx="762000" cy="476250"/>
          </a:xfrm>
          <a:prstGeom prst="rect">
            <a:avLst/>
          </a:prstGeom>
          <a:noFill/>
          <a:ln w="0">
            <a:noFill/>
            <a:prstDash val="solid"/>
          </a:ln>
        </p:spPr>
        <p:txBody>
          <a:bodyPr anchor="ctr"/>
          <a:lstStyle/>
          <a:p>
            <a:pPr algn="ctr">
              <a:defRPr sz="1800" b="1">
                <a:solidFill>
                  <a:srgbClr val="2878B5"/>
                </a:solidFill>
              </a:defRPr>
            </a:pPr>
            <a:r>
              <a:rPr sz="1800" b="1">
                <a:solidFill>
                  <a:srgbClr val="2878B5"/>
                </a:solidFill>
              </a:rPr>
              <a:t>N3</a:t>
            </a:r>
          </a:p>
        </p:txBody>
      </p:sp>
      <p:sp>
        <p:nvSpPr>
          <p:cNvPr id="29" name="Rectangle 28">
            <a:extLst>
              <a:ext uri="{FF2B5EF4-FFF2-40B4-BE49-F238E27FC236}">
                <a16:creationId xmlns:a16="http://schemas.microsoft.com/office/drawing/2014/main" id="{92FA1729-57F8-4B94-B688-2911304C07C7}"/>
              </a:ext>
            </a:extLst>
          </p:cNvPr>
          <p:cNvSpPr>
            <a:spLocks noGrp="1"/>
          </p:cNvSpPr>
          <p:nvPr/>
        </p:nvSpPr>
        <p:spPr>
          <a:xfrm>
            <a:off x="9286875" y="2857500"/>
            <a:ext cx="762000" cy="333375"/>
          </a:xfrm>
          <a:prstGeom prst="rect">
            <a:avLst/>
          </a:prstGeom>
          <a:noFill/>
          <a:ln w="0">
            <a:noFill/>
            <a:prstDash val="solid"/>
          </a:ln>
        </p:spPr>
        <p:txBody>
          <a:bodyPr anchor="ctr"/>
          <a:lstStyle/>
          <a:p>
            <a:pPr algn="ctr">
              <a:defRPr sz="1425" b="1">
                <a:solidFill>
                  <a:srgbClr val="0B9B91"/>
                </a:solidFill>
              </a:defRPr>
            </a:pPr>
            <a:r>
              <a:rPr sz="1425" b="1">
                <a:solidFill>
                  <a:srgbClr val="0B9B91"/>
                </a:solidFill>
              </a:rPr>
              <a:t>S8</a:t>
            </a:r>
          </a:p>
        </p:txBody>
      </p:sp>
      <p:sp>
        <p:nvSpPr>
          <p:cNvPr id="30" name="Straight Connector 29">
            <a:extLst>
              <a:ext uri="{FF2B5EF4-FFF2-40B4-BE49-F238E27FC236}">
                <a16:creationId xmlns:a16="http://schemas.microsoft.com/office/drawing/2014/main" id="{938EE5E6-AEFF-4C43-B06A-38CDE2BD0230}"/>
              </a:ext>
            </a:extLst>
          </p:cNvPr>
          <p:cNvSpPr>
            <a:spLocks noGrp="1"/>
          </p:cNvSpPr>
          <p:nvPr/>
        </p:nvSpPr>
        <p:spPr>
          <a:xfrm>
            <a:off x="9667875" y="3333750"/>
            <a:ext cx="0" cy="0"/>
          </a:xfrm>
          <a:prstGeom prst="line">
            <a:avLst/>
          </a:prstGeom>
          <a:noFill/>
          <a:ln w="28575">
            <a:solidFill>
              <a:srgbClr val="0B9B91"/>
            </a:solidFill>
            <a:prstDash val="solid"/>
          </a:ln>
        </p:spPr>
        <p:txBody>
          <a:bodyPr/>
          <a:lstStyle/>
          <a:p>
            <a:endParaRPr lang="en-IQ"/>
          </a:p>
        </p:txBody>
      </p:sp>
      <p:sp>
        <p:nvSpPr>
          <p:cNvPr id="31" name="Rectangle 30">
            <a:extLst>
              <a:ext uri="{FF2B5EF4-FFF2-40B4-BE49-F238E27FC236}">
                <a16:creationId xmlns:a16="http://schemas.microsoft.com/office/drawing/2014/main" id="{A17FDB90-FBB4-4744-932C-B812F7A990BA}"/>
              </a:ext>
            </a:extLst>
          </p:cNvPr>
          <p:cNvSpPr>
            <a:spLocks noGrp="1"/>
          </p:cNvSpPr>
          <p:nvPr/>
        </p:nvSpPr>
        <p:spPr>
          <a:xfrm>
            <a:off x="9286875" y="3762375"/>
            <a:ext cx="762000" cy="476250"/>
          </a:xfrm>
          <a:prstGeom prst="rect">
            <a:avLst/>
          </a:prstGeom>
          <a:noFill/>
          <a:ln w="0">
            <a:noFill/>
            <a:prstDash val="solid"/>
          </a:ln>
        </p:spPr>
        <p:txBody>
          <a:bodyPr anchor="ctr"/>
          <a:lstStyle/>
          <a:p>
            <a:pPr algn="ctr">
              <a:defRPr sz="1800" b="1">
                <a:solidFill>
                  <a:srgbClr val="2878B5"/>
                </a:solidFill>
              </a:defRPr>
            </a:pPr>
            <a:r>
              <a:rPr sz="1800" b="1">
                <a:solidFill>
                  <a:srgbClr val="2878B5"/>
                </a:solidFill>
              </a:rPr>
              <a:t>N4</a:t>
            </a:r>
          </a:p>
        </p:txBody>
      </p:sp>
      <p:sp>
        <p:nvSpPr>
          <p:cNvPr id="32" name="Oval 31">
            <a:extLst>
              <a:ext uri="{FF2B5EF4-FFF2-40B4-BE49-F238E27FC236}">
                <a16:creationId xmlns:a16="http://schemas.microsoft.com/office/drawing/2014/main" id="{92DF8A7F-2098-4C94-AA8C-F71B18E22448}"/>
              </a:ext>
            </a:extLst>
          </p:cNvPr>
          <p:cNvSpPr>
            <a:spLocks noGrp="1"/>
          </p:cNvSpPr>
          <p:nvPr/>
        </p:nvSpPr>
        <p:spPr>
          <a:xfrm>
            <a:off x="2095500" y="4953000"/>
            <a:ext cx="114300" cy="114300"/>
          </a:xfrm>
          <a:prstGeom prst="ellipse">
            <a:avLst/>
          </a:prstGeom>
          <a:solidFill>
            <a:srgbClr val="0B9B91"/>
          </a:solidFill>
          <a:ln w="0">
            <a:solidFill>
              <a:srgbClr val="0B9B91"/>
            </a:solidFill>
            <a:prstDash val="solid"/>
          </a:ln>
        </p:spPr>
        <p:txBody>
          <a:bodyPr/>
          <a:lstStyle/>
          <a:p>
            <a:endParaRPr lang="en-IQ"/>
          </a:p>
        </p:txBody>
      </p:sp>
      <p:sp>
        <p:nvSpPr>
          <p:cNvPr id="33" name="Rectangle 32">
            <a:extLst>
              <a:ext uri="{FF2B5EF4-FFF2-40B4-BE49-F238E27FC236}">
                <a16:creationId xmlns:a16="http://schemas.microsoft.com/office/drawing/2014/main" id="{9AEC3C32-1C27-47AC-9004-4732B9AC957C}"/>
              </a:ext>
            </a:extLst>
          </p:cNvPr>
          <p:cNvSpPr>
            <a:spLocks noGrp="1"/>
          </p:cNvSpPr>
          <p:nvPr/>
        </p:nvSpPr>
        <p:spPr>
          <a:xfrm>
            <a:off x="2371725" y="4762500"/>
            <a:ext cx="7820025" cy="504825"/>
          </a:xfrm>
          <a:prstGeom prst="rect">
            <a:avLst/>
          </a:prstGeom>
          <a:noFill/>
          <a:ln w="0">
            <a:noFill/>
            <a:prstDash val="solid"/>
          </a:ln>
        </p:spPr>
        <p:txBody>
          <a:bodyPr anchor="ctr"/>
          <a:lstStyle/>
          <a:p>
            <a:pPr algn="l">
              <a:defRPr sz="1425" b="0">
                <a:solidFill>
                  <a:srgbClr val="183544"/>
                </a:solidFill>
              </a:defRPr>
            </a:pPr>
            <a:r>
              <a:rPr sz="1425" b="0">
                <a:solidFill>
                  <a:srgbClr val="183544"/>
                </a:solidFill>
              </a:rPr>
              <a:t>array index identifies the service</a:t>
            </a:r>
          </a:p>
        </p:txBody>
      </p:sp>
      <p:sp>
        <p:nvSpPr>
          <p:cNvPr id="34" name="Oval 33">
            <a:extLst>
              <a:ext uri="{FF2B5EF4-FFF2-40B4-BE49-F238E27FC236}">
                <a16:creationId xmlns:a16="http://schemas.microsoft.com/office/drawing/2014/main" id="{D6025673-56C7-4202-AC77-064903F07B15}"/>
              </a:ext>
            </a:extLst>
          </p:cNvPr>
          <p:cNvSpPr>
            <a:spLocks noGrp="1"/>
          </p:cNvSpPr>
          <p:nvPr/>
        </p:nvSpPr>
        <p:spPr>
          <a:xfrm>
            <a:off x="2095500" y="5457825"/>
            <a:ext cx="114300" cy="114300"/>
          </a:xfrm>
          <a:prstGeom prst="ellipse">
            <a:avLst/>
          </a:prstGeom>
          <a:solidFill>
            <a:srgbClr val="0B9B91"/>
          </a:solidFill>
          <a:ln w="0">
            <a:solidFill>
              <a:srgbClr val="0B9B91"/>
            </a:solidFill>
            <a:prstDash val="solid"/>
          </a:ln>
        </p:spPr>
        <p:txBody>
          <a:bodyPr/>
          <a:lstStyle/>
          <a:p>
            <a:endParaRPr lang="en-IQ"/>
          </a:p>
        </p:txBody>
      </p:sp>
      <p:sp>
        <p:nvSpPr>
          <p:cNvPr id="35" name="Rectangle 34">
            <a:extLst>
              <a:ext uri="{FF2B5EF4-FFF2-40B4-BE49-F238E27FC236}">
                <a16:creationId xmlns:a16="http://schemas.microsoft.com/office/drawing/2014/main" id="{630C9638-D671-438D-A4AA-EC6301968965}"/>
              </a:ext>
            </a:extLst>
          </p:cNvPr>
          <p:cNvSpPr>
            <a:spLocks noGrp="1"/>
          </p:cNvSpPr>
          <p:nvPr/>
        </p:nvSpPr>
        <p:spPr>
          <a:xfrm>
            <a:off x="2371725" y="5267325"/>
            <a:ext cx="7820025" cy="504825"/>
          </a:xfrm>
          <a:prstGeom prst="rect">
            <a:avLst/>
          </a:prstGeom>
          <a:noFill/>
          <a:ln w="0">
            <a:noFill/>
            <a:prstDash val="solid"/>
          </a:ln>
        </p:spPr>
        <p:txBody>
          <a:bodyPr anchor="ctr"/>
          <a:lstStyle/>
          <a:p>
            <a:pPr algn="l">
              <a:defRPr sz="1425" b="0">
                <a:solidFill>
                  <a:srgbClr val="183544"/>
                </a:solidFill>
              </a:defRPr>
            </a:pPr>
            <a:r>
              <a:rPr sz="1425" b="0">
                <a:solidFill>
                  <a:srgbClr val="183544"/>
                </a:solidFill>
              </a:rPr>
              <a:t>stored value identifies the server</a:t>
            </a:r>
          </a:p>
        </p:txBody>
      </p:sp>
      <p:sp>
        <p:nvSpPr>
          <p:cNvPr id="36" name="Oval 35">
            <a:extLst>
              <a:ext uri="{FF2B5EF4-FFF2-40B4-BE49-F238E27FC236}">
                <a16:creationId xmlns:a16="http://schemas.microsoft.com/office/drawing/2014/main" id="{DBEA7B11-960E-41A4-B220-0E40CAA5E896}"/>
              </a:ext>
            </a:extLst>
          </p:cNvPr>
          <p:cNvSpPr>
            <a:spLocks noGrp="1"/>
          </p:cNvSpPr>
          <p:nvPr/>
        </p:nvSpPr>
        <p:spPr>
          <a:xfrm>
            <a:off x="2095500" y="5962650"/>
            <a:ext cx="114300" cy="114300"/>
          </a:xfrm>
          <a:prstGeom prst="ellipse">
            <a:avLst/>
          </a:prstGeom>
          <a:solidFill>
            <a:srgbClr val="0B9B91"/>
          </a:solidFill>
          <a:ln w="0">
            <a:solidFill>
              <a:srgbClr val="0B9B91"/>
            </a:solidFill>
            <a:prstDash val="solid"/>
          </a:ln>
        </p:spPr>
        <p:txBody>
          <a:bodyPr/>
          <a:lstStyle/>
          <a:p>
            <a:endParaRPr lang="en-IQ"/>
          </a:p>
        </p:txBody>
      </p:sp>
      <p:sp>
        <p:nvSpPr>
          <p:cNvPr id="37" name="Rectangle 36">
            <a:extLst>
              <a:ext uri="{FF2B5EF4-FFF2-40B4-BE49-F238E27FC236}">
                <a16:creationId xmlns:a16="http://schemas.microsoft.com/office/drawing/2014/main" id="{A25557B2-F9E6-4DBC-A960-B8C5FD757B00}"/>
              </a:ext>
            </a:extLst>
          </p:cNvPr>
          <p:cNvSpPr>
            <a:spLocks noGrp="1"/>
          </p:cNvSpPr>
          <p:nvPr/>
        </p:nvSpPr>
        <p:spPr>
          <a:xfrm>
            <a:off x="2371725" y="5772150"/>
            <a:ext cx="7820025" cy="504825"/>
          </a:xfrm>
          <a:prstGeom prst="rect">
            <a:avLst/>
          </a:prstGeom>
          <a:noFill/>
          <a:ln w="0">
            <a:noFill/>
            <a:prstDash val="solid"/>
          </a:ln>
        </p:spPr>
        <p:txBody>
          <a:bodyPr anchor="ctr"/>
          <a:lstStyle/>
          <a:p>
            <a:pPr algn="l">
              <a:defRPr sz="1425" b="0">
                <a:solidFill>
                  <a:srgbClr val="183544"/>
                </a:solidFill>
              </a:defRPr>
            </a:pPr>
            <a:r>
              <a:rPr sz="1425" b="0">
                <a:solidFill>
                  <a:srgbClr val="183544"/>
                </a:solidFill>
              </a:rPr>
              <a:t>every generated value must be 0–3</a:t>
            </a:r>
          </a:p>
        </p:txBody>
      </p:sp>
      <p:sp>
        <p:nvSpPr>
          <p:cNvPr id="38" name="Oval 37">
            <a:extLst>
              <a:ext uri="{FF2B5EF4-FFF2-40B4-BE49-F238E27FC236}">
                <a16:creationId xmlns:a16="http://schemas.microsoft.com/office/drawing/2014/main" id="{5FC37217-47A2-4C0B-A45D-D14B3EE54D3D}"/>
              </a:ext>
            </a:extLst>
          </p:cNvPr>
          <p:cNvSpPr>
            <a:spLocks noGrp="1"/>
          </p:cNvSpPr>
          <p:nvPr/>
        </p:nvSpPr>
        <p:spPr>
          <a:xfrm>
            <a:off x="2095500" y="6467475"/>
            <a:ext cx="114300" cy="114300"/>
          </a:xfrm>
          <a:prstGeom prst="ellipse">
            <a:avLst/>
          </a:prstGeom>
          <a:solidFill>
            <a:srgbClr val="0B9B91"/>
          </a:solidFill>
          <a:ln w="0">
            <a:solidFill>
              <a:srgbClr val="0B9B91"/>
            </a:solidFill>
            <a:prstDash val="solid"/>
          </a:ln>
        </p:spPr>
        <p:txBody>
          <a:bodyPr/>
          <a:lstStyle/>
          <a:p>
            <a:endParaRPr lang="en-IQ"/>
          </a:p>
        </p:txBody>
      </p:sp>
      <p:sp>
        <p:nvSpPr>
          <p:cNvPr id="39" name="Rectangle 38">
            <a:extLst>
              <a:ext uri="{FF2B5EF4-FFF2-40B4-BE49-F238E27FC236}">
                <a16:creationId xmlns:a16="http://schemas.microsoft.com/office/drawing/2014/main" id="{2DE9D889-9B11-480E-B0CA-8B0400E11620}"/>
              </a:ext>
            </a:extLst>
          </p:cNvPr>
          <p:cNvSpPr>
            <a:spLocks noGrp="1"/>
          </p:cNvSpPr>
          <p:nvPr/>
        </p:nvSpPr>
        <p:spPr>
          <a:xfrm>
            <a:off x="2371725" y="6276975"/>
            <a:ext cx="7820025" cy="504825"/>
          </a:xfrm>
          <a:prstGeom prst="rect">
            <a:avLst/>
          </a:prstGeom>
          <a:noFill/>
          <a:ln w="0">
            <a:noFill/>
            <a:prstDash val="solid"/>
          </a:ln>
        </p:spPr>
        <p:txBody>
          <a:bodyPr anchor="ctr"/>
          <a:lstStyle/>
          <a:p>
            <a:pPr algn="l">
              <a:defRPr sz="1425" b="0">
                <a:solidFill>
                  <a:srgbClr val="183544"/>
                </a:solidFill>
              </a:defRPr>
            </a:pPr>
            <a:r>
              <a:rPr sz="1425" b="0">
                <a:solidFill>
                  <a:srgbClr val="183544"/>
                </a:solidFill>
              </a:rPr>
              <a:t>clone the array when saving best-so-far</a:t>
            </a:r>
          </a:p>
        </p:txBody>
      </p:sp>
    </p:spTree>
    <p:extLst>
      <p:ext uri="{BB962C8B-B14F-4D97-AF65-F5344CB8AC3E}">
        <p14:creationId xmlns:p14="http://schemas.microsoft.com/office/powerpoint/2010/main" val="953590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86990A06-8E39-462D-BA91-EBD5C223C9A4}"/>
              </a:ext>
            </a:extLst>
          </p:cNvPr>
          <p:cNvSpPr>
            <a:spLocks noGrp="1"/>
          </p:cNvSpPr>
          <p:nvPr/>
        </p:nvSpPr>
        <p:spPr>
          <a:xfrm>
            <a:off x="609600" y="285750"/>
            <a:ext cx="64770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SEARCH-SPACE GROWTH</a:t>
            </a:r>
          </a:p>
        </p:txBody>
      </p:sp>
      <p:sp>
        <p:nvSpPr>
          <p:cNvPr id="2" name="Rectangle 1">
            <a:extLst>
              <a:ext uri="{FF2B5EF4-FFF2-40B4-BE49-F238E27FC236}">
                <a16:creationId xmlns:a16="http://schemas.microsoft.com/office/drawing/2014/main" id="{EBADBAE7-285A-4BD5-89E1-20D5C3E4B4C2}"/>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Search-space size multiplies across independent choices</a:t>
            </a:r>
          </a:p>
        </p:txBody>
      </p:sp>
      <p:sp>
        <p:nvSpPr>
          <p:cNvPr id="3" name="Rectangle 2">
            <a:extLst>
              <a:ext uri="{FF2B5EF4-FFF2-40B4-BE49-F238E27FC236}">
                <a16:creationId xmlns:a16="http://schemas.microsoft.com/office/drawing/2014/main" id="{4C783D4F-680B-4FB5-8198-50004D4682F3}"/>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05115BDC-2EA5-475D-956D-326BDD6DD718}"/>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2</a:t>
            </a:r>
          </a:p>
        </p:txBody>
      </p:sp>
      <p:sp>
        <p:nvSpPr>
          <p:cNvPr id="5" name="Rectangle 4">
            <a:extLst>
              <a:ext uri="{FF2B5EF4-FFF2-40B4-BE49-F238E27FC236}">
                <a16:creationId xmlns:a16="http://schemas.microsoft.com/office/drawing/2014/main" id="{29CAF356-E6BE-4918-B434-FE1398E9B2CD}"/>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07</a:t>
            </a:r>
          </a:p>
        </p:txBody>
      </p:sp>
      <p:sp>
        <p:nvSpPr>
          <p:cNvPr id="6" name="Rounded Rectangle 5">
            <a:extLst>
              <a:ext uri="{FF2B5EF4-FFF2-40B4-BE49-F238E27FC236}">
                <a16:creationId xmlns:a16="http://schemas.microsoft.com/office/drawing/2014/main" id="{766BFEE7-3926-4F0E-95C4-F0F11DE13FBB}"/>
              </a:ext>
            </a:extLst>
          </p:cNvPr>
          <p:cNvSpPr>
            <a:spLocks noGrp="1"/>
          </p:cNvSpPr>
          <p:nvPr/>
        </p:nvSpPr>
        <p:spPr>
          <a:xfrm>
            <a:off x="1095375" y="4810125"/>
            <a:ext cx="685800" cy="523875"/>
          </a:xfrm>
          <a:prstGeom prst="roundRect">
            <a:avLst>
              <a:gd name="adj" fmla="val 14545"/>
            </a:avLst>
          </a:prstGeom>
          <a:solidFill>
            <a:srgbClr val="0B9B91"/>
          </a:solidFill>
          <a:ln w="0">
            <a:solidFill>
              <a:srgbClr val="0B9B91"/>
            </a:solidFill>
            <a:prstDash val="solid"/>
          </a:ln>
        </p:spPr>
        <p:txBody>
          <a:bodyPr/>
          <a:lstStyle/>
          <a:p>
            <a:endParaRPr lang="en-IQ"/>
          </a:p>
        </p:txBody>
      </p:sp>
      <p:sp>
        <p:nvSpPr>
          <p:cNvPr id="7" name="Rectangle 6">
            <a:extLst>
              <a:ext uri="{FF2B5EF4-FFF2-40B4-BE49-F238E27FC236}">
                <a16:creationId xmlns:a16="http://schemas.microsoft.com/office/drawing/2014/main" id="{AD2AD436-5E97-4341-92DE-C69121850458}"/>
              </a:ext>
            </a:extLst>
          </p:cNvPr>
          <p:cNvSpPr>
            <a:spLocks noGrp="1"/>
          </p:cNvSpPr>
          <p:nvPr/>
        </p:nvSpPr>
        <p:spPr>
          <a:xfrm>
            <a:off x="923925" y="4429125"/>
            <a:ext cx="1028700" cy="266700"/>
          </a:xfrm>
          <a:prstGeom prst="rect">
            <a:avLst/>
          </a:prstGeom>
          <a:noFill/>
          <a:ln w="0">
            <a:noFill/>
            <a:prstDash val="solid"/>
          </a:ln>
        </p:spPr>
        <p:txBody>
          <a:bodyPr anchor="ctr"/>
          <a:lstStyle/>
          <a:p>
            <a:pPr algn="ctr">
              <a:defRPr sz="1125" b="1">
                <a:solidFill>
                  <a:srgbClr val="092A3D"/>
                </a:solidFill>
              </a:defRPr>
            </a:pPr>
            <a:r>
              <a:rPr sz="1125" b="1">
                <a:solidFill>
                  <a:srgbClr val="092A3D"/>
                </a:solidFill>
              </a:rPr>
              <a:t>16</a:t>
            </a:r>
          </a:p>
        </p:txBody>
      </p:sp>
      <p:sp>
        <p:nvSpPr>
          <p:cNvPr id="8" name="Rectangle 7">
            <a:extLst>
              <a:ext uri="{FF2B5EF4-FFF2-40B4-BE49-F238E27FC236}">
                <a16:creationId xmlns:a16="http://schemas.microsoft.com/office/drawing/2014/main" id="{10493AEC-CBB8-4327-8DC7-C8AD3188F5B8}"/>
              </a:ext>
            </a:extLst>
          </p:cNvPr>
          <p:cNvSpPr>
            <a:spLocks noGrp="1"/>
          </p:cNvSpPr>
          <p:nvPr/>
        </p:nvSpPr>
        <p:spPr>
          <a:xfrm>
            <a:off x="923925" y="5572125"/>
            <a:ext cx="1028700" cy="266700"/>
          </a:xfrm>
          <a:prstGeom prst="rect">
            <a:avLst/>
          </a:prstGeom>
          <a:noFill/>
          <a:ln w="0">
            <a:noFill/>
            <a:prstDash val="solid"/>
          </a:ln>
        </p:spPr>
        <p:txBody>
          <a:bodyPr anchor="ctr"/>
          <a:lstStyle/>
          <a:p>
            <a:pPr algn="ctr">
              <a:defRPr sz="1275" b="1">
                <a:solidFill>
                  <a:srgbClr val="58707C"/>
                </a:solidFill>
              </a:defRPr>
            </a:pPr>
            <a:r>
              <a:rPr sz="1275" b="1">
                <a:solidFill>
                  <a:srgbClr val="58707C"/>
                </a:solidFill>
              </a:rPr>
              <a:t>2</a:t>
            </a:r>
          </a:p>
        </p:txBody>
      </p:sp>
      <p:sp>
        <p:nvSpPr>
          <p:cNvPr id="9" name="Rounded Rectangle 8">
            <a:extLst>
              <a:ext uri="{FF2B5EF4-FFF2-40B4-BE49-F238E27FC236}">
                <a16:creationId xmlns:a16="http://schemas.microsoft.com/office/drawing/2014/main" id="{EF110548-896E-4A29-9662-4CC5F9A17774}"/>
              </a:ext>
            </a:extLst>
          </p:cNvPr>
          <p:cNvSpPr>
            <a:spLocks noGrp="1"/>
          </p:cNvSpPr>
          <p:nvPr/>
        </p:nvSpPr>
        <p:spPr>
          <a:xfrm>
            <a:off x="2219325" y="4257675"/>
            <a:ext cx="685800" cy="1076325"/>
          </a:xfrm>
          <a:prstGeom prst="roundRect">
            <a:avLst>
              <a:gd name="adj" fmla="val 11111"/>
            </a:avLst>
          </a:prstGeom>
          <a:solidFill>
            <a:srgbClr val="0B9B91"/>
          </a:solidFill>
          <a:ln w="0">
            <a:solidFill>
              <a:srgbClr val="0B9B91"/>
            </a:solidFill>
            <a:prstDash val="solid"/>
          </a:ln>
        </p:spPr>
        <p:txBody>
          <a:bodyPr/>
          <a:lstStyle/>
          <a:p>
            <a:endParaRPr lang="en-IQ"/>
          </a:p>
        </p:txBody>
      </p:sp>
      <p:sp>
        <p:nvSpPr>
          <p:cNvPr id="10" name="Rectangle 9">
            <a:extLst>
              <a:ext uri="{FF2B5EF4-FFF2-40B4-BE49-F238E27FC236}">
                <a16:creationId xmlns:a16="http://schemas.microsoft.com/office/drawing/2014/main" id="{99F3DCBE-273C-4BC5-B1FD-881E47BE417D}"/>
              </a:ext>
            </a:extLst>
          </p:cNvPr>
          <p:cNvSpPr>
            <a:spLocks noGrp="1"/>
          </p:cNvSpPr>
          <p:nvPr/>
        </p:nvSpPr>
        <p:spPr>
          <a:xfrm>
            <a:off x="2047875" y="3876675"/>
            <a:ext cx="1028700" cy="266700"/>
          </a:xfrm>
          <a:prstGeom prst="rect">
            <a:avLst/>
          </a:prstGeom>
          <a:noFill/>
          <a:ln w="0">
            <a:noFill/>
            <a:prstDash val="solid"/>
          </a:ln>
        </p:spPr>
        <p:txBody>
          <a:bodyPr anchor="ctr"/>
          <a:lstStyle/>
          <a:p>
            <a:pPr algn="ctr">
              <a:defRPr sz="1125" b="1">
                <a:solidFill>
                  <a:srgbClr val="092A3D"/>
                </a:solidFill>
              </a:defRPr>
            </a:pPr>
            <a:r>
              <a:rPr sz="1125" b="1">
                <a:solidFill>
                  <a:srgbClr val="092A3D"/>
                </a:solidFill>
              </a:rPr>
              <a:t>256</a:t>
            </a:r>
          </a:p>
        </p:txBody>
      </p:sp>
      <p:sp>
        <p:nvSpPr>
          <p:cNvPr id="11" name="Rectangle 10">
            <a:extLst>
              <a:ext uri="{FF2B5EF4-FFF2-40B4-BE49-F238E27FC236}">
                <a16:creationId xmlns:a16="http://schemas.microsoft.com/office/drawing/2014/main" id="{C551022D-CAB0-48B8-B03C-C8D8D7D383F0}"/>
              </a:ext>
            </a:extLst>
          </p:cNvPr>
          <p:cNvSpPr>
            <a:spLocks noGrp="1"/>
          </p:cNvSpPr>
          <p:nvPr/>
        </p:nvSpPr>
        <p:spPr>
          <a:xfrm>
            <a:off x="2047875" y="5572125"/>
            <a:ext cx="1028700" cy="266700"/>
          </a:xfrm>
          <a:prstGeom prst="rect">
            <a:avLst/>
          </a:prstGeom>
          <a:noFill/>
          <a:ln w="0">
            <a:noFill/>
            <a:prstDash val="solid"/>
          </a:ln>
        </p:spPr>
        <p:txBody>
          <a:bodyPr anchor="ctr"/>
          <a:lstStyle/>
          <a:p>
            <a:pPr algn="ctr">
              <a:defRPr sz="1275" b="1">
                <a:solidFill>
                  <a:srgbClr val="58707C"/>
                </a:solidFill>
              </a:defRPr>
            </a:pPr>
            <a:r>
              <a:rPr sz="1275" b="1">
                <a:solidFill>
                  <a:srgbClr val="58707C"/>
                </a:solidFill>
              </a:rPr>
              <a:t>4</a:t>
            </a:r>
          </a:p>
        </p:txBody>
      </p:sp>
      <p:sp>
        <p:nvSpPr>
          <p:cNvPr id="12" name="Rounded Rectangle 11">
            <a:extLst>
              <a:ext uri="{FF2B5EF4-FFF2-40B4-BE49-F238E27FC236}">
                <a16:creationId xmlns:a16="http://schemas.microsoft.com/office/drawing/2014/main" id="{BC78D7D3-CBB2-41F6-A98B-9F52E85E50CE}"/>
              </a:ext>
            </a:extLst>
          </p:cNvPr>
          <p:cNvSpPr>
            <a:spLocks noGrp="1"/>
          </p:cNvSpPr>
          <p:nvPr/>
        </p:nvSpPr>
        <p:spPr>
          <a:xfrm>
            <a:off x="3343275" y="3705225"/>
            <a:ext cx="685800" cy="1628775"/>
          </a:xfrm>
          <a:prstGeom prst="roundRect">
            <a:avLst>
              <a:gd name="adj" fmla="val 11111"/>
            </a:avLst>
          </a:prstGeom>
          <a:solidFill>
            <a:srgbClr val="0B9B91"/>
          </a:solidFill>
          <a:ln w="0">
            <a:solidFill>
              <a:srgbClr val="0B9B91"/>
            </a:solidFill>
            <a:prstDash val="solid"/>
          </a:ln>
        </p:spPr>
        <p:txBody>
          <a:bodyPr/>
          <a:lstStyle/>
          <a:p>
            <a:endParaRPr lang="en-IQ"/>
          </a:p>
        </p:txBody>
      </p:sp>
      <p:sp>
        <p:nvSpPr>
          <p:cNvPr id="13" name="Rectangle 12">
            <a:extLst>
              <a:ext uri="{FF2B5EF4-FFF2-40B4-BE49-F238E27FC236}">
                <a16:creationId xmlns:a16="http://schemas.microsoft.com/office/drawing/2014/main" id="{BD45FFD4-D482-4432-A04A-E85FE71652F1}"/>
              </a:ext>
            </a:extLst>
          </p:cNvPr>
          <p:cNvSpPr>
            <a:spLocks noGrp="1"/>
          </p:cNvSpPr>
          <p:nvPr/>
        </p:nvSpPr>
        <p:spPr>
          <a:xfrm>
            <a:off x="3171825" y="3324225"/>
            <a:ext cx="1028700" cy="266700"/>
          </a:xfrm>
          <a:prstGeom prst="rect">
            <a:avLst/>
          </a:prstGeom>
          <a:noFill/>
          <a:ln w="0">
            <a:noFill/>
            <a:prstDash val="solid"/>
          </a:ln>
        </p:spPr>
        <p:txBody>
          <a:bodyPr anchor="ctr"/>
          <a:lstStyle/>
          <a:p>
            <a:pPr algn="ctr">
              <a:defRPr sz="1125" b="1">
                <a:solidFill>
                  <a:srgbClr val="092A3D"/>
                </a:solidFill>
              </a:defRPr>
            </a:pPr>
            <a:r>
              <a:rPr sz="1125" b="1">
                <a:solidFill>
                  <a:srgbClr val="092A3D"/>
                </a:solidFill>
              </a:rPr>
              <a:t>4,096</a:t>
            </a:r>
          </a:p>
        </p:txBody>
      </p:sp>
      <p:sp>
        <p:nvSpPr>
          <p:cNvPr id="14" name="Rectangle 13">
            <a:extLst>
              <a:ext uri="{FF2B5EF4-FFF2-40B4-BE49-F238E27FC236}">
                <a16:creationId xmlns:a16="http://schemas.microsoft.com/office/drawing/2014/main" id="{C7A39B1B-E191-4BD3-8D00-3CFA7C8891B9}"/>
              </a:ext>
            </a:extLst>
          </p:cNvPr>
          <p:cNvSpPr>
            <a:spLocks noGrp="1"/>
          </p:cNvSpPr>
          <p:nvPr/>
        </p:nvSpPr>
        <p:spPr>
          <a:xfrm>
            <a:off x="3171825" y="5572125"/>
            <a:ext cx="1028700" cy="266700"/>
          </a:xfrm>
          <a:prstGeom prst="rect">
            <a:avLst/>
          </a:prstGeom>
          <a:noFill/>
          <a:ln w="0">
            <a:noFill/>
            <a:prstDash val="solid"/>
          </a:ln>
        </p:spPr>
        <p:txBody>
          <a:bodyPr anchor="ctr"/>
          <a:lstStyle/>
          <a:p>
            <a:pPr algn="ctr">
              <a:defRPr sz="1275" b="1">
                <a:solidFill>
                  <a:srgbClr val="58707C"/>
                </a:solidFill>
              </a:defRPr>
            </a:pPr>
            <a:r>
              <a:rPr sz="1275" b="1">
                <a:solidFill>
                  <a:srgbClr val="58707C"/>
                </a:solidFill>
              </a:rPr>
              <a:t>6</a:t>
            </a:r>
          </a:p>
        </p:txBody>
      </p:sp>
      <p:sp>
        <p:nvSpPr>
          <p:cNvPr id="15" name="Rounded Rectangle 14">
            <a:extLst>
              <a:ext uri="{FF2B5EF4-FFF2-40B4-BE49-F238E27FC236}">
                <a16:creationId xmlns:a16="http://schemas.microsoft.com/office/drawing/2014/main" id="{5006CF6E-CD31-432D-AC1A-18A09E103D82}"/>
              </a:ext>
            </a:extLst>
          </p:cNvPr>
          <p:cNvSpPr>
            <a:spLocks noGrp="1"/>
          </p:cNvSpPr>
          <p:nvPr/>
        </p:nvSpPr>
        <p:spPr>
          <a:xfrm>
            <a:off x="4467225" y="3152775"/>
            <a:ext cx="685800" cy="2181225"/>
          </a:xfrm>
          <a:prstGeom prst="roundRect">
            <a:avLst>
              <a:gd name="adj" fmla="val 11111"/>
            </a:avLst>
          </a:prstGeom>
          <a:solidFill>
            <a:srgbClr val="F2A93B"/>
          </a:solidFill>
          <a:ln w="0">
            <a:solidFill>
              <a:srgbClr val="F2A93B"/>
            </a:solidFill>
            <a:prstDash val="solid"/>
          </a:ln>
        </p:spPr>
        <p:txBody>
          <a:bodyPr/>
          <a:lstStyle/>
          <a:p>
            <a:endParaRPr lang="en-IQ"/>
          </a:p>
        </p:txBody>
      </p:sp>
      <p:sp>
        <p:nvSpPr>
          <p:cNvPr id="16" name="Rectangle 15">
            <a:extLst>
              <a:ext uri="{FF2B5EF4-FFF2-40B4-BE49-F238E27FC236}">
                <a16:creationId xmlns:a16="http://schemas.microsoft.com/office/drawing/2014/main" id="{17470427-838E-44CD-9E59-5C1D01CDA4A9}"/>
              </a:ext>
            </a:extLst>
          </p:cNvPr>
          <p:cNvSpPr>
            <a:spLocks noGrp="1"/>
          </p:cNvSpPr>
          <p:nvPr/>
        </p:nvSpPr>
        <p:spPr>
          <a:xfrm>
            <a:off x="4295775" y="2771775"/>
            <a:ext cx="1028700" cy="266700"/>
          </a:xfrm>
          <a:prstGeom prst="rect">
            <a:avLst/>
          </a:prstGeom>
          <a:noFill/>
          <a:ln w="0">
            <a:noFill/>
            <a:prstDash val="solid"/>
          </a:ln>
        </p:spPr>
        <p:txBody>
          <a:bodyPr anchor="ctr"/>
          <a:lstStyle/>
          <a:p>
            <a:pPr algn="ctr">
              <a:defRPr sz="1125" b="1">
                <a:solidFill>
                  <a:srgbClr val="F2A93B"/>
                </a:solidFill>
              </a:defRPr>
            </a:pPr>
            <a:r>
              <a:rPr sz="1125" b="1">
                <a:solidFill>
                  <a:srgbClr val="F2A93B"/>
                </a:solidFill>
              </a:rPr>
              <a:t>65,536</a:t>
            </a:r>
          </a:p>
        </p:txBody>
      </p:sp>
      <p:sp>
        <p:nvSpPr>
          <p:cNvPr id="17" name="Rectangle 16">
            <a:extLst>
              <a:ext uri="{FF2B5EF4-FFF2-40B4-BE49-F238E27FC236}">
                <a16:creationId xmlns:a16="http://schemas.microsoft.com/office/drawing/2014/main" id="{8F2DF6EA-3B35-415D-8B23-1B284C539FA7}"/>
              </a:ext>
            </a:extLst>
          </p:cNvPr>
          <p:cNvSpPr>
            <a:spLocks noGrp="1"/>
          </p:cNvSpPr>
          <p:nvPr/>
        </p:nvSpPr>
        <p:spPr>
          <a:xfrm>
            <a:off x="4295775" y="5572125"/>
            <a:ext cx="1028700" cy="266700"/>
          </a:xfrm>
          <a:prstGeom prst="rect">
            <a:avLst/>
          </a:prstGeom>
          <a:noFill/>
          <a:ln w="0">
            <a:noFill/>
            <a:prstDash val="solid"/>
          </a:ln>
        </p:spPr>
        <p:txBody>
          <a:bodyPr anchor="ctr"/>
          <a:lstStyle/>
          <a:p>
            <a:pPr algn="ctr">
              <a:defRPr sz="1275" b="1">
                <a:solidFill>
                  <a:srgbClr val="58707C"/>
                </a:solidFill>
              </a:defRPr>
            </a:pPr>
            <a:r>
              <a:rPr sz="1275" b="1">
                <a:solidFill>
                  <a:srgbClr val="58707C"/>
                </a:solidFill>
              </a:rPr>
              <a:t>8</a:t>
            </a:r>
          </a:p>
        </p:txBody>
      </p:sp>
      <p:sp>
        <p:nvSpPr>
          <p:cNvPr id="18" name="Rounded Rectangle 17">
            <a:extLst>
              <a:ext uri="{FF2B5EF4-FFF2-40B4-BE49-F238E27FC236}">
                <a16:creationId xmlns:a16="http://schemas.microsoft.com/office/drawing/2014/main" id="{744D0060-AB7F-431D-8586-84535F6347F5}"/>
              </a:ext>
            </a:extLst>
          </p:cNvPr>
          <p:cNvSpPr>
            <a:spLocks noGrp="1"/>
          </p:cNvSpPr>
          <p:nvPr/>
        </p:nvSpPr>
        <p:spPr>
          <a:xfrm>
            <a:off x="5591175" y="2600325"/>
            <a:ext cx="685800" cy="2733675"/>
          </a:xfrm>
          <a:prstGeom prst="roundRect">
            <a:avLst>
              <a:gd name="adj" fmla="val 11111"/>
            </a:avLst>
          </a:prstGeom>
          <a:solidFill>
            <a:srgbClr val="0B9B91"/>
          </a:solidFill>
          <a:ln w="0">
            <a:solidFill>
              <a:srgbClr val="0B9B91"/>
            </a:solidFill>
            <a:prstDash val="solid"/>
          </a:ln>
        </p:spPr>
        <p:txBody>
          <a:bodyPr/>
          <a:lstStyle/>
          <a:p>
            <a:endParaRPr lang="en-IQ"/>
          </a:p>
        </p:txBody>
      </p:sp>
      <p:sp>
        <p:nvSpPr>
          <p:cNvPr id="19" name="Rectangle 18">
            <a:extLst>
              <a:ext uri="{FF2B5EF4-FFF2-40B4-BE49-F238E27FC236}">
                <a16:creationId xmlns:a16="http://schemas.microsoft.com/office/drawing/2014/main" id="{2EF74941-C5FC-4627-B6B3-06E8B6C7A572}"/>
              </a:ext>
            </a:extLst>
          </p:cNvPr>
          <p:cNvSpPr>
            <a:spLocks noGrp="1"/>
          </p:cNvSpPr>
          <p:nvPr/>
        </p:nvSpPr>
        <p:spPr>
          <a:xfrm>
            <a:off x="5419725" y="2219325"/>
            <a:ext cx="1028700" cy="266700"/>
          </a:xfrm>
          <a:prstGeom prst="rect">
            <a:avLst/>
          </a:prstGeom>
          <a:noFill/>
          <a:ln w="0">
            <a:noFill/>
            <a:prstDash val="solid"/>
          </a:ln>
        </p:spPr>
        <p:txBody>
          <a:bodyPr anchor="ctr"/>
          <a:lstStyle/>
          <a:p>
            <a:pPr algn="ctr">
              <a:defRPr sz="1125" b="1">
                <a:solidFill>
                  <a:srgbClr val="092A3D"/>
                </a:solidFill>
              </a:defRPr>
            </a:pPr>
            <a:r>
              <a:rPr sz="1125" b="1">
                <a:solidFill>
                  <a:srgbClr val="092A3D"/>
                </a:solidFill>
              </a:rPr>
              <a:t>1.05 M</a:t>
            </a:r>
          </a:p>
        </p:txBody>
      </p:sp>
      <p:sp>
        <p:nvSpPr>
          <p:cNvPr id="20" name="Rectangle 19">
            <a:extLst>
              <a:ext uri="{FF2B5EF4-FFF2-40B4-BE49-F238E27FC236}">
                <a16:creationId xmlns:a16="http://schemas.microsoft.com/office/drawing/2014/main" id="{37E0047D-2C1E-457D-8602-2D1731D0275C}"/>
              </a:ext>
            </a:extLst>
          </p:cNvPr>
          <p:cNvSpPr>
            <a:spLocks noGrp="1"/>
          </p:cNvSpPr>
          <p:nvPr/>
        </p:nvSpPr>
        <p:spPr>
          <a:xfrm>
            <a:off x="5419725" y="5572125"/>
            <a:ext cx="1028700" cy="266700"/>
          </a:xfrm>
          <a:prstGeom prst="rect">
            <a:avLst/>
          </a:prstGeom>
          <a:noFill/>
          <a:ln w="0">
            <a:noFill/>
            <a:prstDash val="solid"/>
          </a:ln>
        </p:spPr>
        <p:txBody>
          <a:bodyPr anchor="ctr"/>
          <a:lstStyle/>
          <a:p>
            <a:pPr algn="ctr">
              <a:defRPr sz="1275" b="1">
                <a:solidFill>
                  <a:srgbClr val="58707C"/>
                </a:solidFill>
              </a:defRPr>
            </a:pPr>
            <a:r>
              <a:rPr sz="1275" b="1">
                <a:solidFill>
                  <a:srgbClr val="58707C"/>
                </a:solidFill>
              </a:rPr>
              <a:t>10</a:t>
            </a:r>
          </a:p>
        </p:txBody>
      </p:sp>
      <p:sp>
        <p:nvSpPr>
          <p:cNvPr id="21" name="Rounded Rectangle 20">
            <a:extLst>
              <a:ext uri="{FF2B5EF4-FFF2-40B4-BE49-F238E27FC236}">
                <a16:creationId xmlns:a16="http://schemas.microsoft.com/office/drawing/2014/main" id="{77B38D15-36E4-49D6-869C-1220FF89B457}"/>
              </a:ext>
            </a:extLst>
          </p:cNvPr>
          <p:cNvSpPr>
            <a:spLocks noGrp="1"/>
          </p:cNvSpPr>
          <p:nvPr/>
        </p:nvSpPr>
        <p:spPr>
          <a:xfrm>
            <a:off x="6715125" y="2047875"/>
            <a:ext cx="685800" cy="3286125"/>
          </a:xfrm>
          <a:prstGeom prst="roundRect">
            <a:avLst>
              <a:gd name="adj" fmla="val 11111"/>
            </a:avLst>
          </a:prstGeom>
          <a:solidFill>
            <a:srgbClr val="0B9B91"/>
          </a:solidFill>
          <a:ln w="0">
            <a:solidFill>
              <a:srgbClr val="0B9B91"/>
            </a:solidFill>
            <a:prstDash val="solid"/>
          </a:ln>
        </p:spPr>
        <p:txBody>
          <a:bodyPr/>
          <a:lstStyle/>
          <a:p>
            <a:endParaRPr lang="en-IQ"/>
          </a:p>
        </p:txBody>
      </p:sp>
      <p:sp>
        <p:nvSpPr>
          <p:cNvPr id="22" name="Rectangle 21">
            <a:extLst>
              <a:ext uri="{FF2B5EF4-FFF2-40B4-BE49-F238E27FC236}">
                <a16:creationId xmlns:a16="http://schemas.microsoft.com/office/drawing/2014/main" id="{A6865D19-D9DD-440F-86D8-38129F080D16}"/>
              </a:ext>
            </a:extLst>
          </p:cNvPr>
          <p:cNvSpPr>
            <a:spLocks noGrp="1"/>
          </p:cNvSpPr>
          <p:nvPr/>
        </p:nvSpPr>
        <p:spPr>
          <a:xfrm>
            <a:off x="6543675" y="1666875"/>
            <a:ext cx="1028700" cy="266700"/>
          </a:xfrm>
          <a:prstGeom prst="rect">
            <a:avLst/>
          </a:prstGeom>
          <a:noFill/>
          <a:ln w="0">
            <a:noFill/>
            <a:prstDash val="solid"/>
          </a:ln>
        </p:spPr>
        <p:txBody>
          <a:bodyPr anchor="ctr"/>
          <a:lstStyle/>
          <a:p>
            <a:pPr algn="ctr">
              <a:defRPr sz="1125" b="1">
                <a:solidFill>
                  <a:srgbClr val="092A3D"/>
                </a:solidFill>
              </a:defRPr>
            </a:pPr>
            <a:r>
              <a:rPr sz="1125" b="1">
                <a:solidFill>
                  <a:srgbClr val="092A3D"/>
                </a:solidFill>
              </a:rPr>
              <a:t>16.8 M</a:t>
            </a:r>
          </a:p>
        </p:txBody>
      </p:sp>
      <p:sp>
        <p:nvSpPr>
          <p:cNvPr id="23" name="Rectangle 22">
            <a:extLst>
              <a:ext uri="{FF2B5EF4-FFF2-40B4-BE49-F238E27FC236}">
                <a16:creationId xmlns:a16="http://schemas.microsoft.com/office/drawing/2014/main" id="{17A838B3-4C2D-4D62-B54D-585EC233E763}"/>
              </a:ext>
            </a:extLst>
          </p:cNvPr>
          <p:cNvSpPr>
            <a:spLocks noGrp="1"/>
          </p:cNvSpPr>
          <p:nvPr/>
        </p:nvSpPr>
        <p:spPr>
          <a:xfrm>
            <a:off x="6543675" y="5572125"/>
            <a:ext cx="1028700" cy="266700"/>
          </a:xfrm>
          <a:prstGeom prst="rect">
            <a:avLst/>
          </a:prstGeom>
          <a:noFill/>
          <a:ln w="0">
            <a:noFill/>
            <a:prstDash val="solid"/>
          </a:ln>
        </p:spPr>
        <p:txBody>
          <a:bodyPr anchor="ctr"/>
          <a:lstStyle/>
          <a:p>
            <a:pPr algn="ctr">
              <a:defRPr sz="1275" b="1">
                <a:solidFill>
                  <a:srgbClr val="58707C"/>
                </a:solidFill>
              </a:defRPr>
            </a:pPr>
            <a:r>
              <a:rPr sz="1275" b="1">
                <a:solidFill>
                  <a:srgbClr val="58707C"/>
                </a:solidFill>
              </a:rPr>
              <a:t>12</a:t>
            </a:r>
          </a:p>
        </p:txBody>
      </p:sp>
      <p:sp>
        <p:nvSpPr>
          <p:cNvPr id="24" name="Rectangle 23">
            <a:extLst>
              <a:ext uri="{FF2B5EF4-FFF2-40B4-BE49-F238E27FC236}">
                <a16:creationId xmlns:a16="http://schemas.microsoft.com/office/drawing/2014/main" id="{B69CEF42-8BBD-4BBC-A387-C76AE4B0EBC1}"/>
              </a:ext>
            </a:extLst>
          </p:cNvPr>
          <p:cNvSpPr>
            <a:spLocks noGrp="1"/>
          </p:cNvSpPr>
          <p:nvPr/>
        </p:nvSpPr>
        <p:spPr>
          <a:xfrm>
            <a:off x="2286000" y="6000750"/>
            <a:ext cx="4762500" cy="238125"/>
          </a:xfrm>
          <a:prstGeom prst="rect">
            <a:avLst/>
          </a:prstGeom>
          <a:noFill/>
          <a:ln w="0">
            <a:noFill/>
            <a:prstDash val="solid"/>
          </a:ln>
        </p:spPr>
        <p:txBody>
          <a:bodyPr anchor="ctr"/>
          <a:lstStyle/>
          <a:p>
            <a:pPr algn="ctr">
              <a:defRPr sz="1125" b="1">
                <a:solidFill>
                  <a:srgbClr val="58707C"/>
                </a:solidFill>
              </a:defRPr>
            </a:pPr>
            <a:r>
              <a:rPr sz="1125" b="1">
                <a:solidFill>
                  <a:srgbClr val="58707C"/>
                </a:solidFill>
              </a:rPr>
              <a:t>NUMBER OF SERVICES</a:t>
            </a:r>
          </a:p>
        </p:txBody>
      </p:sp>
      <p:sp>
        <p:nvSpPr>
          <p:cNvPr id="25" name="Rounded Rectangle 24">
            <a:extLst>
              <a:ext uri="{FF2B5EF4-FFF2-40B4-BE49-F238E27FC236}">
                <a16:creationId xmlns:a16="http://schemas.microsoft.com/office/drawing/2014/main" id="{365F3372-8A96-4F3B-A13B-EBA5550EF510}"/>
              </a:ext>
            </a:extLst>
          </p:cNvPr>
          <p:cNvSpPr>
            <a:spLocks noGrp="1"/>
          </p:cNvSpPr>
          <p:nvPr/>
        </p:nvSpPr>
        <p:spPr>
          <a:xfrm>
            <a:off x="8810625" y="1952625"/>
            <a:ext cx="2381250" cy="571500"/>
          </a:xfrm>
          <a:prstGeom prst="roundRect">
            <a:avLst>
              <a:gd name="adj" fmla="val 13333"/>
            </a:avLst>
          </a:prstGeom>
          <a:solidFill>
            <a:srgbClr val="E6F3F2"/>
          </a:solidFill>
          <a:ln w="0">
            <a:solidFill>
              <a:srgbClr val="E6F3F2"/>
            </a:solidFill>
            <a:prstDash val="solid"/>
          </a:ln>
        </p:spPr>
        <p:txBody>
          <a:bodyPr/>
          <a:lstStyle/>
          <a:p>
            <a:endParaRPr lang="en-IQ"/>
          </a:p>
        </p:txBody>
      </p:sp>
      <p:sp>
        <p:nvSpPr>
          <p:cNvPr id="26" name="Rectangle 25">
            <a:extLst>
              <a:ext uri="{FF2B5EF4-FFF2-40B4-BE49-F238E27FC236}">
                <a16:creationId xmlns:a16="http://schemas.microsoft.com/office/drawing/2014/main" id="{E135BD36-954B-436F-8471-551CEFC6D9AC}"/>
              </a:ext>
            </a:extLst>
          </p:cNvPr>
          <p:cNvSpPr>
            <a:spLocks noGrp="1"/>
          </p:cNvSpPr>
          <p:nvPr/>
        </p:nvSpPr>
        <p:spPr>
          <a:xfrm>
            <a:off x="9001125" y="2028825"/>
            <a:ext cx="2000250" cy="419100"/>
          </a:xfrm>
          <a:prstGeom prst="rect">
            <a:avLst/>
          </a:prstGeom>
          <a:noFill/>
          <a:ln w="0">
            <a:noFill/>
            <a:prstDash val="solid"/>
          </a:ln>
        </p:spPr>
        <p:txBody>
          <a:bodyPr anchor="ctr"/>
          <a:lstStyle/>
          <a:p>
            <a:pPr algn="ctr">
              <a:defRPr sz="1500" b="1">
                <a:solidFill>
                  <a:srgbClr val="0B9B91"/>
                </a:solidFill>
              </a:defRPr>
            </a:pPr>
            <a:r>
              <a:rPr sz="1500" b="1">
                <a:solidFill>
                  <a:srgbClr val="0B9B91"/>
                </a:solidFill>
              </a:rPr>
              <a:t>4 choices per service</a:t>
            </a:r>
          </a:p>
        </p:txBody>
      </p:sp>
      <p:sp>
        <p:nvSpPr>
          <p:cNvPr id="27" name="Rounded Rectangle 26">
            <a:extLst>
              <a:ext uri="{FF2B5EF4-FFF2-40B4-BE49-F238E27FC236}">
                <a16:creationId xmlns:a16="http://schemas.microsoft.com/office/drawing/2014/main" id="{DA586384-4B18-4EDB-89DF-BE687798E5CC}"/>
              </a:ext>
            </a:extLst>
          </p:cNvPr>
          <p:cNvSpPr>
            <a:spLocks noGrp="1"/>
          </p:cNvSpPr>
          <p:nvPr/>
        </p:nvSpPr>
        <p:spPr>
          <a:xfrm>
            <a:off x="8810625" y="3000375"/>
            <a:ext cx="2381250" cy="571500"/>
          </a:xfrm>
          <a:prstGeom prst="roundRect">
            <a:avLst>
              <a:gd name="adj" fmla="val 13333"/>
            </a:avLst>
          </a:prstGeom>
          <a:solidFill>
            <a:srgbClr val="FFF1D8"/>
          </a:solidFill>
          <a:ln w="0">
            <a:solidFill>
              <a:srgbClr val="FFF1D8"/>
            </a:solidFill>
            <a:prstDash val="solid"/>
          </a:ln>
        </p:spPr>
        <p:txBody>
          <a:bodyPr/>
          <a:lstStyle/>
          <a:p>
            <a:endParaRPr lang="en-IQ"/>
          </a:p>
        </p:txBody>
      </p:sp>
      <p:sp>
        <p:nvSpPr>
          <p:cNvPr id="28" name="Rectangle 27">
            <a:extLst>
              <a:ext uri="{FF2B5EF4-FFF2-40B4-BE49-F238E27FC236}">
                <a16:creationId xmlns:a16="http://schemas.microsoft.com/office/drawing/2014/main" id="{D6F394E3-FD2C-4EFC-A785-0F463B7FD372}"/>
              </a:ext>
            </a:extLst>
          </p:cNvPr>
          <p:cNvSpPr>
            <a:spLocks noGrp="1"/>
          </p:cNvSpPr>
          <p:nvPr/>
        </p:nvSpPr>
        <p:spPr>
          <a:xfrm>
            <a:off x="9001125" y="3076575"/>
            <a:ext cx="2000250" cy="419100"/>
          </a:xfrm>
          <a:prstGeom prst="rect">
            <a:avLst/>
          </a:prstGeom>
          <a:noFill/>
          <a:ln w="0">
            <a:noFill/>
            <a:prstDash val="solid"/>
          </a:ln>
        </p:spPr>
        <p:txBody>
          <a:bodyPr anchor="ctr"/>
          <a:lstStyle/>
          <a:p>
            <a:pPr algn="ctr">
              <a:defRPr sz="1500" b="1">
                <a:solidFill>
                  <a:srgbClr val="F2A93B"/>
                </a:solidFill>
              </a:defRPr>
            </a:pPr>
            <a:r>
              <a:rPr sz="1500" b="1">
                <a:solidFill>
                  <a:srgbClr val="F2A93B"/>
                </a:solidFill>
              </a:rPr>
              <a:t>8 services</a:t>
            </a:r>
          </a:p>
        </p:txBody>
      </p:sp>
      <p:sp>
        <p:nvSpPr>
          <p:cNvPr id="29" name="Rectangle 28">
            <a:extLst>
              <a:ext uri="{FF2B5EF4-FFF2-40B4-BE49-F238E27FC236}">
                <a16:creationId xmlns:a16="http://schemas.microsoft.com/office/drawing/2014/main" id="{75922257-98FE-4299-9A0A-58C3209EB370}"/>
              </a:ext>
            </a:extLst>
          </p:cNvPr>
          <p:cNvSpPr>
            <a:spLocks noGrp="1"/>
          </p:cNvSpPr>
          <p:nvPr/>
        </p:nvSpPr>
        <p:spPr>
          <a:xfrm>
            <a:off x="8763000" y="3952875"/>
            <a:ext cx="2476500" cy="904875"/>
          </a:xfrm>
          <a:prstGeom prst="rect">
            <a:avLst/>
          </a:prstGeom>
          <a:noFill/>
          <a:ln w="0">
            <a:noFill/>
            <a:prstDash val="solid"/>
          </a:ln>
        </p:spPr>
        <p:txBody>
          <a:bodyPr anchor="ctr"/>
          <a:lstStyle/>
          <a:p>
            <a:pPr algn="ctr">
              <a:defRPr sz="2175" b="1">
                <a:solidFill>
                  <a:srgbClr val="092A3D"/>
                </a:solidFill>
              </a:defRPr>
            </a:pPr>
            <a:r>
              <a:rPr sz="2175" b="1">
                <a:solidFill>
                  <a:srgbClr val="092A3D"/>
                </a:solidFill>
              </a:rPr>
              <a:t>65,536</a:t>
            </a:r>
          </a:p>
          <a:p>
            <a:pPr algn="ctr">
              <a:defRPr sz="2175" b="1">
                <a:solidFill>
                  <a:srgbClr val="092A3D"/>
                </a:solidFill>
              </a:defRPr>
            </a:pPr>
            <a:r>
              <a:rPr sz="2175" b="1">
                <a:solidFill>
                  <a:srgbClr val="092A3D"/>
                </a:solidFill>
              </a:rPr>
              <a:t>complete assignments</a:t>
            </a:r>
          </a:p>
        </p:txBody>
      </p:sp>
      <p:sp>
        <p:nvSpPr>
          <p:cNvPr id="30" name="Rectangle 29">
            <a:extLst>
              <a:ext uri="{FF2B5EF4-FFF2-40B4-BE49-F238E27FC236}">
                <a16:creationId xmlns:a16="http://schemas.microsoft.com/office/drawing/2014/main" id="{39A4015A-EE0B-45FA-8305-45AADB4E5B51}"/>
              </a:ext>
            </a:extLst>
          </p:cNvPr>
          <p:cNvSpPr>
            <a:spLocks noGrp="1"/>
          </p:cNvSpPr>
          <p:nvPr/>
        </p:nvSpPr>
        <p:spPr>
          <a:xfrm>
            <a:off x="1143000" y="1381125"/>
            <a:ext cx="6667500" cy="361950"/>
          </a:xfrm>
          <a:prstGeom prst="rect">
            <a:avLst/>
          </a:prstGeom>
          <a:noFill/>
          <a:ln w="0">
            <a:noFill/>
            <a:prstDash val="solid"/>
          </a:ln>
        </p:spPr>
        <p:txBody>
          <a:bodyPr anchor="ctr"/>
          <a:lstStyle/>
          <a:p>
            <a:pPr algn="ctr">
              <a:defRPr sz="1575" b="1">
                <a:solidFill>
                  <a:srgbClr val="2878B5"/>
                </a:solidFill>
              </a:defRPr>
            </a:pPr>
            <a:r>
              <a:rPr sz="1575" b="1">
                <a:solidFill>
                  <a:srgbClr val="2878B5"/>
                </a:solidFill>
              </a:rPr>
              <a:t>Each +2 services multiplies the space ×16</a:t>
            </a:r>
          </a:p>
        </p:txBody>
      </p:sp>
      <p:sp>
        <p:nvSpPr>
          <p:cNvPr id="31" name="Rectangle 30">
            <a:extLst>
              <a:ext uri="{FF2B5EF4-FFF2-40B4-BE49-F238E27FC236}">
                <a16:creationId xmlns:a16="http://schemas.microsoft.com/office/drawing/2014/main" id="{1EAE9DBB-47DD-4C12-8434-B3B61C8BD544}"/>
              </a:ext>
            </a:extLst>
          </p:cNvPr>
          <p:cNvSpPr>
            <a:spLocks noGrp="1"/>
          </p:cNvSpPr>
          <p:nvPr/>
        </p:nvSpPr>
        <p:spPr>
          <a:xfrm>
            <a:off x="8763000" y="5143500"/>
            <a:ext cx="2476500" cy="400050"/>
          </a:xfrm>
          <a:prstGeom prst="rect">
            <a:avLst/>
          </a:prstGeom>
          <a:noFill/>
          <a:ln w="0">
            <a:noFill/>
            <a:prstDash val="solid"/>
          </a:ln>
        </p:spPr>
        <p:txBody>
          <a:bodyPr anchor="ctr"/>
          <a:lstStyle/>
          <a:p>
            <a:pPr algn="ctr">
              <a:defRPr sz="1425" b="1">
                <a:solidFill>
                  <a:srgbClr val="D95D5D"/>
                </a:solidFill>
              </a:defRPr>
            </a:pPr>
            <a:r>
              <a:rPr sz="1425" b="1">
                <a:solidFill>
                  <a:srgbClr val="D95D5D"/>
                </a:solidFill>
              </a:rPr>
              <a:t>Growth is exponential, not linear.</a:t>
            </a:r>
          </a:p>
        </p:txBody>
      </p:sp>
    </p:spTree>
    <p:extLst>
      <p:ext uri="{BB962C8B-B14F-4D97-AF65-F5344CB8AC3E}">
        <p14:creationId xmlns:p14="http://schemas.microsoft.com/office/powerpoint/2010/main" val="1713296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D7B7CF9-2B00-484B-955F-A3A691AB4265}"/>
              </a:ext>
            </a:extLst>
          </p:cNvPr>
          <p:cNvSpPr>
            <a:spLocks noGrp="1"/>
          </p:cNvSpPr>
          <p:nvPr/>
        </p:nvSpPr>
        <p:spPr>
          <a:xfrm>
            <a:off x="609600" y="285750"/>
            <a:ext cx="64770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FEASIBLE REGION</a:t>
            </a:r>
          </a:p>
        </p:txBody>
      </p:sp>
      <p:sp>
        <p:nvSpPr>
          <p:cNvPr id="2" name="Rectangle 1">
            <a:extLst>
              <a:ext uri="{FF2B5EF4-FFF2-40B4-BE49-F238E27FC236}">
                <a16:creationId xmlns:a16="http://schemas.microsoft.com/office/drawing/2014/main" id="{74257DBE-9DD8-4CC2-AC94-0018AF3CC8C7}"/>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Only 9.45% of this search space is feasible</a:t>
            </a:r>
          </a:p>
        </p:txBody>
      </p:sp>
      <p:sp>
        <p:nvSpPr>
          <p:cNvPr id="3" name="Rectangle 2">
            <a:extLst>
              <a:ext uri="{FF2B5EF4-FFF2-40B4-BE49-F238E27FC236}">
                <a16:creationId xmlns:a16="http://schemas.microsoft.com/office/drawing/2014/main" id="{8CFBF852-B9F3-4692-9C3A-7DAB4B8F6924}"/>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6D76B323-EED3-4C8B-855C-DC5644E41186}"/>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2</a:t>
            </a:r>
          </a:p>
        </p:txBody>
      </p:sp>
      <p:sp>
        <p:nvSpPr>
          <p:cNvPr id="5" name="Rectangle 4">
            <a:extLst>
              <a:ext uri="{FF2B5EF4-FFF2-40B4-BE49-F238E27FC236}">
                <a16:creationId xmlns:a16="http://schemas.microsoft.com/office/drawing/2014/main" id="{294A86D6-60D5-4533-90AA-B771AB3E1FAC}"/>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08</a:t>
            </a:r>
          </a:p>
        </p:txBody>
      </p:sp>
      <p:graphicFrame>
        <p:nvGraphicFramePr>
          <p:cNvPr id="20" name="Chart"/>
          <p:cNvGraphicFramePr/>
          <p:nvPr/>
        </p:nvGraphicFramePr>
        <p:xfrm>
          <a:off x="1000125" y="1476375"/>
          <a:ext cx="5143500" cy="409575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F394FFB8-6FD5-41E6-B221-697FBDEF6939}"/>
              </a:ext>
            </a:extLst>
          </p:cNvPr>
          <p:cNvSpPr>
            <a:spLocks noGrp="1"/>
          </p:cNvSpPr>
          <p:nvPr/>
        </p:nvSpPr>
        <p:spPr>
          <a:xfrm>
            <a:off x="7239000" y="1809750"/>
            <a:ext cx="3143250" cy="666750"/>
          </a:xfrm>
          <a:prstGeom prst="rect">
            <a:avLst/>
          </a:prstGeom>
          <a:noFill/>
          <a:ln w="0">
            <a:noFill/>
            <a:prstDash val="solid"/>
          </a:ln>
        </p:spPr>
        <p:txBody>
          <a:bodyPr anchor="ctr"/>
          <a:lstStyle/>
          <a:p>
            <a:pPr algn="ctr">
              <a:defRPr sz="3225" b="1">
                <a:solidFill>
                  <a:srgbClr val="0B9B91"/>
                </a:solidFill>
              </a:defRPr>
            </a:pPr>
            <a:r>
              <a:rPr sz="3225" b="1">
                <a:solidFill>
                  <a:srgbClr val="0B9B91"/>
                </a:solidFill>
              </a:rPr>
              <a:t>6,194</a:t>
            </a:r>
          </a:p>
        </p:txBody>
      </p:sp>
      <p:sp>
        <p:nvSpPr>
          <p:cNvPr id="8" name="Rectangle 7">
            <a:extLst>
              <a:ext uri="{FF2B5EF4-FFF2-40B4-BE49-F238E27FC236}">
                <a16:creationId xmlns:a16="http://schemas.microsoft.com/office/drawing/2014/main" id="{CE97F182-0E8D-48BF-AD69-9B705C18D6E0}"/>
              </a:ext>
            </a:extLst>
          </p:cNvPr>
          <p:cNvSpPr>
            <a:spLocks noGrp="1"/>
          </p:cNvSpPr>
          <p:nvPr/>
        </p:nvSpPr>
        <p:spPr>
          <a:xfrm>
            <a:off x="7239000" y="2381250"/>
            <a:ext cx="3143250" cy="361950"/>
          </a:xfrm>
          <a:prstGeom prst="rect">
            <a:avLst/>
          </a:prstGeom>
          <a:noFill/>
          <a:ln w="0">
            <a:noFill/>
            <a:prstDash val="solid"/>
          </a:ln>
        </p:spPr>
        <p:txBody>
          <a:bodyPr anchor="ctr"/>
          <a:lstStyle/>
          <a:p>
            <a:pPr algn="ctr">
              <a:defRPr sz="1575" b="1">
                <a:solidFill>
                  <a:srgbClr val="58707C"/>
                </a:solidFill>
              </a:defRPr>
            </a:pPr>
            <a:r>
              <a:rPr sz="1575" b="1">
                <a:solidFill>
                  <a:srgbClr val="58707C"/>
                </a:solidFill>
              </a:rPr>
              <a:t>feasible assignments</a:t>
            </a:r>
          </a:p>
        </p:txBody>
      </p:sp>
      <p:sp>
        <p:nvSpPr>
          <p:cNvPr id="9" name="Rectangle 8">
            <a:extLst>
              <a:ext uri="{FF2B5EF4-FFF2-40B4-BE49-F238E27FC236}">
                <a16:creationId xmlns:a16="http://schemas.microsoft.com/office/drawing/2014/main" id="{AEE2BCDF-CDF5-4FA0-9F31-0C351D8411DE}"/>
              </a:ext>
            </a:extLst>
          </p:cNvPr>
          <p:cNvSpPr>
            <a:spLocks noGrp="1"/>
          </p:cNvSpPr>
          <p:nvPr/>
        </p:nvSpPr>
        <p:spPr>
          <a:xfrm>
            <a:off x="7239000" y="3333750"/>
            <a:ext cx="3143250" cy="666750"/>
          </a:xfrm>
          <a:prstGeom prst="rect">
            <a:avLst/>
          </a:prstGeom>
          <a:noFill/>
          <a:ln w="0">
            <a:noFill/>
            <a:prstDash val="solid"/>
          </a:ln>
        </p:spPr>
        <p:txBody>
          <a:bodyPr anchor="ctr"/>
          <a:lstStyle/>
          <a:p>
            <a:pPr algn="ctr">
              <a:defRPr sz="3225" b="1">
                <a:solidFill>
                  <a:srgbClr val="D95D5D"/>
                </a:solidFill>
              </a:defRPr>
            </a:pPr>
            <a:r>
              <a:rPr sz="3225" b="1">
                <a:solidFill>
                  <a:srgbClr val="D95D5D"/>
                </a:solidFill>
              </a:rPr>
              <a:t>59,342</a:t>
            </a:r>
          </a:p>
        </p:txBody>
      </p:sp>
      <p:sp>
        <p:nvSpPr>
          <p:cNvPr id="10" name="Rectangle 9">
            <a:extLst>
              <a:ext uri="{FF2B5EF4-FFF2-40B4-BE49-F238E27FC236}">
                <a16:creationId xmlns:a16="http://schemas.microsoft.com/office/drawing/2014/main" id="{8F9D6F4D-87DF-40CA-AE0F-9848FB002BE3}"/>
              </a:ext>
            </a:extLst>
          </p:cNvPr>
          <p:cNvSpPr>
            <a:spLocks noGrp="1"/>
          </p:cNvSpPr>
          <p:nvPr/>
        </p:nvSpPr>
        <p:spPr>
          <a:xfrm>
            <a:off x="7239000" y="3905250"/>
            <a:ext cx="3143250" cy="361950"/>
          </a:xfrm>
          <a:prstGeom prst="rect">
            <a:avLst/>
          </a:prstGeom>
          <a:noFill/>
          <a:ln w="0">
            <a:noFill/>
            <a:prstDash val="solid"/>
          </a:ln>
        </p:spPr>
        <p:txBody>
          <a:bodyPr anchor="ctr"/>
          <a:lstStyle/>
          <a:p>
            <a:pPr algn="ctr">
              <a:defRPr sz="1575" b="1">
                <a:solidFill>
                  <a:srgbClr val="58707C"/>
                </a:solidFill>
              </a:defRPr>
            </a:pPr>
            <a:r>
              <a:rPr sz="1575" b="1">
                <a:solidFill>
                  <a:srgbClr val="58707C"/>
                </a:solidFill>
              </a:rPr>
              <a:t>capacity violations</a:t>
            </a:r>
          </a:p>
        </p:txBody>
      </p:sp>
      <p:sp>
        <p:nvSpPr>
          <p:cNvPr id="11" name="Rounded Rectangle 10">
            <a:extLst>
              <a:ext uri="{FF2B5EF4-FFF2-40B4-BE49-F238E27FC236}">
                <a16:creationId xmlns:a16="http://schemas.microsoft.com/office/drawing/2014/main" id="{D8FFF45F-9DA3-44D0-B67A-1BA3C4AFAD03}"/>
              </a:ext>
            </a:extLst>
          </p:cNvPr>
          <p:cNvSpPr>
            <a:spLocks noGrp="1"/>
          </p:cNvSpPr>
          <p:nvPr/>
        </p:nvSpPr>
        <p:spPr>
          <a:xfrm>
            <a:off x="6477000" y="5095875"/>
            <a:ext cx="4762500" cy="590550"/>
          </a:xfrm>
          <a:prstGeom prst="roundRect">
            <a:avLst>
              <a:gd name="adj" fmla="val 12903"/>
            </a:avLst>
          </a:prstGeom>
          <a:solidFill>
            <a:srgbClr val="092A3D"/>
          </a:solidFill>
          <a:ln w="0">
            <a:solidFill>
              <a:srgbClr val="092A3D"/>
            </a:solidFill>
            <a:prstDash val="solid"/>
          </a:ln>
        </p:spPr>
        <p:txBody>
          <a:bodyPr/>
          <a:lstStyle/>
          <a:p>
            <a:endParaRPr lang="en-IQ"/>
          </a:p>
        </p:txBody>
      </p:sp>
      <p:sp>
        <p:nvSpPr>
          <p:cNvPr id="12" name="Rectangle 11">
            <a:extLst>
              <a:ext uri="{FF2B5EF4-FFF2-40B4-BE49-F238E27FC236}">
                <a16:creationId xmlns:a16="http://schemas.microsoft.com/office/drawing/2014/main" id="{F5673C21-4C16-4828-808F-800B9DB3CBC8}"/>
              </a:ext>
            </a:extLst>
          </p:cNvPr>
          <p:cNvSpPr>
            <a:spLocks noGrp="1"/>
          </p:cNvSpPr>
          <p:nvPr/>
        </p:nvSpPr>
        <p:spPr>
          <a:xfrm>
            <a:off x="6667500" y="5172075"/>
            <a:ext cx="4381500" cy="438150"/>
          </a:xfrm>
          <a:prstGeom prst="rect">
            <a:avLst/>
          </a:prstGeom>
          <a:noFill/>
          <a:ln w="0">
            <a:noFill/>
            <a:prstDash val="solid"/>
          </a:ln>
        </p:spPr>
        <p:txBody>
          <a:bodyPr anchor="ctr"/>
          <a:lstStyle/>
          <a:p>
            <a:pPr algn="ctr">
              <a:defRPr sz="1500" b="1">
                <a:solidFill>
                  <a:srgbClr val="FFFFFF"/>
                </a:solidFill>
              </a:defRPr>
            </a:pPr>
            <a:r>
              <a:rPr sz="1500" b="1">
                <a:solidFill>
                  <a:srgbClr val="FFFFFF"/>
                </a:solidFill>
              </a:rPr>
              <a:t>Random generation wastes many evaluations on invalid candidates.</a:t>
            </a:r>
          </a:p>
        </p:txBody>
      </p:sp>
      <p:sp>
        <p:nvSpPr>
          <p:cNvPr id="13" name="Rectangle 12">
            <a:extLst>
              <a:ext uri="{FF2B5EF4-FFF2-40B4-BE49-F238E27FC236}">
                <a16:creationId xmlns:a16="http://schemas.microsoft.com/office/drawing/2014/main" id="{187B0CA0-2481-4AC1-A72A-379D7E1FA5BC}"/>
              </a:ext>
            </a:extLst>
          </p:cNvPr>
          <p:cNvSpPr>
            <a:spLocks noGrp="1"/>
          </p:cNvSpPr>
          <p:nvPr/>
        </p:nvSpPr>
        <p:spPr>
          <a:xfrm>
            <a:off x="609600" y="1238250"/>
            <a:ext cx="10972800" cy="5067300"/>
          </a:xfrm>
          <a:prstGeom prst="rect">
            <a:avLst/>
          </a:prstGeom>
          <a:solidFill>
            <a:srgbClr val="F7F4EE"/>
          </a:solidFill>
          <a:ln w="0">
            <a:solidFill>
              <a:srgbClr val="F7F4EE"/>
            </a:solidFill>
            <a:prstDash val="solid"/>
          </a:ln>
        </p:spPr>
        <p:txBody>
          <a:bodyPr/>
          <a:lstStyle/>
          <a:p>
            <a:endParaRPr lang="en-IQ"/>
          </a:p>
        </p:txBody>
      </p:sp>
      <p:pic>
        <p:nvPicPr>
          <p:cNvPr id="28" name="Picture 27"/>
          <p:cNvPicPr>
            <a:picLocks noChangeAspect="1"/>
          </p:cNvPicPr>
          <p:nvPr/>
        </p:nvPicPr>
        <p:blipFill>
          <a:blip r:embed="rId4"/>
          <a:stretch/>
        </p:blipFill>
        <p:spPr>
          <a:xfrm>
            <a:off x="1991849" y="1381125"/>
            <a:ext cx="8208303" cy="4619625"/>
          </a:xfrm>
          <a:prstGeom prst="rect">
            <a:avLst/>
          </a:prstGeom>
        </p:spPr>
      </p:pic>
    </p:spTree>
    <p:extLst>
      <p:ext uri="{BB962C8B-B14F-4D97-AF65-F5344CB8AC3E}">
        <p14:creationId xmlns:p14="http://schemas.microsoft.com/office/powerpoint/2010/main" val="2033353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F41D07D6-0169-43DF-A373-0312970DDF74}"/>
              </a:ext>
            </a:extLst>
          </p:cNvPr>
          <p:cNvSpPr>
            <a:spLocks noGrp="1"/>
          </p:cNvSpPr>
          <p:nvPr/>
        </p:nvSpPr>
        <p:spPr>
          <a:xfrm>
            <a:off x="609600" y="285750"/>
            <a:ext cx="64770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GROUND TRUTH</a:t>
            </a:r>
          </a:p>
        </p:txBody>
      </p:sp>
      <p:sp>
        <p:nvSpPr>
          <p:cNvPr id="2" name="Rectangle 1">
            <a:extLst>
              <a:ext uri="{FF2B5EF4-FFF2-40B4-BE49-F238E27FC236}">
                <a16:creationId xmlns:a16="http://schemas.microsoft.com/office/drawing/2014/main" id="{9A2A1B62-C144-45AB-A9D1-CC9D69927603}"/>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The known optimum gives us an honest benchmark</a:t>
            </a:r>
          </a:p>
        </p:txBody>
      </p:sp>
      <p:sp>
        <p:nvSpPr>
          <p:cNvPr id="3" name="Rectangle 2">
            <a:extLst>
              <a:ext uri="{FF2B5EF4-FFF2-40B4-BE49-F238E27FC236}">
                <a16:creationId xmlns:a16="http://schemas.microsoft.com/office/drawing/2014/main" id="{ABE3CCE1-86D0-48A8-8628-C1CA3F49461A}"/>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E9DDA7FB-ABF4-4903-B5B8-D81A1BE14655}"/>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2</a:t>
            </a:r>
          </a:p>
        </p:txBody>
      </p:sp>
      <p:sp>
        <p:nvSpPr>
          <p:cNvPr id="5" name="Rectangle 4">
            <a:extLst>
              <a:ext uri="{FF2B5EF4-FFF2-40B4-BE49-F238E27FC236}">
                <a16:creationId xmlns:a16="http://schemas.microsoft.com/office/drawing/2014/main" id="{10280979-9608-40E3-9792-65212EAFDE4D}"/>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09</a:t>
            </a:r>
          </a:p>
        </p:txBody>
      </p:sp>
      <p:sp>
        <p:nvSpPr>
          <p:cNvPr id="6" name="Rounded Rectangle 5">
            <a:extLst>
              <a:ext uri="{FF2B5EF4-FFF2-40B4-BE49-F238E27FC236}">
                <a16:creationId xmlns:a16="http://schemas.microsoft.com/office/drawing/2014/main" id="{5F4318D7-2A9B-4089-8F94-93839F0C0FBD}"/>
              </a:ext>
            </a:extLst>
          </p:cNvPr>
          <p:cNvSpPr>
            <a:spLocks noGrp="1"/>
          </p:cNvSpPr>
          <p:nvPr/>
        </p:nvSpPr>
        <p:spPr>
          <a:xfrm>
            <a:off x="1571625" y="1524000"/>
            <a:ext cx="9048750" cy="647700"/>
          </a:xfrm>
          <a:prstGeom prst="roundRect">
            <a:avLst>
              <a:gd name="adj" fmla="val 11765"/>
            </a:avLst>
          </a:prstGeom>
          <a:solidFill>
            <a:srgbClr val="092A3D"/>
          </a:solidFill>
          <a:ln w="0">
            <a:solidFill>
              <a:srgbClr val="092A3D"/>
            </a:solidFill>
            <a:prstDash val="solid"/>
          </a:ln>
        </p:spPr>
        <p:txBody>
          <a:bodyPr/>
          <a:lstStyle/>
          <a:p>
            <a:endParaRPr lang="en-IQ"/>
          </a:p>
        </p:txBody>
      </p:sp>
      <p:sp>
        <p:nvSpPr>
          <p:cNvPr id="7" name="Rectangle 6">
            <a:extLst>
              <a:ext uri="{FF2B5EF4-FFF2-40B4-BE49-F238E27FC236}">
                <a16:creationId xmlns:a16="http://schemas.microsoft.com/office/drawing/2014/main" id="{5AB225BC-77E2-456F-8EC2-70995C642FED}"/>
              </a:ext>
            </a:extLst>
          </p:cNvPr>
          <p:cNvSpPr>
            <a:spLocks noGrp="1"/>
          </p:cNvSpPr>
          <p:nvPr/>
        </p:nvSpPr>
        <p:spPr>
          <a:xfrm>
            <a:off x="1762125" y="1600200"/>
            <a:ext cx="8667750" cy="495300"/>
          </a:xfrm>
          <a:prstGeom prst="rect">
            <a:avLst/>
          </a:prstGeom>
          <a:noFill/>
          <a:ln w="0">
            <a:noFill/>
            <a:prstDash val="solid"/>
          </a:ln>
        </p:spPr>
        <p:txBody>
          <a:bodyPr anchor="ctr"/>
          <a:lstStyle/>
          <a:p>
            <a:pPr algn="ctr">
              <a:defRPr sz="2175" b="1">
                <a:solidFill>
                  <a:srgbClr val="FFFFFF"/>
                </a:solidFill>
              </a:defRPr>
            </a:pPr>
            <a:r>
              <a:rPr sz="2175" b="1">
                <a:solidFill>
                  <a:srgbClr val="FFFFFF"/>
                </a:solidFill>
              </a:rPr>
              <a:t>[0, 1, 2, 3, 0, 1, 2, 3]</a:t>
            </a:r>
          </a:p>
        </p:txBody>
      </p:sp>
      <p:sp>
        <p:nvSpPr>
          <p:cNvPr id="8" name="Rectangle 7">
            <a:extLst>
              <a:ext uri="{FF2B5EF4-FFF2-40B4-BE49-F238E27FC236}">
                <a16:creationId xmlns:a16="http://schemas.microsoft.com/office/drawing/2014/main" id="{38C6ECD0-51A8-44A3-B8F8-3B6A81457FAF}"/>
              </a:ext>
            </a:extLst>
          </p:cNvPr>
          <p:cNvSpPr>
            <a:spLocks noGrp="1"/>
          </p:cNvSpPr>
          <p:nvPr/>
        </p:nvSpPr>
        <p:spPr>
          <a:xfrm>
            <a:off x="904875" y="2619375"/>
            <a:ext cx="1428750" cy="533400"/>
          </a:xfrm>
          <a:prstGeom prst="rect">
            <a:avLst/>
          </a:prstGeom>
          <a:solidFill>
            <a:srgbClr val="092A3D"/>
          </a:solidFill>
          <a:ln w="0">
            <a:solidFill>
              <a:srgbClr val="092A3D"/>
            </a:solidFill>
            <a:prstDash val="solid"/>
          </a:ln>
        </p:spPr>
        <p:txBody>
          <a:bodyPr/>
          <a:lstStyle/>
          <a:p>
            <a:endParaRPr lang="en-IQ"/>
          </a:p>
        </p:txBody>
      </p:sp>
      <p:sp>
        <p:nvSpPr>
          <p:cNvPr id="9" name="Rectangle 8">
            <a:extLst>
              <a:ext uri="{FF2B5EF4-FFF2-40B4-BE49-F238E27FC236}">
                <a16:creationId xmlns:a16="http://schemas.microsoft.com/office/drawing/2014/main" id="{E4E9BFEE-393E-4E1B-AC56-3826D090AC12}"/>
              </a:ext>
            </a:extLst>
          </p:cNvPr>
          <p:cNvSpPr>
            <a:spLocks noGrp="1"/>
          </p:cNvSpPr>
          <p:nvPr/>
        </p:nvSpPr>
        <p:spPr>
          <a:xfrm>
            <a:off x="971550" y="2676525"/>
            <a:ext cx="1295400" cy="419100"/>
          </a:xfrm>
          <a:prstGeom prst="rect">
            <a:avLst/>
          </a:prstGeom>
          <a:noFill/>
          <a:ln w="0">
            <a:noFill/>
            <a:prstDash val="solid"/>
          </a:ln>
        </p:spPr>
        <p:txBody>
          <a:bodyPr anchor="ctr"/>
          <a:lstStyle/>
          <a:p>
            <a:pPr algn="ctr">
              <a:defRPr sz="1350" b="1">
                <a:solidFill>
                  <a:srgbClr val="FFFFFF"/>
                </a:solidFill>
              </a:defRPr>
            </a:pPr>
            <a:r>
              <a:rPr sz="1350" b="1">
                <a:solidFill>
                  <a:srgbClr val="FFFFFF"/>
                </a:solidFill>
              </a:rPr>
              <a:t>Server</a:t>
            </a:r>
          </a:p>
        </p:txBody>
      </p:sp>
      <p:sp>
        <p:nvSpPr>
          <p:cNvPr id="10" name="Rectangle 9">
            <a:extLst>
              <a:ext uri="{FF2B5EF4-FFF2-40B4-BE49-F238E27FC236}">
                <a16:creationId xmlns:a16="http://schemas.microsoft.com/office/drawing/2014/main" id="{5F4A8668-99DB-41AD-A4B1-E0ECA7E2C066}"/>
              </a:ext>
            </a:extLst>
          </p:cNvPr>
          <p:cNvSpPr>
            <a:spLocks noGrp="1"/>
          </p:cNvSpPr>
          <p:nvPr/>
        </p:nvSpPr>
        <p:spPr>
          <a:xfrm>
            <a:off x="2333625" y="2619375"/>
            <a:ext cx="3524250" cy="533400"/>
          </a:xfrm>
          <a:prstGeom prst="rect">
            <a:avLst/>
          </a:prstGeom>
          <a:solidFill>
            <a:srgbClr val="092A3D"/>
          </a:solidFill>
          <a:ln w="0">
            <a:solidFill>
              <a:srgbClr val="092A3D"/>
            </a:solidFill>
            <a:prstDash val="solid"/>
          </a:ln>
        </p:spPr>
        <p:txBody>
          <a:bodyPr/>
          <a:lstStyle/>
          <a:p>
            <a:endParaRPr lang="en-IQ"/>
          </a:p>
        </p:txBody>
      </p:sp>
      <p:sp>
        <p:nvSpPr>
          <p:cNvPr id="11" name="Rectangle 10">
            <a:extLst>
              <a:ext uri="{FF2B5EF4-FFF2-40B4-BE49-F238E27FC236}">
                <a16:creationId xmlns:a16="http://schemas.microsoft.com/office/drawing/2014/main" id="{5CD403B3-9A5C-4A71-A03B-B106BA690F01}"/>
              </a:ext>
            </a:extLst>
          </p:cNvPr>
          <p:cNvSpPr>
            <a:spLocks noGrp="1"/>
          </p:cNvSpPr>
          <p:nvPr/>
        </p:nvSpPr>
        <p:spPr>
          <a:xfrm>
            <a:off x="2400300" y="2676525"/>
            <a:ext cx="3390900" cy="419100"/>
          </a:xfrm>
          <a:prstGeom prst="rect">
            <a:avLst/>
          </a:prstGeom>
          <a:noFill/>
          <a:ln w="0">
            <a:noFill/>
            <a:prstDash val="solid"/>
          </a:ln>
        </p:spPr>
        <p:txBody>
          <a:bodyPr anchor="ctr"/>
          <a:lstStyle/>
          <a:p>
            <a:pPr algn="ctr">
              <a:defRPr sz="1350" b="1">
                <a:solidFill>
                  <a:srgbClr val="FFFFFF"/>
                </a:solidFill>
              </a:defRPr>
            </a:pPr>
            <a:r>
              <a:rPr sz="1350" b="1">
                <a:solidFill>
                  <a:srgbClr val="FFFFFF"/>
                </a:solidFill>
              </a:rPr>
              <a:t>Assigned services</a:t>
            </a:r>
          </a:p>
        </p:txBody>
      </p:sp>
      <p:sp>
        <p:nvSpPr>
          <p:cNvPr id="12" name="Rectangle 11">
            <a:extLst>
              <a:ext uri="{FF2B5EF4-FFF2-40B4-BE49-F238E27FC236}">
                <a16:creationId xmlns:a16="http://schemas.microsoft.com/office/drawing/2014/main" id="{A2B32A2C-21DD-4149-B698-4FFD614FA1A4}"/>
              </a:ext>
            </a:extLst>
          </p:cNvPr>
          <p:cNvSpPr>
            <a:spLocks noGrp="1"/>
          </p:cNvSpPr>
          <p:nvPr/>
        </p:nvSpPr>
        <p:spPr>
          <a:xfrm>
            <a:off x="5857875" y="2619375"/>
            <a:ext cx="1428750" cy="533400"/>
          </a:xfrm>
          <a:prstGeom prst="rect">
            <a:avLst/>
          </a:prstGeom>
          <a:solidFill>
            <a:srgbClr val="092A3D"/>
          </a:solidFill>
          <a:ln w="0">
            <a:solidFill>
              <a:srgbClr val="092A3D"/>
            </a:solidFill>
            <a:prstDash val="solid"/>
          </a:ln>
        </p:spPr>
        <p:txBody>
          <a:bodyPr/>
          <a:lstStyle/>
          <a:p>
            <a:endParaRPr lang="en-IQ"/>
          </a:p>
        </p:txBody>
      </p:sp>
      <p:sp>
        <p:nvSpPr>
          <p:cNvPr id="13" name="Rectangle 12">
            <a:extLst>
              <a:ext uri="{FF2B5EF4-FFF2-40B4-BE49-F238E27FC236}">
                <a16:creationId xmlns:a16="http://schemas.microsoft.com/office/drawing/2014/main" id="{0E13C1D0-C430-4E3A-A57A-1D7CFDCCAA16}"/>
              </a:ext>
            </a:extLst>
          </p:cNvPr>
          <p:cNvSpPr>
            <a:spLocks noGrp="1"/>
          </p:cNvSpPr>
          <p:nvPr/>
        </p:nvSpPr>
        <p:spPr>
          <a:xfrm>
            <a:off x="5924550" y="2676525"/>
            <a:ext cx="1295400" cy="419100"/>
          </a:xfrm>
          <a:prstGeom prst="rect">
            <a:avLst/>
          </a:prstGeom>
          <a:noFill/>
          <a:ln w="0">
            <a:noFill/>
            <a:prstDash val="solid"/>
          </a:ln>
        </p:spPr>
        <p:txBody>
          <a:bodyPr anchor="ctr"/>
          <a:lstStyle/>
          <a:p>
            <a:pPr algn="ctr">
              <a:defRPr sz="1350" b="1">
                <a:solidFill>
                  <a:srgbClr val="FFFFFF"/>
                </a:solidFill>
              </a:defRPr>
            </a:pPr>
            <a:r>
              <a:rPr sz="1350" b="1">
                <a:solidFill>
                  <a:srgbClr val="FFFFFF"/>
                </a:solidFill>
              </a:rPr>
              <a:t>Load</a:t>
            </a:r>
          </a:p>
        </p:txBody>
      </p:sp>
      <p:sp>
        <p:nvSpPr>
          <p:cNvPr id="14" name="Rectangle 13">
            <a:extLst>
              <a:ext uri="{FF2B5EF4-FFF2-40B4-BE49-F238E27FC236}">
                <a16:creationId xmlns:a16="http://schemas.microsoft.com/office/drawing/2014/main" id="{9F217349-E0DD-4B02-8802-44D7A1DC29BF}"/>
              </a:ext>
            </a:extLst>
          </p:cNvPr>
          <p:cNvSpPr>
            <a:spLocks noGrp="1"/>
          </p:cNvSpPr>
          <p:nvPr/>
        </p:nvSpPr>
        <p:spPr>
          <a:xfrm>
            <a:off x="7286625" y="2619375"/>
            <a:ext cx="1619250" cy="533400"/>
          </a:xfrm>
          <a:prstGeom prst="rect">
            <a:avLst/>
          </a:prstGeom>
          <a:solidFill>
            <a:srgbClr val="092A3D"/>
          </a:solidFill>
          <a:ln w="0">
            <a:solidFill>
              <a:srgbClr val="092A3D"/>
            </a:solidFill>
            <a:prstDash val="solid"/>
          </a:ln>
        </p:spPr>
        <p:txBody>
          <a:bodyPr/>
          <a:lstStyle/>
          <a:p>
            <a:endParaRPr lang="en-IQ"/>
          </a:p>
        </p:txBody>
      </p:sp>
      <p:sp>
        <p:nvSpPr>
          <p:cNvPr id="15" name="Rectangle 14">
            <a:extLst>
              <a:ext uri="{FF2B5EF4-FFF2-40B4-BE49-F238E27FC236}">
                <a16:creationId xmlns:a16="http://schemas.microsoft.com/office/drawing/2014/main" id="{11F6FD50-AAC5-4810-975E-0E72458F63A3}"/>
              </a:ext>
            </a:extLst>
          </p:cNvPr>
          <p:cNvSpPr>
            <a:spLocks noGrp="1"/>
          </p:cNvSpPr>
          <p:nvPr/>
        </p:nvSpPr>
        <p:spPr>
          <a:xfrm>
            <a:off x="7353300" y="2676525"/>
            <a:ext cx="1485900" cy="419100"/>
          </a:xfrm>
          <a:prstGeom prst="rect">
            <a:avLst/>
          </a:prstGeom>
          <a:noFill/>
          <a:ln w="0">
            <a:noFill/>
            <a:prstDash val="solid"/>
          </a:ln>
        </p:spPr>
        <p:txBody>
          <a:bodyPr anchor="ctr"/>
          <a:lstStyle/>
          <a:p>
            <a:pPr algn="ctr">
              <a:defRPr sz="1350" b="1">
                <a:solidFill>
                  <a:srgbClr val="FFFFFF"/>
                </a:solidFill>
              </a:defRPr>
            </a:pPr>
            <a:r>
              <a:rPr sz="1350" b="1">
                <a:solidFill>
                  <a:srgbClr val="FFFFFF"/>
                </a:solidFill>
              </a:rPr>
              <a:t>Capacity</a:t>
            </a:r>
          </a:p>
        </p:txBody>
      </p:sp>
      <p:sp>
        <p:nvSpPr>
          <p:cNvPr id="16" name="Rectangle 15">
            <a:extLst>
              <a:ext uri="{FF2B5EF4-FFF2-40B4-BE49-F238E27FC236}">
                <a16:creationId xmlns:a16="http://schemas.microsoft.com/office/drawing/2014/main" id="{0CA0468A-3132-4C79-BF53-391E70246152}"/>
              </a:ext>
            </a:extLst>
          </p:cNvPr>
          <p:cNvSpPr>
            <a:spLocks noGrp="1"/>
          </p:cNvSpPr>
          <p:nvPr/>
        </p:nvSpPr>
        <p:spPr>
          <a:xfrm>
            <a:off x="8905875" y="2619375"/>
            <a:ext cx="1905000" cy="533400"/>
          </a:xfrm>
          <a:prstGeom prst="rect">
            <a:avLst/>
          </a:prstGeom>
          <a:solidFill>
            <a:srgbClr val="092A3D"/>
          </a:solidFill>
          <a:ln w="0">
            <a:solidFill>
              <a:srgbClr val="092A3D"/>
            </a:solidFill>
            <a:prstDash val="solid"/>
          </a:ln>
        </p:spPr>
        <p:txBody>
          <a:bodyPr/>
          <a:lstStyle/>
          <a:p>
            <a:endParaRPr lang="en-IQ"/>
          </a:p>
        </p:txBody>
      </p:sp>
      <p:sp>
        <p:nvSpPr>
          <p:cNvPr id="17" name="Rectangle 16">
            <a:extLst>
              <a:ext uri="{FF2B5EF4-FFF2-40B4-BE49-F238E27FC236}">
                <a16:creationId xmlns:a16="http://schemas.microsoft.com/office/drawing/2014/main" id="{A38E3415-70D5-466C-95F4-537D684D1D1F}"/>
              </a:ext>
            </a:extLst>
          </p:cNvPr>
          <p:cNvSpPr>
            <a:spLocks noGrp="1"/>
          </p:cNvSpPr>
          <p:nvPr/>
        </p:nvSpPr>
        <p:spPr>
          <a:xfrm>
            <a:off x="8972550" y="2676525"/>
            <a:ext cx="1771650" cy="419100"/>
          </a:xfrm>
          <a:prstGeom prst="rect">
            <a:avLst/>
          </a:prstGeom>
          <a:noFill/>
          <a:ln w="0">
            <a:noFill/>
            <a:prstDash val="solid"/>
          </a:ln>
        </p:spPr>
        <p:txBody>
          <a:bodyPr anchor="ctr"/>
          <a:lstStyle/>
          <a:p>
            <a:pPr algn="ctr">
              <a:defRPr sz="1350" b="1">
                <a:solidFill>
                  <a:srgbClr val="FFFFFF"/>
                </a:solidFill>
              </a:defRPr>
            </a:pPr>
            <a:r>
              <a:rPr sz="1350" b="1">
                <a:solidFill>
                  <a:srgbClr val="FFFFFF"/>
                </a:solidFill>
              </a:rPr>
              <a:t>Status</a:t>
            </a:r>
          </a:p>
        </p:txBody>
      </p:sp>
      <p:sp>
        <p:nvSpPr>
          <p:cNvPr id="18" name="Rectangle 17">
            <a:extLst>
              <a:ext uri="{FF2B5EF4-FFF2-40B4-BE49-F238E27FC236}">
                <a16:creationId xmlns:a16="http://schemas.microsoft.com/office/drawing/2014/main" id="{0A1B0A19-ECBB-4C8C-8C07-D8D87628C05C}"/>
              </a:ext>
            </a:extLst>
          </p:cNvPr>
          <p:cNvSpPr>
            <a:spLocks noGrp="1"/>
          </p:cNvSpPr>
          <p:nvPr/>
        </p:nvSpPr>
        <p:spPr>
          <a:xfrm>
            <a:off x="904875" y="3152775"/>
            <a:ext cx="1428750" cy="590550"/>
          </a:xfrm>
          <a:prstGeom prst="rect">
            <a:avLst/>
          </a:prstGeom>
          <a:solidFill>
            <a:srgbClr val="E9EEEC"/>
          </a:solidFill>
          <a:ln w="9525">
            <a:solidFill>
              <a:srgbClr val="CED9DB"/>
            </a:solidFill>
            <a:prstDash val="solid"/>
          </a:ln>
        </p:spPr>
        <p:txBody>
          <a:bodyPr/>
          <a:lstStyle/>
          <a:p>
            <a:endParaRPr lang="en-IQ"/>
          </a:p>
        </p:txBody>
      </p:sp>
      <p:sp>
        <p:nvSpPr>
          <p:cNvPr id="19" name="Rectangle 18">
            <a:extLst>
              <a:ext uri="{FF2B5EF4-FFF2-40B4-BE49-F238E27FC236}">
                <a16:creationId xmlns:a16="http://schemas.microsoft.com/office/drawing/2014/main" id="{143057AD-6886-4F3C-9B48-C178377BBE14}"/>
              </a:ext>
            </a:extLst>
          </p:cNvPr>
          <p:cNvSpPr>
            <a:spLocks noGrp="1"/>
          </p:cNvSpPr>
          <p:nvPr/>
        </p:nvSpPr>
        <p:spPr>
          <a:xfrm>
            <a:off x="971550" y="3190875"/>
            <a:ext cx="1295400" cy="514350"/>
          </a:xfrm>
          <a:prstGeom prst="rect">
            <a:avLst/>
          </a:prstGeom>
          <a:noFill/>
          <a:ln w="0">
            <a:noFill/>
            <a:prstDash val="solid"/>
          </a:ln>
        </p:spPr>
        <p:txBody>
          <a:bodyPr anchor="ctr"/>
          <a:lstStyle/>
          <a:p>
            <a:pPr algn="ctr">
              <a:defRPr sz="1350" b="1">
                <a:solidFill>
                  <a:srgbClr val="0B9B91"/>
                </a:solidFill>
              </a:defRPr>
            </a:pPr>
            <a:r>
              <a:rPr sz="1350" b="1">
                <a:solidFill>
                  <a:srgbClr val="0B9B91"/>
                </a:solidFill>
              </a:rPr>
              <a:t>N1</a:t>
            </a:r>
          </a:p>
        </p:txBody>
      </p:sp>
      <p:sp>
        <p:nvSpPr>
          <p:cNvPr id="20" name="Rectangle 19">
            <a:extLst>
              <a:ext uri="{FF2B5EF4-FFF2-40B4-BE49-F238E27FC236}">
                <a16:creationId xmlns:a16="http://schemas.microsoft.com/office/drawing/2014/main" id="{DFE5572F-7465-4C2F-BEDD-3A8833664BD9}"/>
              </a:ext>
            </a:extLst>
          </p:cNvPr>
          <p:cNvSpPr>
            <a:spLocks noGrp="1"/>
          </p:cNvSpPr>
          <p:nvPr/>
        </p:nvSpPr>
        <p:spPr>
          <a:xfrm>
            <a:off x="2333625" y="3152775"/>
            <a:ext cx="3524250" cy="590550"/>
          </a:xfrm>
          <a:prstGeom prst="rect">
            <a:avLst/>
          </a:prstGeom>
          <a:solidFill>
            <a:srgbClr val="E9EEEC"/>
          </a:solidFill>
          <a:ln w="9525">
            <a:solidFill>
              <a:srgbClr val="CED9DB"/>
            </a:solidFill>
            <a:prstDash val="solid"/>
          </a:ln>
        </p:spPr>
        <p:txBody>
          <a:bodyPr/>
          <a:lstStyle/>
          <a:p>
            <a:endParaRPr lang="en-IQ"/>
          </a:p>
        </p:txBody>
      </p:sp>
      <p:sp>
        <p:nvSpPr>
          <p:cNvPr id="21" name="Rectangle 20">
            <a:extLst>
              <a:ext uri="{FF2B5EF4-FFF2-40B4-BE49-F238E27FC236}">
                <a16:creationId xmlns:a16="http://schemas.microsoft.com/office/drawing/2014/main" id="{F77071FA-CC67-4CF5-8260-F0E8595B3A09}"/>
              </a:ext>
            </a:extLst>
          </p:cNvPr>
          <p:cNvSpPr>
            <a:spLocks noGrp="1"/>
          </p:cNvSpPr>
          <p:nvPr/>
        </p:nvSpPr>
        <p:spPr>
          <a:xfrm>
            <a:off x="2400300" y="3190875"/>
            <a:ext cx="3390900" cy="5143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S1, S5</a:t>
            </a:r>
          </a:p>
        </p:txBody>
      </p:sp>
      <p:sp>
        <p:nvSpPr>
          <p:cNvPr id="22" name="Rectangle 21">
            <a:extLst>
              <a:ext uri="{FF2B5EF4-FFF2-40B4-BE49-F238E27FC236}">
                <a16:creationId xmlns:a16="http://schemas.microsoft.com/office/drawing/2014/main" id="{52F2BF95-BFCE-4BF8-A001-3207198E0C0F}"/>
              </a:ext>
            </a:extLst>
          </p:cNvPr>
          <p:cNvSpPr>
            <a:spLocks noGrp="1"/>
          </p:cNvSpPr>
          <p:nvPr/>
        </p:nvSpPr>
        <p:spPr>
          <a:xfrm>
            <a:off x="5857875" y="3152775"/>
            <a:ext cx="1428750" cy="590550"/>
          </a:xfrm>
          <a:prstGeom prst="rect">
            <a:avLst/>
          </a:prstGeom>
          <a:solidFill>
            <a:srgbClr val="E9EEEC"/>
          </a:solidFill>
          <a:ln w="9525">
            <a:solidFill>
              <a:srgbClr val="CED9DB"/>
            </a:solidFill>
            <a:prstDash val="solid"/>
          </a:ln>
        </p:spPr>
        <p:txBody>
          <a:bodyPr/>
          <a:lstStyle/>
          <a:p>
            <a:endParaRPr lang="en-IQ"/>
          </a:p>
        </p:txBody>
      </p:sp>
      <p:sp>
        <p:nvSpPr>
          <p:cNvPr id="23" name="Rectangle 22">
            <a:extLst>
              <a:ext uri="{FF2B5EF4-FFF2-40B4-BE49-F238E27FC236}">
                <a16:creationId xmlns:a16="http://schemas.microsoft.com/office/drawing/2014/main" id="{587334A3-CA22-4F59-9DCA-57D2A8E71015}"/>
              </a:ext>
            </a:extLst>
          </p:cNvPr>
          <p:cNvSpPr>
            <a:spLocks noGrp="1"/>
          </p:cNvSpPr>
          <p:nvPr/>
        </p:nvSpPr>
        <p:spPr>
          <a:xfrm>
            <a:off x="5924550" y="3190875"/>
            <a:ext cx="1295400" cy="5143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8</a:t>
            </a:r>
          </a:p>
        </p:txBody>
      </p:sp>
      <p:sp>
        <p:nvSpPr>
          <p:cNvPr id="24" name="Rectangle 23">
            <a:extLst>
              <a:ext uri="{FF2B5EF4-FFF2-40B4-BE49-F238E27FC236}">
                <a16:creationId xmlns:a16="http://schemas.microsoft.com/office/drawing/2014/main" id="{65C05084-F2F0-4DF5-94B2-936D9CBB7BE6}"/>
              </a:ext>
            </a:extLst>
          </p:cNvPr>
          <p:cNvSpPr>
            <a:spLocks noGrp="1"/>
          </p:cNvSpPr>
          <p:nvPr/>
        </p:nvSpPr>
        <p:spPr>
          <a:xfrm>
            <a:off x="7286625" y="3152775"/>
            <a:ext cx="1619250" cy="590550"/>
          </a:xfrm>
          <a:prstGeom prst="rect">
            <a:avLst/>
          </a:prstGeom>
          <a:solidFill>
            <a:srgbClr val="E9EEEC"/>
          </a:solidFill>
          <a:ln w="9525">
            <a:solidFill>
              <a:srgbClr val="CED9DB"/>
            </a:solidFill>
            <a:prstDash val="solid"/>
          </a:ln>
        </p:spPr>
        <p:txBody>
          <a:bodyPr/>
          <a:lstStyle/>
          <a:p>
            <a:endParaRPr lang="en-IQ"/>
          </a:p>
        </p:txBody>
      </p:sp>
      <p:sp>
        <p:nvSpPr>
          <p:cNvPr id="25" name="Rectangle 24">
            <a:extLst>
              <a:ext uri="{FF2B5EF4-FFF2-40B4-BE49-F238E27FC236}">
                <a16:creationId xmlns:a16="http://schemas.microsoft.com/office/drawing/2014/main" id="{8E0B7A55-465F-4F98-BEB0-7E9F1D8B0DA4}"/>
              </a:ext>
            </a:extLst>
          </p:cNvPr>
          <p:cNvSpPr>
            <a:spLocks noGrp="1"/>
          </p:cNvSpPr>
          <p:nvPr/>
        </p:nvSpPr>
        <p:spPr>
          <a:xfrm>
            <a:off x="7353300" y="3190875"/>
            <a:ext cx="1485900" cy="5143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8</a:t>
            </a:r>
          </a:p>
        </p:txBody>
      </p:sp>
      <p:sp>
        <p:nvSpPr>
          <p:cNvPr id="26" name="Rectangle 25">
            <a:extLst>
              <a:ext uri="{FF2B5EF4-FFF2-40B4-BE49-F238E27FC236}">
                <a16:creationId xmlns:a16="http://schemas.microsoft.com/office/drawing/2014/main" id="{80531A77-F353-4DD1-BB0F-6A4304A321C5}"/>
              </a:ext>
            </a:extLst>
          </p:cNvPr>
          <p:cNvSpPr>
            <a:spLocks noGrp="1"/>
          </p:cNvSpPr>
          <p:nvPr/>
        </p:nvSpPr>
        <p:spPr>
          <a:xfrm>
            <a:off x="8905875" y="3152775"/>
            <a:ext cx="1905000" cy="590550"/>
          </a:xfrm>
          <a:prstGeom prst="rect">
            <a:avLst/>
          </a:prstGeom>
          <a:solidFill>
            <a:srgbClr val="E9EEEC"/>
          </a:solidFill>
          <a:ln w="9525">
            <a:solidFill>
              <a:srgbClr val="CED9DB"/>
            </a:solidFill>
            <a:prstDash val="solid"/>
          </a:ln>
        </p:spPr>
        <p:txBody>
          <a:bodyPr/>
          <a:lstStyle/>
          <a:p>
            <a:endParaRPr lang="en-IQ"/>
          </a:p>
        </p:txBody>
      </p:sp>
      <p:sp>
        <p:nvSpPr>
          <p:cNvPr id="27" name="Rectangle 26">
            <a:extLst>
              <a:ext uri="{FF2B5EF4-FFF2-40B4-BE49-F238E27FC236}">
                <a16:creationId xmlns:a16="http://schemas.microsoft.com/office/drawing/2014/main" id="{7BFAC8C3-7C79-4E00-A056-975B11E56997}"/>
              </a:ext>
            </a:extLst>
          </p:cNvPr>
          <p:cNvSpPr>
            <a:spLocks noGrp="1"/>
          </p:cNvSpPr>
          <p:nvPr/>
        </p:nvSpPr>
        <p:spPr>
          <a:xfrm>
            <a:off x="8972550" y="3190875"/>
            <a:ext cx="1771650" cy="5143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feasible</a:t>
            </a:r>
          </a:p>
        </p:txBody>
      </p:sp>
      <p:sp>
        <p:nvSpPr>
          <p:cNvPr id="28" name="Rectangle 27">
            <a:extLst>
              <a:ext uri="{FF2B5EF4-FFF2-40B4-BE49-F238E27FC236}">
                <a16:creationId xmlns:a16="http://schemas.microsoft.com/office/drawing/2014/main" id="{D4CDB18E-CA0C-4D89-819D-5A839E95751D}"/>
              </a:ext>
            </a:extLst>
          </p:cNvPr>
          <p:cNvSpPr>
            <a:spLocks noGrp="1"/>
          </p:cNvSpPr>
          <p:nvPr/>
        </p:nvSpPr>
        <p:spPr>
          <a:xfrm>
            <a:off x="904875" y="3743325"/>
            <a:ext cx="1428750" cy="590550"/>
          </a:xfrm>
          <a:prstGeom prst="rect">
            <a:avLst/>
          </a:prstGeom>
          <a:solidFill>
            <a:srgbClr val="FFFFFF"/>
          </a:solidFill>
          <a:ln w="9525">
            <a:solidFill>
              <a:srgbClr val="CED9DB"/>
            </a:solidFill>
            <a:prstDash val="solid"/>
          </a:ln>
        </p:spPr>
        <p:txBody>
          <a:bodyPr/>
          <a:lstStyle/>
          <a:p>
            <a:endParaRPr lang="en-IQ"/>
          </a:p>
        </p:txBody>
      </p:sp>
      <p:sp>
        <p:nvSpPr>
          <p:cNvPr id="29" name="Rectangle 28">
            <a:extLst>
              <a:ext uri="{FF2B5EF4-FFF2-40B4-BE49-F238E27FC236}">
                <a16:creationId xmlns:a16="http://schemas.microsoft.com/office/drawing/2014/main" id="{5DEA57FA-0AAC-4BC0-A2FB-455795E0B7BC}"/>
              </a:ext>
            </a:extLst>
          </p:cNvPr>
          <p:cNvSpPr>
            <a:spLocks noGrp="1"/>
          </p:cNvSpPr>
          <p:nvPr/>
        </p:nvSpPr>
        <p:spPr>
          <a:xfrm>
            <a:off x="971550" y="3781425"/>
            <a:ext cx="1295400" cy="514350"/>
          </a:xfrm>
          <a:prstGeom prst="rect">
            <a:avLst/>
          </a:prstGeom>
          <a:noFill/>
          <a:ln w="0">
            <a:noFill/>
            <a:prstDash val="solid"/>
          </a:ln>
        </p:spPr>
        <p:txBody>
          <a:bodyPr anchor="ctr"/>
          <a:lstStyle/>
          <a:p>
            <a:pPr algn="ctr">
              <a:defRPr sz="1350" b="1">
                <a:solidFill>
                  <a:srgbClr val="0B9B91"/>
                </a:solidFill>
              </a:defRPr>
            </a:pPr>
            <a:r>
              <a:rPr sz="1350" b="1">
                <a:solidFill>
                  <a:srgbClr val="0B9B91"/>
                </a:solidFill>
              </a:rPr>
              <a:t>N2</a:t>
            </a:r>
          </a:p>
        </p:txBody>
      </p:sp>
      <p:sp>
        <p:nvSpPr>
          <p:cNvPr id="30" name="Rectangle 29">
            <a:extLst>
              <a:ext uri="{FF2B5EF4-FFF2-40B4-BE49-F238E27FC236}">
                <a16:creationId xmlns:a16="http://schemas.microsoft.com/office/drawing/2014/main" id="{F82BA8B5-5289-49C9-82C3-7A322758798E}"/>
              </a:ext>
            </a:extLst>
          </p:cNvPr>
          <p:cNvSpPr>
            <a:spLocks noGrp="1"/>
          </p:cNvSpPr>
          <p:nvPr/>
        </p:nvSpPr>
        <p:spPr>
          <a:xfrm>
            <a:off x="2333625" y="3743325"/>
            <a:ext cx="3524250" cy="590550"/>
          </a:xfrm>
          <a:prstGeom prst="rect">
            <a:avLst/>
          </a:prstGeom>
          <a:solidFill>
            <a:srgbClr val="FFFFFF"/>
          </a:solidFill>
          <a:ln w="9525">
            <a:solidFill>
              <a:srgbClr val="CED9DB"/>
            </a:solidFill>
            <a:prstDash val="solid"/>
          </a:ln>
        </p:spPr>
        <p:txBody>
          <a:bodyPr/>
          <a:lstStyle/>
          <a:p>
            <a:endParaRPr lang="en-IQ"/>
          </a:p>
        </p:txBody>
      </p:sp>
      <p:sp>
        <p:nvSpPr>
          <p:cNvPr id="31" name="Rectangle 30">
            <a:extLst>
              <a:ext uri="{FF2B5EF4-FFF2-40B4-BE49-F238E27FC236}">
                <a16:creationId xmlns:a16="http://schemas.microsoft.com/office/drawing/2014/main" id="{B16F64FB-879E-449F-ADF0-79B811A55631}"/>
              </a:ext>
            </a:extLst>
          </p:cNvPr>
          <p:cNvSpPr>
            <a:spLocks noGrp="1"/>
          </p:cNvSpPr>
          <p:nvPr/>
        </p:nvSpPr>
        <p:spPr>
          <a:xfrm>
            <a:off x="2400300" y="3781425"/>
            <a:ext cx="3390900" cy="5143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S2, S6</a:t>
            </a:r>
          </a:p>
        </p:txBody>
      </p:sp>
      <p:sp>
        <p:nvSpPr>
          <p:cNvPr id="32" name="Rectangle 31">
            <a:extLst>
              <a:ext uri="{FF2B5EF4-FFF2-40B4-BE49-F238E27FC236}">
                <a16:creationId xmlns:a16="http://schemas.microsoft.com/office/drawing/2014/main" id="{8BE12E02-DD00-4BDB-976D-F9BCD1468ADE}"/>
              </a:ext>
            </a:extLst>
          </p:cNvPr>
          <p:cNvSpPr>
            <a:spLocks noGrp="1"/>
          </p:cNvSpPr>
          <p:nvPr/>
        </p:nvSpPr>
        <p:spPr>
          <a:xfrm>
            <a:off x="5857875" y="3743325"/>
            <a:ext cx="1428750" cy="590550"/>
          </a:xfrm>
          <a:prstGeom prst="rect">
            <a:avLst/>
          </a:prstGeom>
          <a:solidFill>
            <a:srgbClr val="FFFFFF"/>
          </a:solidFill>
          <a:ln w="9525">
            <a:solidFill>
              <a:srgbClr val="CED9DB"/>
            </a:solidFill>
            <a:prstDash val="solid"/>
          </a:ln>
        </p:spPr>
        <p:txBody>
          <a:bodyPr/>
          <a:lstStyle/>
          <a:p>
            <a:endParaRPr lang="en-IQ"/>
          </a:p>
        </p:txBody>
      </p:sp>
      <p:sp>
        <p:nvSpPr>
          <p:cNvPr id="33" name="Rectangle 32">
            <a:extLst>
              <a:ext uri="{FF2B5EF4-FFF2-40B4-BE49-F238E27FC236}">
                <a16:creationId xmlns:a16="http://schemas.microsoft.com/office/drawing/2014/main" id="{1DE39E53-A667-4153-9AF3-FD9F8999D162}"/>
              </a:ext>
            </a:extLst>
          </p:cNvPr>
          <p:cNvSpPr>
            <a:spLocks noGrp="1"/>
          </p:cNvSpPr>
          <p:nvPr/>
        </p:nvSpPr>
        <p:spPr>
          <a:xfrm>
            <a:off x="5924550" y="3781425"/>
            <a:ext cx="1295400" cy="5143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5</a:t>
            </a:r>
          </a:p>
        </p:txBody>
      </p:sp>
      <p:sp>
        <p:nvSpPr>
          <p:cNvPr id="34" name="Rectangle 33">
            <a:extLst>
              <a:ext uri="{FF2B5EF4-FFF2-40B4-BE49-F238E27FC236}">
                <a16:creationId xmlns:a16="http://schemas.microsoft.com/office/drawing/2014/main" id="{E5280C40-E6A6-468D-9FBF-CCFA572FB134}"/>
              </a:ext>
            </a:extLst>
          </p:cNvPr>
          <p:cNvSpPr>
            <a:spLocks noGrp="1"/>
          </p:cNvSpPr>
          <p:nvPr/>
        </p:nvSpPr>
        <p:spPr>
          <a:xfrm>
            <a:off x="7286625" y="3743325"/>
            <a:ext cx="1619250" cy="590550"/>
          </a:xfrm>
          <a:prstGeom prst="rect">
            <a:avLst/>
          </a:prstGeom>
          <a:solidFill>
            <a:srgbClr val="FFFFFF"/>
          </a:solidFill>
          <a:ln w="9525">
            <a:solidFill>
              <a:srgbClr val="CED9DB"/>
            </a:solidFill>
            <a:prstDash val="solid"/>
          </a:ln>
        </p:spPr>
        <p:txBody>
          <a:bodyPr/>
          <a:lstStyle/>
          <a:p>
            <a:endParaRPr lang="en-IQ"/>
          </a:p>
        </p:txBody>
      </p:sp>
      <p:sp>
        <p:nvSpPr>
          <p:cNvPr id="35" name="Rectangle 34">
            <a:extLst>
              <a:ext uri="{FF2B5EF4-FFF2-40B4-BE49-F238E27FC236}">
                <a16:creationId xmlns:a16="http://schemas.microsoft.com/office/drawing/2014/main" id="{3CD23E82-DE0B-4DCC-9EE5-8C24CE691B54}"/>
              </a:ext>
            </a:extLst>
          </p:cNvPr>
          <p:cNvSpPr>
            <a:spLocks noGrp="1"/>
          </p:cNvSpPr>
          <p:nvPr/>
        </p:nvSpPr>
        <p:spPr>
          <a:xfrm>
            <a:off x="7353300" y="3781425"/>
            <a:ext cx="1485900" cy="5143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8</a:t>
            </a:r>
          </a:p>
        </p:txBody>
      </p:sp>
      <p:sp>
        <p:nvSpPr>
          <p:cNvPr id="36" name="Rectangle 35">
            <a:extLst>
              <a:ext uri="{FF2B5EF4-FFF2-40B4-BE49-F238E27FC236}">
                <a16:creationId xmlns:a16="http://schemas.microsoft.com/office/drawing/2014/main" id="{3F628187-7F32-45C3-9F9A-F136222612F2}"/>
              </a:ext>
            </a:extLst>
          </p:cNvPr>
          <p:cNvSpPr>
            <a:spLocks noGrp="1"/>
          </p:cNvSpPr>
          <p:nvPr/>
        </p:nvSpPr>
        <p:spPr>
          <a:xfrm>
            <a:off x="8905875" y="3743325"/>
            <a:ext cx="1905000" cy="590550"/>
          </a:xfrm>
          <a:prstGeom prst="rect">
            <a:avLst/>
          </a:prstGeom>
          <a:solidFill>
            <a:srgbClr val="FFFFFF"/>
          </a:solidFill>
          <a:ln w="9525">
            <a:solidFill>
              <a:srgbClr val="CED9DB"/>
            </a:solidFill>
            <a:prstDash val="solid"/>
          </a:ln>
        </p:spPr>
        <p:txBody>
          <a:bodyPr/>
          <a:lstStyle/>
          <a:p>
            <a:endParaRPr lang="en-IQ"/>
          </a:p>
        </p:txBody>
      </p:sp>
      <p:sp>
        <p:nvSpPr>
          <p:cNvPr id="37" name="Rectangle 36">
            <a:extLst>
              <a:ext uri="{FF2B5EF4-FFF2-40B4-BE49-F238E27FC236}">
                <a16:creationId xmlns:a16="http://schemas.microsoft.com/office/drawing/2014/main" id="{3327BD0B-D7B5-4F4E-82FC-0B11B4B5F19F}"/>
              </a:ext>
            </a:extLst>
          </p:cNvPr>
          <p:cNvSpPr>
            <a:spLocks noGrp="1"/>
          </p:cNvSpPr>
          <p:nvPr/>
        </p:nvSpPr>
        <p:spPr>
          <a:xfrm>
            <a:off x="8972550" y="3781425"/>
            <a:ext cx="1771650" cy="5143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feasible</a:t>
            </a:r>
          </a:p>
        </p:txBody>
      </p:sp>
      <p:sp>
        <p:nvSpPr>
          <p:cNvPr id="38" name="Rectangle 37">
            <a:extLst>
              <a:ext uri="{FF2B5EF4-FFF2-40B4-BE49-F238E27FC236}">
                <a16:creationId xmlns:a16="http://schemas.microsoft.com/office/drawing/2014/main" id="{91405CAB-8CE8-45A8-8960-2F088D3DCFA9}"/>
              </a:ext>
            </a:extLst>
          </p:cNvPr>
          <p:cNvSpPr>
            <a:spLocks noGrp="1"/>
          </p:cNvSpPr>
          <p:nvPr/>
        </p:nvSpPr>
        <p:spPr>
          <a:xfrm>
            <a:off x="904875" y="4333875"/>
            <a:ext cx="1428750" cy="590550"/>
          </a:xfrm>
          <a:prstGeom prst="rect">
            <a:avLst/>
          </a:prstGeom>
          <a:solidFill>
            <a:srgbClr val="E9EEEC"/>
          </a:solidFill>
          <a:ln w="9525">
            <a:solidFill>
              <a:srgbClr val="CED9DB"/>
            </a:solidFill>
            <a:prstDash val="solid"/>
          </a:ln>
        </p:spPr>
        <p:txBody>
          <a:bodyPr/>
          <a:lstStyle/>
          <a:p>
            <a:endParaRPr lang="en-IQ"/>
          </a:p>
        </p:txBody>
      </p:sp>
      <p:sp>
        <p:nvSpPr>
          <p:cNvPr id="39" name="Rectangle 38">
            <a:extLst>
              <a:ext uri="{FF2B5EF4-FFF2-40B4-BE49-F238E27FC236}">
                <a16:creationId xmlns:a16="http://schemas.microsoft.com/office/drawing/2014/main" id="{B5263AF4-7188-4FAC-8ADE-04229C04F0C8}"/>
              </a:ext>
            </a:extLst>
          </p:cNvPr>
          <p:cNvSpPr>
            <a:spLocks noGrp="1"/>
          </p:cNvSpPr>
          <p:nvPr/>
        </p:nvSpPr>
        <p:spPr>
          <a:xfrm>
            <a:off x="971550" y="4371975"/>
            <a:ext cx="1295400" cy="514350"/>
          </a:xfrm>
          <a:prstGeom prst="rect">
            <a:avLst/>
          </a:prstGeom>
          <a:noFill/>
          <a:ln w="0">
            <a:noFill/>
            <a:prstDash val="solid"/>
          </a:ln>
        </p:spPr>
        <p:txBody>
          <a:bodyPr anchor="ctr"/>
          <a:lstStyle/>
          <a:p>
            <a:pPr algn="ctr">
              <a:defRPr sz="1350" b="1">
                <a:solidFill>
                  <a:srgbClr val="0B9B91"/>
                </a:solidFill>
              </a:defRPr>
            </a:pPr>
            <a:r>
              <a:rPr sz="1350" b="1">
                <a:solidFill>
                  <a:srgbClr val="0B9B91"/>
                </a:solidFill>
              </a:rPr>
              <a:t>N3</a:t>
            </a:r>
          </a:p>
        </p:txBody>
      </p:sp>
      <p:sp>
        <p:nvSpPr>
          <p:cNvPr id="40" name="Rectangle 39">
            <a:extLst>
              <a:ext uri="{FF2B5EF4-FFF2-40B4-BE49-F238E27FC236}">
                <a16:creationId xmlns:a16="http://schemas.microsoft.com/office/drawing/2014/main" id="{C82E3E77-BB14-43FB-A89A-B7B3BF9E475F}"/>
              </a:ext>
            </a:extLst>
          </p:cNvPr>
          <p:cNvSpPr>
            <a:spLocks noGrp="1"/>
          </p:cNvSpPr>
          <p:nvPr/>
        </p:nvSpPr>
        <p:spPr>
          <a:xfrm>
            <a:off x="2333625" y="4333875"/>
            <a:ext cx="3524250" cy="590550"/>
          </a:xfrm>
          <a:prstGeom prst="rect">
            <a:avLst/>
          </a:prstGeom>
          <a:solidFill>
            <a:srgbClr val="E9EEEC"/>
          </a:solidFill>
          <a:ln w="9525">
            <a:solidFill>
              <a:srgbClr val="CED9DB"/>
            </a:solidFill>
            <a:prstDash val="solid"/>
          </a:ln>
        </p:spPr>
        <p:txBody>
          <a:bodyPr/>
          <a:lstStyle/>
          <a:p>
            <a:endParaRPr lang="en-IQ"/>
          </a:p>
        </p:txBody>
      </p:sp>
      <p:sp>
        <p:nvSpPr>
          <p:cNvPr id="41" name="Rectangle 40">
            <a:extLst>
              <a:ext uri="{FF2B5EF4-FFF2-40B4-BE49-F238E27FC236}">
                <a16:creationId xmlns:a16="http://schemas.microsoft.com/office/drawing/2014/main" id="{48000B7E-4BA5-401C-8442-E08CBB28D8A4}"/>
              </a:ext>
            </a:extLst>
          </p:cNvPr>
          <p:cNvSpPr>
            <a:spLocks noGrp="1"/>
          </p:cNvSpPr>
          <p:nvPr/>
        </p:nvSpPr>
        <p:spPr>
          <a:xfrm>
            <a:off x="2400300" y="4371975"/>
            <a:ext cx="3390900" cy="5143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S3, S7</a:t>
            </a:r>
          </a:p>
        </p:txBody>
      </p:sp>
      <p:sp>
        <p:nvSpPr>
          <p:cNvPr id="42" name="Rectangle 41">
            <a:extLst>
              <a:ext uri="{FF2B5EF4-FFF2-40B4-BE49-F238E27FC236}">
                <a16:creationId xmlns:a16="http://schemas.microsoft.com/office/drawing/2014/main" id="{D21E9C8C-B767-42BE-83A9-27939CB44669}"/>
              </a:ext>
            </a:extLst>
          </p:cNvPr>
          <p:cNvSpPr>
            <a:spLocks noGrp="1"/>
          </p:cNvSpPr>
          <p:nvPr/>
        </p:nvSpPr>
        <p:spPr>
          <a:xfrm>
            <a:off x="5857875" y="4333875"/>
            <a:ext cx="1428750" cy="590550"/>
          </a:xfrm>
          <a:prstGeom prst="rect">
            <a:avLst/>
          </a:prstGeom>
          <a:solidFill>
            <a:srgbClr val="E9EEEC"/>
          </a:solidFill>
          <a:ln w="9525">
            <a:solidFill>
              <a:srgbClr val="CED9DB"/>
            </a:solidFill>
            <a:prstDash val="solid"/>
          </a:ln>
        </p:spPr>
        <p:txBody>
          <a:bodyPr/>
          <a:lstStyle/>
          <a:p>
            <a:endParaRPr lang="en-IQ"/>
          </a:p>
        </p:txBody>
      </p:sp>
      <p:sp>
        <p:nvSpPr>
          <p:cNvPr id="43" name="Rectangle 42">
            <a:extLst>
              <a:ext uri="{FF2B5EF4-FFF2-40B4-BE49-F238E27FC236}">
                <a16:creationId xmlns:a16="http://schemas.microsoft.com/office/drawing/2014/main" id="{1D8169B8-8399-4795-80F9-63EB0FD20572}"/>
              </a:ext>
            </a:extLst>
          </p:cNvPr>
          <p:cNvSpPr>
            <a:spLocks noGrp="1"/>
          </p:cNvSpPr>
          <p:nvPr/>
        </p:nvSpPr>
        <p:spPr>
          <a:xfrm>
            <a:off x="5924550" y="4371975"/>
            <a:ext cx="1295400" cy="5143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6</a:t>
            </a:r>
          </a:p>
        </p:txBody>
      </p:sp>
      <p:sp>
        <p:nvSpPr>
          <p:cNvPr id="44" name="Rectangle 43">
            <a:extLst>
              <a:ext uri="{FF2B5EF4-FFF2-40B4-BE49-F238E27FC236}">
                <a16:creationId xmlns:a16="http://schemas.microsoft.com/office/drawing/2014/main" id="{F334EF18-4D96-4241-8428-DBD943C9F9CD}"/>
              </a:ext>
            </a:extLst>
          </p:cNvPr>
          <p:cNvSpPr>
            <a:spLocks noGrp="1"/>
          </p:cNvSpPr>
          <p:nvPr/>
        </p:nvSpPr>
        <p:spPr>
          <a:xfrm>
            <a:off x="7286625" y="4333875"/>
            <a:ext cx="1619250" cy="590550"/>
          </a:xfrm>
          <a:prstGeom prst="rect">
            <a:avLst/>
          </a:prstGeom>
          <a:solidFill>
            <a:srgbClr val="E9EEEC"/>
          </a:solidFill>
          <a:ln w="9525">
            <a:solidFill>
              <a:srgbClr val="CED9DB"/>
            </a:solidFill>
            <a:prstDash val="solid"/>
          </a:ln>
        </p:spPr>
        <p:txBody>
          <a:bodyPr/>
          <a:lstStyle/>
          <a:p>
            <a:endParaRPr lang="en-IQ"/>
          </a:p>
        </p:txBody>
      </p:sp>
      <p:sp>
        <p:nvSpPr>
          <p:cNvPr id="45" name="Rectangle 44">
            <a:extLst>
              <a:ext uri="{FF2B5EF4-FFF2-40B4-BE49-F238E27FC236}">
                <a16:creationId xmlns:a16="http://schemas.microsoft.com/office/drawing/2014/main" id="{3C344FF5-AAEF-4A98-9D2B-068061D0A282}"/>
              </a:ext>
            </a:extLst>
          </p:cNvPr>
          <p:cNvSpPr>
            <a:spLocks noGrp="1"/>
          </p:cNvSpPr>
          <p:nvPr/>
        </p:nvSpPr>
        <p:spPr>
          <a:xfrm>
            <a:off x="7353300" y="4371975"/>
            <a:ext cx="1485900" cy="5143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7</a:t>
            </a:r>
          </a:p>
        </p:txBody>
      </p:sp>
      <p:sp>
        <p:nvSpPr>
          <p:cNvPr id="46" name="Rectangle 45">
            <a:extLst>
              <a:ext uri="{FF2B5EF4-FFF2-40B4-BE49-F238E27FC236}">
                <a16:creationId xmlns:a16="http://schemas.microsoft.com/office/drawing/2014/main" id="{D5C1A945-7FF1-4021-80EB-67748EDFEEE8}"/>
              </a:ext>
            </a:extLst>
          </p:cNvPr>
          <p:cNvSpPr>
            <a:spLocks noGrp="1"/>
          </p:cNvSpPr>
          <p:nvPr/>
        </p:nvSpPr>
        <p:spPr>
          <a:xfrm>
            <a:off x="8905875" y="4333875"/>
            <a:ext cx="1905000" cy="590550"/>
          </a:xfrm>
          <a:prstGeom prst="rect">
            <a:avLst/>
          </a:prstGeom>
          <a:solidFill>
            <a:srgbClr val="E9EEEC"/>
          </a:solidFill>
          <a:ln w="9525">
            <a:solidFill>
              <a:srgbClr val="CED9DB"/>
            </a:solidFill>
            <a:prstDash val="solid"/>
          </a:ln>
        </p:spPr>
        <p:txBody>
          <a:bodyPr/>
          <a:lstStyle/>
          <a:p>
            <a:endParaRPr lang="en-IQ"/>
          </a:p>
        </p:txBody>
      </p:sp>
      <p:sp>
        <p:nvSpPr>
          <p:cNvPr id="47" name="Rectangle 46">
            <a:extLst>
              <a:ext uri="{FF2B5EF4-FFF2-40B4-BE49-F238E27FC236}">
                <a16:creationId xmlns:a16="http://schemas.microsoft.com/office/drawing/2014/main" id="{17CE947E-B8DF-440F-BDB3-5887A8080B39}"/>
              </a:ext>
            </a:extLst>
          </p:cNvPr>
          <p:cNvSpPr>
            <a:spLocks noGrp="1"/>
          </p:cNvSpPr>
          <p:nvPr/>
        </p:nvSpPr>
        <p:spPr>
          <a:xfrm>
            <a:off x="8972550" y="4371975"/>
            <a:ext cx="1771650" cy="5143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feasible</a:t>
            </a:r>
          </a:p>
        </p:txBody>
      </p:sp>
      <p:sp>
        <p:nvSpPr>
          <p:cNvPr id="48" name="Rectangle 47">
            <a:extLst>
              <a:ext uri="{FF2B5EF4-FFF2-40B4-BE49-F238E27FC236}">
                <a16:creationId xmlns:a16="http://schemas.microsoft.com/office/drawing/2014/main" id="{0093E2F9-4D0C-40BB-868F-A7A69851C4BA}"/>
              </a:ext>
            </a:extLst>
          </p:cNvPr>
          <p:cNvSpPr>
            <a:spLocks noGrp="1"/>
          </p:cNvSpPr>
          <p:nvPr/>
        </p:nvSpPr>
        <p:spPr>
          <a:xfrm>
            <a:off x="904875" y="4924425"/>
            <a:ext cx="1428750" cy="590550"/>
          </a:xfrm>
          <a:prstGeom prst="rect">
            <a:avLst/>
          </a:prstGeom>
          <a:solidFill>
            <a:srgbClr val="FFFFFF"/>
          </a:solidFill>
          <a:ln w="9525">
            <a:solidFill>
              <a:srgbClr val="CED9DB"/>
            </a:solidFill>
            <a:prstDash val="solid"/>
          </a:ln>
        </p:spPr>
        <p:txBody>
          <a:bodyPr/>
          <a:lstStyle/>
          <a:p>
            <a:endParaRPr lang="en-IQ"/>
          </a:p>
        </p:txBody>
      </p:sp>
      <p:sp>
        <p:nvSpPr>
          <p:cNvPr id="49" name="Rectangle 48">
            <a:extLst>
              <a:ext uri="{FF2B5EF4-FFF2-40B4-BE49-F238E27FC236}">
                <a16:creationId xmlns:a16="http://schemas.microsoft.com/office/drawing/2014/main" id="{1CF1715F-2663-475B-A0D9-FE9D0156E791}"/>
              </a:ext>
            </a:extLst>
          </p:cNvPr>
          <p:cNvSpPr>
            <a:spLocks noGrp="1"/>
          </p:cNvSpPr>
          <p:nvPr/>
        </p:nvSpPr>
        <p:spPr>
          <a:xfrm>
            <a:off x="971550" y="4962525"/>
            <a:ext cx="1295400" cy="514350"/>
          </a:xfrm>
          <a:prstGeom prst="rect">
            <a:avLst/>
          </a:prstGeom>
          <a:noFill/>
          <a:ln w="0">
            <a:noFill/>
            <a:prstDash val="solid"/>
          </a:ln>
        </p:spPr>
        <p:txBody>
          <a:bodyPr anchor="ctr"/>
          <a:lstStyle/>
          <a:p>
            <a:pPr algn="ctr">
              <a:defRPr sz="1350" b="1">
                <a:solidFill>
                  <a:srgbClr val="0B9B91"/>
                </a:solidFill>
              </a:defRPr>
            </a:pPr>
            <a:r>
              <a:rPr sz="1350" b="1">
                <a:solidFill>
                  <a:srgbClr val="0B9B91"/>
                </a:solidFill>
              </a:rPr>
              <a:t>N4</a:t>
            </a:r>
          </a:p>
        </p:txBody>
      </p:sp>
      <p:sp>
        <p:nvSpPr>
          <p:cNvPr id="50" name="Rectangle 49">
            <a:extLst>
              <a:ext uri="{FF2B5EF4-FFF2-40B4-BE49-F238E27FC236}">
                <a16:creationId xmlns:a16="http://schemas.microsoft.com/office/drawing/2014/main" id="{888B3EFF-9448-4A74-966F-61A7E80CCF07}"/>
              </a:ext>
            </a:extLst>
          </p:cNvPr>
          <p:cNvSpPr>
            <a:spLocks noGrp="1"/>
          </p:cNvSpPr>
          <p:nvPr/>
        </p:nvSpPr>
        <p:spPr>
          <a:xfrm>
            <a:off x="2333625" y="4924425"/>
            <a:ext cx="3524250" cy="590550"/>
          </a:xfrm>
          <a:prstGeom prst="rect">
            <a:avLst/>
          </a:prstGeom>
          <a:solidFill>
            <a:srgbClr val="FFFFFF"/>
          </a:solidFill>
          <a:ln w="9525">
            <a:solidFill>
              <a:srgbClr val="CED9DB"/>
            </a:solidFill>
            <a:prstDash val="solid"/>
          </a:ln>
        </p:spPr>
        <p:txBody>
          <a:bodyPr/>
          <a:lstStyle/>
          <a:p>
            <a:endParaRPr lang="en-IQ"/>
          </a:p>
        </p:txBody>
      </p:sp>
      <p:sp>
        <p:nvSpPr>
          <p:cNvPr id="51" name="Rectangle 50">
            <a:extLst>
              <a:ext uri="{FF2B5EF4-FFF2-40B4-BE49-F238E27FC236}">
                <a16:creationId xmlns:a16="http://schemas.microsoft.com/office/drawing/2014/main" id="{BA702E4A-A417-49F1-9404-D1CFD19A08DB}"/>
              </a:ext>
            </a:extLst>
          </p:cNvPr>
          <p:cNvSpPr>
            <a:spLocks noGrp="1"/>
          </p:cNvSpPr>
          <p:nvPr/>
        </p:nvSpPr>
        <p:spPr>
          <a:xfrm>
            <a:off x="2400300" y="4962525"/>
            <a:ext cx="3390900" cy="5143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S4, S8</a:t>
            </a:r>
          </a:p>
        </p:txBody>
      </p:sp>
      <p:sp>
        <p:nvSpPr>
          <p:cNvPr id="52" name="Rectangle 51">
            <a:extLst>
              <a:ext uri="{FF2B5EF4-FFF2-40B4-BE49-F238E27FC236}">
                <a16:creationId xmlns:a16="http://schemas.microsoft.com/office/drawing/2014/main" id="{AB62EB8D-8E8E-4B17-BBAF-93B7B7EBC4D7}"/>
              </a:ext>
            </a:extLst>
          </p:cNvPr>
          <p:cNvSpPr>
            <a:spLocks noGrp="1"/>
          </p:cNvSpPr>
          <p:nvPr/>
        </p:nvSpPr>
        <p:spPr>
          <a:xfrm>
            <a:off x="5857875" y="4924425"/>
            <a:ext cx="1428750" cy="590550"/>
          </a:xfrm>
          <a:prstGeom prst="rect">
            <a:avLst/>
          </a:prstGeom>
          <a:solidFill>
            <a:srgbClr val="FFFFFF"/>
          </a:solidFill>
          <a:ln w="9525">
            <a:solidFill>
              <a:srgbClr val="CED9DB"/>
            </a:solidFill>
            <a:prstDash val="solid"/>
          </a:ln>
        </p:spPr>
        <p:txBody>
          <a:bodyPr/>
          <a:lstStyle/>
          <a:p>
            <a:endParaRPr lang="en-IQ"/>
          </a:p>
        </p:txBody>
      </p:sp>
      <p:sp>
        <p:nvSpPr>
          <p:cNvPr id="53" name="Rectangle 52">
            <a:extLst>
              <a:ext uri="{FF2B5EF4-FFF2-40B4-BE49-F238E27FC236}">
                <a16:creationId xmlns:a16="http://schemas.microsoft.com/office/drawing/2014/main" id="{B9C50480-BC77-4C4A-A164-A10D100A4F44}"/>
              </a:ext>
            </a:extLst>
          </p:cNvPr>
          <p:cNvSpPr>
            <a:spLocks noGrp="1"/>
          </p:cNvSpPr>
          <p:nvPr/>
        </p:nvSpPr>
        <p:spPr>
          <a:xfrm>
            <a:off x="5924550" y="4962525"/>
            <a:ext cx="1295400" cy="5143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6</a:t>
            </a:r>
          </a:p>
        </p:txBody>
      </p:sp>
      <p:sp>
        <p:nvSpPr>
          <p:cNvPr id="54" name="Rectangle 53">
            <a:extLst>
              <a:ext uri="{FF2B5EF4-FFF2-40B4-BE49-F238E27FC236}">
                <a16:creationId xmlns:a16="http://schemas.microsoft.com/office/drawing/2014/main" id="{C244D607-2F46-4E35-8197-5202B9A39794}"/>
              </a:ext>
            </a:extLst>
          </p:cNvPr>
          <p:cNvSpPr>
            <a:spLocks noGrp="1"/>
          </p:cNvSpPr>
          <p:nvPr/>
        </p:nvSpPr>
        <p:spPr>
          <a:xfrm>
            <a:off x="7286625" y="4924425"/>
            <a:ext cx="1619250" cy="590550"/>
          </a:xfrm>
          <a:prstGeom prst="rect">
            <a:avLst/>
          </a:prstGeom>
          <a:solidFill>
            <a:srgbClr val="FFFFFF"/>
          </a:solidFill>
          <a:ln w="9525">
            <a:solidFill>
              <a:srgbClr val="CED9DB"/>
            </a:solidFill>
            <a:prstDash val="solid"/>
          </a:ln>
        </p:spPr>
        <p:txBody>
          <a:bodyPr/>
          <a:lstStyle/>
          <a:p>
            <a:endParaRPr lang="en-IQ"/>
          </a:p>
        </p:txBody>
      </p:sp>
      <p:sp>
        <p:nvSpPr>
          <p:cNvPr id="55" name="Rectangle 54">
            <a:extLst>
              <a:ext uri="{FF2B5EF4-FFF2-40B4-BE49-F238E27FC236}">
                <a16:creationId xmlns:a16="http://schemas.microsoft.com/office/drawing/2014/main" id="{5F71D423-ED55-4129-BB1D-911021D29B18}"/>
              </a:ext>
            </a:extLst>
          </p:cNvPr>
          <p:cNvSpPr>
            <a:spLocks noGrp="1"/>
          </p:cNvSpPr>
          <p:nvPr/>
        </p:nvSpPr>
        <p:spPr>
          <a:xfrm>
            <a:off x="7353300" y="4962525"/>
            <a:ext cx="1485900" cy="5143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9</a:t>
            </a:r>
          </a:p>
        </p:txBody>
      </p:sp>
      <p:sp>
        <p:nvSpPr>
          <p:cNvPr id="56" name="Rectangle 55">
            <a:extLst>
              <a:ext uri="{FF2B5EF4-FFF2-40B4-BE49-F238E27FC236}">
                <a16:creationId xmlns:a16="http://schemas.microsoft.com/office/drawing/2014/main" id="{33D50719-1B00-468B-B4FE-1C6638A1CCAA}"/>
              </a:ext>
            </a:extLst>
          </p:cNvPr>
          <p:cNvSpPr>
            <a:spLocks noGrp="1"/>
          </p:cNvSpPr>
          <p:nvPr/>
        </p:nvSpPr>
        <p:spPr>
          <a:xfrm>
            <a:off x="8905875" y="4924425"/>
            <a:ext cx="1905000" cy="590550"/>
          </a:xfrm>
          <a:prstGeom prst="rect">
            <a:avLst/>
          </a:prstGeom>
          <a:solidFill>
            <a:srgbClr val="FFFFFF"/>
          </a:solidFill>
          <a:ln w="9525">
            <a:solidFill>
              <a:srgbClr val="CED9DB"/>
            </a:solidFill>
            <a:prstDash val="solid"/>
          </a:ln>
        </p:spPr>
        <p:txBody>
          <a:bodyPr/>
          <a:lstStyle/>
          <a:p>
            <a:endParaRPr lang="en-IQ"/>
          </a:p>
        </p:txBody>
      </p:sp>
      <p:sp>
        <p:nvSpPr>
          <p:cNvPr id="57" name="Rectangle 56">
            <a:extLst>
              <a:ext uri="{FF2B5EF4-FFF2-40B4-BE49-F238E27FC236}">
                <a16:creationId xmlns:a16="http://schemas.microsoft.com/office/drawing/2014/main" id="{13DE4A2A-7305-492B-84B8-12DF33052A2B}"/>
              </a:ext>
            </a:extLst>
          </p:cNvPr>
          <p:cNvSpPr>
            <a:spLocks noGrp="1"/>
          </p:cNvSpPr>
          <p:nvPr/>
        </p:nvSpPr>
        <p:spPr>
          <a:xfrm>
            <a:off x="8972550" y="4962525"/>
            <a:ext cx="1771650" cy="5143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feasible</a:t>
            </a:r>
          </a:p>
        </p:txBody>
      </p:sp>
      <p:sp>
        <p:nvSpPr>
          <p:cNvPr id="58" name="Rectangle 57">
            <a:extLst>
              <a:ext uri="{FF2B5EF4-FFF2-40B4-BE49-F238E27FC236}">
                <a16:creationId xmlns:a16="http://schemas.microsoft.com/office/drawing/2014/main" id="{1A6D9FA1-D128-4509-9094-71D869B6572F}"/>
              </a:ext>
            </a:extLst>
          </p:cNvPr>
          <p:cNvSpPr>
            <a:spLocks noGrp="1"/>
          </p:cNvSpPr>
          <p:nvPr/>
        </p:nvSpPr>
        <p:spPr>
          <a:xfrm>
            <a:off x="2143125" y="5476875"/>
            <a:ext cx="2381250" cy="400050"/>
          </a:xfrm>
          <a:prstGeom prst="rect">
            <a:avLst/>
          </a:prstGeom>
          <a:noFill/>
          <a:ln w="0">
            <a:noFill/>
            <a:prstDash val="solid"/>
          </a:ln>
        </p:spPr>
        <p:txBody>
          <a:bodyPr anchor="ctr"/>
          <a:lstStyle/>
          <a:p>
            <a:pPr algn="ctr">
              <a:defRPr sz="1800" b="1">
                <a:solidFill>
                  <a:srgbClr val="0B9B91"/>
                </a:solidFill>
              </a:defRPr>
            </a:pPr>
            <a:r>
              <a:rPr sz="1800" b="1">
                <a:solidFill>
                  <a:srgbClr val="0B9B91"/>
                </a:solidFill>
              </a:rPr>
              <a:t>Latency = 30</a:t>
            </a:r>
          </a:p>
        </p:txBody>
      </p:sp>
      <p:sp>
        <p:nvSpPr>
          <p:cNvPr id="59" name="Rectangle 58">
            <a:extLst>
              <a:ext uri="{FF2B5EF4-FFF2-40B4-BE49-F238E27FC236}">
                <a16:creationId xmlns:a16="http://schemas.microsoft.com/office/drawing/2014/main" id="{68ACC440-DCAE-4D51-B047-701B4BDF4EDE}"/>
              </a:ext>
            </a:extLst>
          </p:cNvPr>
          <p:cNvSpPr>
            <a:spLocks noGrp="1"/>
          </p:cNvSpPr>
          <p:nvPr/>
        </p:nvSpPr>
        <p:spPr>
          <a:xfrm>
            <a:off x="4857750" y="5476875"/>
            <a:ext cx="3143250" cy="400050"/>
          </a:xfrm>
          <a:prstGeom prst="rect">
            <a:avLst/>
          </a:prstGeom>
          <a:noFill/>
          <a:ln w="0">
            <a:noFill/>
            <a:prstDash val="solid"/>
          </a:ln>
        </p:spPr>
        <p:txBody>
          <a:bodyPr anchor="ctr"/>
          <a:lstStyle/>
          <a:p>
            <a:pPr algn="ctr">
              <a:defRPr sz="1800" b="1">
                <a:solidFill>
                  <a:srgbClr val="2878B5"/>
                </a:solidFill>
              </a:defRPr>
            </a:pPr>
            <a:r>
              <a:rPr sz="1800" b="1">
                <a:solidFill>
                  <a:srgbClr val="2878B5"/>
                </a:solidFill>
              </a:rPr>
              <a:t>4 used servers × 5 = 20</a:t>
            </a:r>
          </a:p>
        </p:txBody>
      </p:sp>
      <p:sp>
        <p:nvSpPr>
          <p:cNvPr id="60" name="Rectangle 59">
            <a:extLst>
              <a:ext uri="{FF2B5EF4-FFF2-40B4-BE49-F238E27FC236}">
                <a16:creationId xmlns:a16="http://schemas.microsoft.com/office/drawing/2014/main" id="{F0700E92-683C-43D5-85B6-1CC91B379814}"/>
              </a:ext>
            </a:extLst>
          </p:cNvPr>
          <p:cNvSpPr>
            <a:spLocks noGrp="1"/>
          </p:cNvSpPr>
          <p:nvPr/>
        </p:nvSpPr>
        <p:spPr>
          <a:xfrm>
            <a:off x="8334375" y="5476875"/>
            <a:ext cx="2381250" cy="400050"/>
          </a:xfrm>
          <a:prstGeom prst="rect">
            <a:avLst/>
          </a:prstGeom>
          <a:noFill/>
          <a:ln w="0">
            <a:noFill/>
            <a:prstDash val="solid"/>
          </a:ln>
        </p:spPr>
        <p:txBody>
          <a:bodyPr anchor="ctr"/>
          <a:lstStyle/>
          <a:p>
            <a:pPr algn="ctr">
              <a:defRPr sz="1950" b="1">
                <a:solidFill>
                  <a:srgbClr val="F2A93B"/>
                </a:solidFill>
              </a:defRPr>
            </a:pPr>
            <a:r>
              <a:rPr sz="1950" b="1">
                <a:solidFill>
                  <a:srgbClr val="F2A93B"/>
                </a:solidFill>
              </a:rPr>
              <a:t>Objective = 50</a:t>
            </a:r>
          </a:p>
        </p:txBody>
      </p:sp>
    </p:spTree>
    <p:extLst>
      <p:ext uri="{BB962C8B-B14F-4D97-AF65-F5344CB8AC3E}">
        <p14:creationId xmlns:p14="http://schemas.microsoft.com/office/powerpoint/2010/main" val="1260975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C05D22B9-3E2D-423D-A9C9-F05E2C852FA4}"/>
              </a:ext>
            </a:extLst>
          </p:cNvPr>
          <p:cNvSpPr>
            <a:spLocks noGrp="1"/>
          </p:cNvSpPr>
          <p:nvPr/>
        </p:nvSpPr>
        <p:spPr>
          <a:xfrm>
            <a:off x="609600" y="285750"/>
            <a:ext cx="64770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EXACT BASELINE</a:t>
            </a:r>
          </a:p>
        </p:txBody>
      </p:sp>
      <p:sp>
        <p:nvSpPr>
          <p:cNvPr id="2" name="Rectangle 1">
            <a:extLst>
              <a:ext uri="{FF2B5EF4-FFF2-40B4-BE49-F238E27FC236}">
                <a16:creationId xmlns:a16="http://schemas.microsoft.com/office/drawing/2014/main" id="{A36CECC7-6830-4EA3-80C6-906C4E62B1D3}"/>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Exhaustive search is simple—and computationally demanding</a:t>
            </a:r>
          </a:p>
        </p:txBody>
      </p:sp>
      <p:sp>
        <p:nvSpPr>
          <p:cNvPr id="3" name="Rectangle 2">
            <a:extLst>
              <a:ext uri="{FF2B5EF4-FFF2-40B4-BE49-F238E27FC236}">
                <a16:creationId xmlns:a16="http://schemas.microsoft.com/office/drawing/2014/main" id="{44FF0A6E-090C-4742-8353-762C7AD0A16A}"/>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70C9DA74-8ADF-4A36-92E4-2CFD431003CA}"/>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2</a:t>
            </a:r>
          </a:p>
        </p:txBody>
      </p:sp>
      <p:sp>
        <p:nvSpPr>
          <p:cNvPr id="5" name="Rectangle 4">
            <a:extLst>
              <a:ext uri="{FF2B5EF4-FFF2-40B4-BE49-F238E27FC236}">
                <a16:creationId xmlns:a16="http://schemas.microsoft.com/office/drawing/2014/main" id="{E55D2783-A429-4B89-8ACB-5C4507A86A74}"/>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10</a:t>
            </a:r>
          </a:p>
        </p:txBody>
      </p:sp>
      <p:sp>
        <p:nvSpPr>
          <p:cNvPr id="6" name="Rounded Rectangle 5">
            <a:extLst>
              <a:ext uri="{FF2B5EF4-FFF2-40B4-BE49-F238E27FC236}">
                <a16:creationId xmlns:a16="http://schemas.microsoft.com/office/drawing/2014/main" id="{99A5F101-BF6C-4EA5-9AB4-49EEB53C3B0E}"/>
              </a:ext>
            </a:extLst>
          </p:cNvPr>
          <p:cNvSpPr>
            <a:spLocks noGrp="1"/>
          </p:cNvSpPr>
          <p:nvPr/>
        </p:nvSpPr>
        <p:spPr>
          <a:xfrm>
            <a:off x="809625" y="1619250"/>
            <a:ext cx="5143500" cy="3619500"/>
          </a:xfrm>
          <a:prstGeom prst="roundRect">
            <a:avLst>
              <a:gd name="adj" fmla="val 2105"/>
            </a:avLst>
          </a:prstGeom>
          <a:solidFill>
            <a:srgbClr val="071C28"/>
          </a:solidFill>
          <a:ln w="0">
            <a:solidFill>
              <a:srgbClr val="071C28"/>
            </a:solidFill>
            <a:prstDash val="solid"/>
          </a:ln>
        </p:spPr>
        <p:txBody>
          <a:bodyPr/>
          <a:lstStyle/>
          <a:p>
            <a:endParaRPr lang="en-IQ"/>
          </a:p>
        </p:txBody>
      </p:sp>
      <p:sp>
        <p:nvSpPr>
          <p:cNvPr id="7" name="Rectangle 6">
            <a:extLst>
              <a:ext uri="{FF2B5EF4-FFF2-40B4-BE49-F238E27FC236}">
                <a16:creationId xmlns:a16="http://schemas.microsoft.com/office/drawing/2014/main" id="{F02E5F66-BF20-44A3-B703-C69AC2C45086}"/>
              </a:ext>
            </a:extLst>
          </p:cNvPr>
          <p:cNvSpPr>
            <a:spLocks noGrp="1"/>
          </p:cNvSpPr>
          <p:nvPr/>
        </p:nvSpPr>
        <p:spPr>
          <a:xfrm>
            <a:off x="1190625" y="2047875"/>
            <a:ext cx="4381500" cy="2714625"/>
          </a:xfrm>
          <a:prstGeom prst="rect">
            <a:avLst/>
          </a:prstGeom>
          <a:noFill/>
          <a:ln w="0">
            <a:noFill/>
            <a:prstDash val="solid"/>
          </a:ln>
        </p:spPr>
        <p:txBody>
          <a:bodyPr anchor="ctr"/>
          <a:lstStyle/>
          <a:p>
            <a:pPr algn="l">
              <a:defRPr sz="1650" b="0">
                <a:solidFill>
                  <a:srgbClr val="E4F1F3"/>
                </a:solidFill>
              </a:defRPr>
            </a:pPr>
            <a:r>
              <a:rPr sz="1650" b="0">
                <a:solidFill>
                  <a:srgbClr val="E4F1F3"/>
                </a:solidFill>
              </a:rPr>
              <a:t>best = +∞</a:t>
            </a:r>
          </a:p>
          <a:p>
            <a:pPr algn="l">
              <a:defRPr sz="1650" b="0">
                <a:solidFill>
                  <a:srgbClr val="E4F1F3"/>
                </a:solidFill>
              </a:defRPr>
            </a:pPr>
            <a:r>
              <a:rPr sz="1650" b="0">
                <a:solidFill>
                  <a:srgbClr val="E4F1F3"/>
                </a:solidFill>
              </a:rPr>
              <a:t>for each of 65,536 assignments:</a:t>
            </a:r>
          </a:p>
          <a:p>
            <a:pPr algn="l">
              <a:defRPr sz="1650" b="0">
                <a:solidFill>
                  <a:srgbClr val="E4F1F3"/>
                </a:solidFill>
              </a:defRPr>
            </a:pPr>
            <a:r>
              <a:rPr sz="1650" b="0">
                <a:solidFill>
                  <a:srgbClr val="E4F1F3"/>
                </a:solidFill>
              </a:rPr>
              <a:t>    result = evaluate(candidate)</a:t>
            </a:r>
          </a:p>
          <a:p>
            <a:pPr algn="l">
              <a:defRPr sz="1650" b="0">
                <a:solidFill>
                  <a:srgbClr val="E4F1F3"/>
                </a:solidFill>
              </a:defRPr>
            </a:pPr>
            <a:r>
              <a:rPr sz="1650" b="0">
                <a:solidFill>
                  <a:srgbClr val="E4F1F3"/>
                </a:solidFill>
              </a:rPr>
              <a:t>    if feasible and result &lt; best:</a:t>
            </a:r>
          </a:p>
          <a:p>
            <a:pPr algn="l">
              <a:defRPr sz="1650" b="0">
                <a:solidFill>
                  <a:srgbClr val="E4F1F3"/>
                </a:solidFill>
              </a:defRPr>
            </a:pPr>
            <a:r>
              <a:rPr sz="1650" b="0">
                <a:solidFill>
                  <a:srgbClr val="E4F1F3"/>
                </a:solidFill>
              </a:rPr>
              <a:t>        best = result</a:t>
            </a:r>
          </a:p>
          <a:p>
            <a:pPr algn="l">
              <a:defRPr sz="1650" b="0">
                <a:solidFill>
                  <a:srgbClr val="E4F1F3"/>
                </a:solidFill>
              </a:defRPr>
            </a:pPr>
            <a:r>
              <a:rPr sz="1650" b="0">
                <a:solidFill>
                  <a:srgbClr val="E4F1F3"/>
                </a:solidFill>
              </a:rPr>
              <a:t>return best</a:t>
            </a:r>
          </a:p>
        </p:txBody>
      </p:sp>
      <p:sp>
        <p:nvSpPr>
          <p:cNvPr id="8" name="Oval 7">
            <a:extLst>
              <a:ext uri="{FF2B5EF4-FFF2-40B4-BE49-F238E27FC236}">
                <a16:creationId xmlns:a16="http://schemas.microsoft.com/office/drawing/2014/main" id="{368405F2-3A62-4DCF-95EC-CD7E7C8422BC}"/>
              </a:ext>
            </a:extLst>
          </p:cNvPr>
          <p:cNvSpPr>
            <a:spLocks noGrp="1"/>
          </p:cNvSpPr>
          <p:nvPr/>
        </p:nvSpPr>
        <p:spPr>
          <a:xfrm>
            <a:off x="6715125" y="2000250"/>
            <a:ext cx="114300" cy="114300"/>
          </a:xfrm>
          <a:prstGeom prst="ellipse">
            <a:avLst/>
          </a:prstGeom>
          <a:solidFill>
            <a:srgbClr val="0B9B91"/>
          </a:solidFill>
          <a:ln w="0">
            <a:solidFill>
              <a:srgbClr val="0B9B91"/>
            </a:solidFill>
            <a:prstDash val="solid"/>
          </a:ln>
        </p:spPr>
        <p:txBody>
          <a:bodyPr/>
          <a:lstStyle/>
          <a:p>
            <a:endParaRPr lang="en-IQ"/>
          </a:p>
        </p:txBody>
      </p:sp>
      <p:sp>
        <p:nvSpPr>
          <p:cNvPr id="9" name="Rectangle 8">
            <a:extLst>
              <a:ext uri="{FF2B5EF4-FFF2-40B4-BE49-F238E27FC236}">
                <a16:creationId xmlns:a16="http://schemas.microsoft.com/office/drawing/2014/main" id="{15795070-C90A-41A8-B225-596A823E9DD3}"/>
              </a:ext>
            </a:extLst>
          </p:cNvPr>
          <p:cNvSpPr>
            <a:spLocks noGrp="1"/>
          </p:cNvSpPr>
          <p:nvPr/>
        </p:nvSpPr>
        <p:spPr>
          <a:xfrm>
            <a:off x="6991350" y="1809750"/>
            <a:ext cx="3819525" cy="781050"/>
          </a:xfrm>
          <a:prstGeom prst="rect">
            <a:avLst/>
          </a:prstGeom>
          <a:noFill/>
          <a:ln w="0">
            <a:noFill/>
            <a:prstDash val="solid"/>
          </a:ln>
        </p:spPr>
        <p:txBody>
          <a:bodyPr anchor="ctr"/>
          <a:lstStyle/>
          <a:p>
            <a:pPr algn="l">
              <a:defRPr sz="1575" b="0">
                <a:solidFill>
                  <a:srgbClr val="183544"/>
                </a:solidFill>
              </a:defRPr>
            </a:pPr>
            <a:r>
              <a:rPr sz="1575" b="0">
                <a:solidFill>
                  <a:srgbClr val="183544"/>
                </a:solidFill>
              </a:rPr>
              <a:t>evaluates every candidate</a:t>
            </a:r>
          </a:p>
        </p:txBody>
      </p:sp>
      <p:sp>
        <p:nvSpPr>
          <p:cNvPr id="10" name="Oval 9">
            <a:extLst>
              <a:ext uri="{FF2B5EF4-FFF2-40B4-BE49-F238E27FC236}">
                <a16:creationId xmlns:a16="http://schemas.microsoft.com/office/drawing/2014/main" id="{1C76AA17-FFAD-4DD5-97F8-E497E94956E2}"/>
              </a:ext>
            </a:extLst>
          </p:cNvPr>
          <p:cNvSpPr>
            <a:spLocks noGrp="1"/>
          </p:cNvSpPr>
          <p:nvPr/>
        </p:nvSpPr>
        <p:spPr>
          <a:xfrm>
            <a:off x="6715125" y="2781300"/>
            <a:ext cx="114300" cy="114300"/>
          </a:xfrm>
          <a:prstGeom prst="ellipse">
            <a:avLst/>
          </a:prstGeom>
          <a:solidFill>
            <a:srgbClr val="0B9B91"/>
          </a:solidFill>
          <a:ln w="0">
            <a:solidFill>
              <a:srgbClr val="0B9B91"/>
            </a:solidFill>
            <a:prstDash val="solid"/>
          </a:ln>
        </p:spPr>
        <p:txBody>
          <a:bodyPr/>
          <a:lstStyle/>
          <a:p>
            <a:endParaRPr lang="en-IQ"/>
          </a:p>
        </p:txBody>
      </p:sp>
      <p:sp>
        <p:nvSpPr>
          <p:cNvPr id="11" name="Rectangle 10">
            <a:extLst>
              <a:ext uri="{FF2B5EF4-FFF2-40B4-BE49-F238E27FC236}">
                <a16:creationId xmlns:a16="http://schemas.microsoft.com/office/drawing/2014/main" id="{749A25DA-2BAA-4D18-AA9A-0E747E404ED2}"/>
              </a:ext>
            </a:extLst>
          </p:cNvPr>
          <p:cNvSpPr>
            <a:spLocks noGrp="1"/>
          </p:cNvSpPr>
          <p:nvPr/>
        </p:nvSpPr>
        <p:spPr>
          <a:xfrm>
            <a:off x="6991350" y="2590800"/>
            <a:ext cx="3819525" cy="781050"/>
          </a:xfrm>
          <a:prstGeom prst="rect">
            <a:avLst/>
          </a:prstGeom>
          <a:noFill/>
          <a:ln w="0">
            <a:noFill/>
            <a:prstDash val="solid"/>
          </a:ln>
        </p:spPr>
        <p:txBody>
          <a:bodyPr anchor="ctr"/>
          <a:lstStyle/>
          <a:p>
            <a:pPr algn="l">
              <a:defRPr sz="1575" b="0">
                <a:solidFill>
                  <a:srgbClr val="183544"/>
                </a:solidFill>
              </a:defRPr>
            </a:pPr>
            <a:r>
              <a:rPr sz="1575" b="0">
                <a:solidFill>
                  <a:srgbClr val="183544"/>
                </a:solidFill>
              </a:rPr>
              <a:t>proves objective 50 is optimal</a:t>
            </a:r>
          </a:p>
        </p:txBody>
      </p:sp>
      <p:sp>
        <p:nvSpPr>
          <p:cNvPr id="12" name="Oval 11">
            <a:extLst>
              <a:ext uri="{FF2B5EF4-FFF2-40B4-BE49-F238E27FC236}">
                <a16:creationId xmlns:a16="http://schemas.microsoft.com/office/drawing/2014/main" id="{45B5CA85-A9FD-441B-881D-6BC31F9E1783}"/>
              </a:ext>
            </a:extLst>
          </p:cNvPr>
          <p:cNvSpPr>
            <a:spLocks noGrp="1"/>
          </p:cNvSpPr>
          <p:nvPr/>
        </p:nvSpPr>
        <p:spPr>
          <a:xfrm>
            <a:off x="6715125" y="3562350"/>
            <a:ext cx="114300" cy="114300"/>
          </a:xfrm>
          <a:prstGeom prst="ellipse">
            <a:avLst/>
          </a:prstGeom>
          <a:solidFill>
            <a:srgbClr val="0B9B91"/>
          </a:solidFill>
          <a:ln w="0">
            <a:solidFill>
              <a:srgbClr val="0B9B91"/>
            </a:solidFill>
            <a:prstDash val="solid"/>
          </a:ln>
        </p:spPr>
        <p:txBody>
          <a:bodyPr/>
          <a:lstStyle/>
          <a:p>
            <a:endParaRPr lang="en-IQ"/>
          </a:p>
        </p:txBody>
      </p:sp>
      <p:sp>
        <p:nvSpPr>
          <p:cNvPr id="13" name="Rectangle 12">
            <a:extLst>
              <a:ext uri="{FF2B5EF4-FFF2-40B4-BE49-F238E27FC236}">
                <a16:creationId xmlns:a16="http://schemas.microsoft.com/office/drawing/2014/main" id="{651FA7AC-9EDD-4864-9461-B03176AE59EE}"/>
              </a:ext>
            </a:extLst>
          </p:cNvPr>
          <p:cNvSpPr>
            <a:spLocks noGrp="1"/>
          </p:cNvSpPr>
          <p:nvPr/>
        </p:nvSpPr>
        <p:spPr>
          <a:xfrm>
            <a:off x="6991350" y="3371850"/>
            <a:ext cx="3819525" cy="781050"/>
          </a:xfrm>
          <a:prstGeom prst="rect">
            <a:avLst/>
          </a:prstGeom>
          <a:noFill/>
          <a:ln w="0">
            <a:noFill/>
            <a:prstDash val="solid"/>
          </a:ln>
        </p:spPr>
        <p:txBody>
          <a:bodyPr anchor="ctr"/>
          <a:lstStyle/>
          <a:p>
            <a:pPr algn="l">
              <a:defRPr sz="1575" b="0">
                <a:solidFill>
                  <a:srgbClr val="183544"/>
                </a:solidFill>
              </a:defRPr>
            </a:pPr>
            <a:r>
              <a:rPr sz="1575" b="0">
                <a:solidFill>
                  <a:srgbClr val="183544"/>
                </a:solidFill>
              </a:rPr>
              <a:t>finds 6,194 feasible assignments</a:t>
            </a:r>
          </a:p>
        </p:txBody>
      </p:sp>
      <p:sp>
        <p:nvSpPr>
          <p:cNvPr id="14" name="Oval 13">
            <a:extLst>
              <a:ext uri="{FF2B5EF4-FFF2-40B4-BE49-F238E27FC236}">
                <a16:creationId xmlns:a16="http://schemas.microsoft.com/office/drawing/2014/main" id="{68EB60B8-AC6C-4C53-88CC-04FBD2B6CA46}"/>
              </a:ext>
            </a:extLst>
          </p:cNvPr>
          <p:cNvSpPr>
            <a:spLocks noGrp="1"/>
          </p:cNvSpPr>
          <p:nvPr/>
        </p:nvSpPr>
        <p:spPr>
          <a:xfrm>
            <a:off x="6715125" y="4343400"/>
            <a:ext cx="114300" cy="114300"/>
          </a:xfrm>
          <a:prstGeom prst="ellipse">
            <a:avLst/>
          </a:prstGeom>
          <a:solidFill>
            <a:srgbClr val="0B9B91"/>
          </a:solidFill>
          <a:ln w="0">
            <a:solidFill>
              <a:srgbClr val="0B9B91"/>
            </a:solidFill>
            <a:prstDash val="solid"/>
          </a:ln>
        </p:spPr>
        <p:txBody>
          <a:bodyPr/>
          <a:lstStyle/>
          <a:p>
            <a:endParaRPr lang="en-IQ"/>
          </a:p>
        </p:txBody>
      </p:sp>
      <p:sp>
        <p:nvSpPr>
          <p:cNvPr id="15" name="Rectangle 14">
            <a:extLst>
              <a:ext uri="{FF2B5EF4-FFF2-40B4-BE49-F238E27FC236}">
                <a16:creationId xmlns:a16="http://schemas.microsoft.com/office/drawing/2014/main" id="{E06A6CCC-5047-48CA-B8B7-205926188383}"/>
              </a:ext>
            </a:extLst>
          </p:cNvPr>
          <p:cNvSpPr>
            <a:spLocks noGrp="1"/>
          </p:cNvSpPr>
          <p:nvPr/>
        </p:nvSpPr>
        <p:spPr>
          <a:xfrm>
            <a:off x="6991350" y="4152900"/>
            <a:ext cx="3819525" cy="781050"/>
          </a:xfrm>
          <a:prstGeom prst="rect">
            <a:avLst/>
          </a:prstGeom>
          <a:noFill/>
          <a:ln w="0">
            <a:noFill/>
            <a:prstDash val="solid"/>
          </a:ln>
        </p:spPr>
        <p:txBody>
          <a:bodyPr anchor="ctr"/>
          <a:lstStyle/>
          <a:p>
            <a:pPr algn="l">
              <a:defRPr sz="1575" b="0">
                <a:solidFill>
                  <a:srgbClr val="183544"/>
                </a:solidFill>
              </a:defRPr>
            </a:pPr>
            <a:r>
              <a:rPr sz="1575" b="0">
                <a:solidFill>
                  <a:srgbClr val="183544"/>
                </a:solidFill>
              </a:rPr>
              <a:t>runtime grows ×4 per added service</a:t>
            </a:r>
          </a:p>
        </p:txBody>
      </p:sp>
      <p:sp>
        <p:nvSpPr>
          <p:cNvPr id="16" name="Rounded Rectangle 15">
            <a:extLst>
              <a:ext uri="{FF2B5EF4-FFF2-40B4-BE49-F238E27FC236}">
                <a16:creationId xmlns:a16="http://schemas.microsoft.com/office/drawing/2014/main" id="{A0E76602-8DDE-42F6-966E-5C2A0CBE5A79}"/>
              </a:ext>
            </a:extLst>
          </p:cNvPr>
          <p:cNvSpPr>
            <a:spLocks noGrp="1"/>
          </p:cNvSpPr>
          <p:nvPr/>
        </p:nvSpPr>
        <p:spPr>
          <a:xfrm>
            <a:off x="6238875" y="5429250"/>
            <a:ext cx="5048250" cy="552450"/>
          </a:xfrm>
          <a:prstGeom prst="roundRect">
            <a:avLst>
              <a:gd name="adj" fmla="val 13793"/>
            </a:avLst>
          </a:prstGeom>
          <a:solidFill>
            <a:srgbClr val="E6F3F2"/>
          </a:solidFill>
          <a:ln w="0">
            <a:solidFill>
              <a:srgbClr val="E6F3F2"/>
            </a:solidFill>
            <a:prstDash val="solid"/>
          </a:ln>
        </p:spPr>
        <p:txBody>
          <a:bodyPr/>
          <a:lstStyle/>
          <a:p>
            <a:endParaRPr lang="en-IQ"/>
          </a:p>
        </p:txBody>
      </p:sp>
      <p:sp>
        <p:nvSpPr>
          <p:cNvPr id="17" name="Rectangle 16">
            <a:extLst>
              <a:ext uri="{FF2B5EF4-FFF2-40B4-BE49-F238E27FC236}">
                <a16:creationId xmlns:a16="http://schemas.microsoft.com/office/drawing/2014/main" id="{387ACB69-06FD-4867-BBCB-AC0FF1C95CD0}"/>
              </a:ext>
            </a:extLst>
          </p:cNvPr>
          <p:cNvSpPr>
            <a:spLocks noGrp="1"/>
          </p:cNvSpPr>
          <p:nvPr/>
        </p:nvSpPr>
        <p:spPr>
          <a:xfrm>
            <a:off x="6429375" y="5505450"/>
            <a:ext cx="4667250" cy="400050"/>
          </a:xfrm>
          <a:prstGeom prst="rect">
            <a:avLst/>
          </a:prstGeom>
          <a:noFill/>
          <a:ln w="0">
            <a:noFill/>
            <a:prstDash val="solid"/>
          </a:ln>
        </p:spPr>
        <p:txBody>
          <a:bodyPr anchor="ctr"/>
          <a:lstStyle/>
          <a:p>
            <a:pPr algn="ctr">
              <a:defRPr sz="1425" b="1">
                <a:solidFill>
                  <a:srgbClr val="092A3D"/>
                </a:solidFill>
              </a:defRPr>
            </a:pPr>
            <a:r>
              <a:rPr sz="1425" b="1">
                <a:solidFill>
                  <a:srgbClr val="092A3D"/>
                </a:solidFill>
              </a:rPr>
              <a:t>Exhaustive search is our benchmark—not our scalable solution.</a:t>
            </a:r>
          </a:p>
        </p:txBody>
      </p:sp>
    </p:spTree>
    <p:extLst>
      <p:ext uri="{BB962C8B-B14F-4D97-AF65-F5344CB8AC3E}">
        <p14:creationId xmlns:p14="http://schemas.microsoft.com/office/powerpoint/2010/main" val="1901459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98" name="Rectangle 97">
            <a:extLst>
              <a:ext uri="{FF2B5EF4-FFF2-40B4-BE49-F238E27FC236}">
                <a16:creationId xmlns:a16="http://schemas.microsoft.com/office/drawing/2014/main" id="{115F685C-DDDB-4D38-A803-F7714EB58CCA}"/>
              </a:ext>
            </a:extLst>
          </p:cNvPr>
          <p:cNvSpPr>
            <a:spLocks noGrp="1"/>
          </p:cNvSpPr>
          <p:nvPr/>
        </p:nvSpPr>
        <p:spPr>
          <a:xfrm>
            <a:off x="609600" y="285750"/>
            <a:ext cx="64770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RANDOM SEARCH IDEA</a:t>
            </a:r>
          </a:p>
        </p:txBody>
      </p:sp>
      <p:sp>
        <p:nvSpPr>
          <p:cNvPr id="2" name="Rectangle 1">
            <a:extLst>
              <a:ext uri="{FF2B5EF4-FFF2-40B4-BE49-F238E27FC236}">
                <a16:creationId xmlns:a16="http://schemas.microsoft.com/office/drawing/2014/main" id="{208AF7D9-201F-467A-8E7A-49ED2F9ED4C0}"/>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Random search replaces complete coverage with sampling</a:t>
            </a:r>
          </a:p>
        </p:txBody>
      </p:sp>
      <p:sp>
        <p:nvSpPr>
          <p:cNvPr id="3" name="Rectangle 2">
            <a:extLst>
              <a:ext uri="{FF2B5EF4-FFF2-40B4-BE49-F238E27FC236}">
                <a16:creationId xmlns:a16="http://schemas.microsoft.com/office/drawing/2014/main" id="{4D6B47A2-6CE1-4582-9AD7-424463264A37}"/>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EF964ED1-266C-489C-AD52-72B16BEC305A}"/>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2</a:t>
            </a:r>
          </a:p>
        </p:txBody>
      </p:sp>
      <p:sp>
        <p:nvSpPr>
          <p:cNvPr id="5" name="Rectangle 4">
            <a:extLst>
              <a:ext uri="{FF2B5EF4-FFF2-40B4-BE49-F238E27FC236}">
                <a16:creationId xmlns:a16="http://schemas.microsoft.com/office/drawing/2014/main" id="{512C6CD8-6BE6-4AC7-A450-1AA41294D7C9}"/>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11</a:t>
            </a:r>
          </a:p>
        </p:txBody>
      </p:sp>
      <p:sp>
        <p:nvSpPr>
          <p:cNvPr id="6" name="Oval 5">
            <a:extLst>
              <a:ext uri="{FF2B5EF4-FFF2-40B4-BE49-F238E27FC236}">
                <a16:creationId xmlns:a16="http://schemas.microsoft.com/office/drawing/2014/main" id="{F33113B7-E459-4F75-A8B5-D5EE25BAFF20}"/>
              </a:ext>
            </a:extLst>
          </p:cNvPr>
          <p:cNvSpPr>
            <a:spLocks noGrp="1"/>
          </p:cNvSpPr>
          <p:nvPr/>
        </p:nvSpPr>
        <p:spPr>
          <a:xfrm>
            <a:off x="952500" y="1571625"/>
            <a:ext cx="171450" cy="171450"/>
          </a:xfrm>
          <a:prstGeom prst="ellipse">
            <a:avLst/>
          </a:prstGeom>
          <a:solidFill>
            <a:srgbClr val="C8D9D8"/>
          </a:solidFill>
          <a:ln w="0">
            <a:solidFill>
              <a:srgbClr val="C8D9D8"/>
            </a:solidFill>
            <a:prstDash val="solid"/>
          </a:ln>
        </p:spPr>
        <p:txBody>
          <a:bodyPr/>
          <a:lstStyle/>
          <a:p>
            <a:endParaRPr lang="en-IQ"/>
          </a:p>
        </p:txBody>
      </p:sp>
      <p:sp>
        <p:nvSpPr>
          <p:cNvPr id="7" name="Oval 6">
            <a:extLst>
              <a:ext uri="{FF2B5EF4-FFF2-40B4-BE49-F238E27FC236}">
                <a16:creationId xmlns:a16="http://schemas.microsoft.com/office/drawing/2014/main" id="{CA132E12-7988-471C-B55E-402AC240FDB4}"/>
              </a:ext>
            </a:extLst>
          </p:cNvPr>
          <p:cNvSpPr>
            <a:spLocks noGrp="1"/>
          </p:cNvSpPr>
          <p:nvPr/>
        </p:nvSpPr>
        <p:spPr>
          <a:xfrm>
            <a:off x="1552575" y="1571625"/>
            <a:ext cx="171450" cy="171450"/>
          </a:xfrm>
          <a:prstGeom prst="ellipse">
            <a:avLst/>
          </a:prstGeom>
          <a:solidFill>
            <a:srgbClr val="C8D9D8"/>
          </a:solidFill>
          <a:ln w="0">
            <a:solidFill>
              <a:srgbClr val="C8D9D8"/>
            </a:solidFill>
            <a:prstDash val="solid"/>
          </a:ln>
        </p:spPr>
        <p:txBody>
          <a:bodyPr/>
          <a:lstStyle/>
          <a:p>
            <a:endParaRPr lang="en-IQ"/>
          </a:p>
        </p:txBody>
      </p:sp>
      <p:sp>
        <p:nvSpPr>
          <p:cNvPr id="8" name="Oval 7">
            <a:extLst>
              <a:ext uri="{FF2B5EF4-FFF2-40B4-BE49-F238E27FC236}">
                <a16:creationId xmlns:a16="http://schemas.microsoft.com/office/drawing/2014/main" id="{E9D1A421-D94F-4CD3-9536-1D42DB03EE8B}"/>
              </a:ext>
            </a:extLst>
          </p:cNvPr>
          <p:cNvSpPr>
            <a:spLocks noGrp="1"/>
          </p:cNvSpPr>
          <p:nvPr/>
        </p:nvSpPr>
        <p:spPr>
          <a:xfrm>
            <a:off x="2152650" y="1571625"/>
            <a:ext cx="171450" cy="171450"/>
          </a:xfrm>
          <a:prstGeom prst="ellipse">
            <a:avLst/>
          </a:prstGeom>
          <a:solidFill>
            <a:srgbClr val="C8D9D8"/>
          </a:solidFill>
          <a:ln w="0">
            <a:solidFill>
              <a:srgbClr val="C8D9D8"/>
            </a:solidFill>
            <a:prstDash val="solid"/>
          </a:ln>
        </p:spPr>
        <p:txBody>
          <a:bodyPr/>
          <a:lstStyle/>
          <a:p>
            <a:endParaRPr lang="en-IQ"/>
          </a:p>
        </p:txBody>
      </p:sp>
      <p:sp>
        <p:nvSpPr>
          <p:cNvPr id="9" name="Oval 8">
            <a:extLst>
              <a:ext uri="{FF2B5EF4-FFF2-40B4-BE49-F238E27FC236}">
                <a16:creationId xmlns:a16="http://schemas.microsoft.com/office/drawing/2014/main" id="{E9E78032-C852-4B7A-BE2C-5F949553197A}"/>
              </a:ext>
            </a:extLst>
          </p:cNvPr>
          <p:cNvSpPr>
            <a:spLocks noGrp="1"/>
          </p:cNvSpPr>
          <p:nvPr/>
        </p:nvSpPr>
        <p:spPr>
          <a:xfrm>
            <a:off x="2752725" y="1571625"/>
            <a:ext cx="171450" cy="171450"/>
          </a:xfrm>
          <a:prstGeom prst="ellipse">
            <a:avLst/>
          </a:prstGeom>
          <a:solidFill>
            <a:srgbClr val="C8D9D8"/>
          </a:solidFill>
          <a:ln w="0">
            <a:solidFill>
              <a:srgbClr val="C8D9D8"/>
            </a:solidFill>
            <a:prstDash val="solid"/>
          </a:ln>
        </p:spPr>
        <p:txBody>
          <a:bodyPr/>
          <a:lstStyle/>
          <a:p>
            <a:endParaRPr lang="en-IQ"/>
          </a:p>
        </p:txBody>
      </p:sp>
      <p:sp>
        <p:nvSpPr>
          <p:cNvPr id="10" name="Oval 9">
            <a:extLst>
              <a:ext uri="{FF2B5EF4-FFF2-40B4-BE49-F238E27FC236}">
                <a16:creationId xmlns:a16="http://schemas.microsoft.com/office/drawing/2014/main" id="{6FB37C4A-06A3-4362-954B-131648E1D713}"/>
              </a:ext>
            </a:extLst>
          </p:cNvPr>
          <p:cNvSpPr>
            <a:spLocks noGrp="1"/>
          </p:cNvSpPr>
          <p:nvPr/>
        </p:nvSpPr>
        <p:spPr>
          <a:xfrm>
            <a:off x="3352800" y="1571625"/>
            <a:ext cx="171450" cy="171450"/>
          </a:xfrm>
          <a:prstGeom prst="ellipse">
            <a:avLst/>
          </a:prstGeom>
          <a:solidFill>
            <a:srgbClr val="C8D9D8"/>
          </a:solidFill>
          <a:ln w="0">
            <a:solidFill>
              <a:srgbClr val="C8D9D8"/>
            </a:solidFill>
            <a:prstDash val="solid"/>
          </a:ln>
        </p:spPr>
        <p:txBody>
          <a:bodyPr/>
          <a:lstStyle/>
          <a:p>
            <a:endParaRPr lang="en-IQ"/>
          </a:p>
        </p:txBody>
      </p:sp>
      <p:sp>
        <p:nvSpPr>
          <p:cNvPr id="11" name="Oval 10">
            <a:extLst>
              <a:ext uri="{FF2B5EF4-FFF2-40B4-BE49-F238E27FC236}">
                <a16:creationId xmlns:a16="http://schemas.microsoft.com/office/drawing/2014/main" id="{25ADC5FA-25AB-40C0-90C8-E87502731C2F}"/>
              </a:ext>
            </a:extLst>
          </p:cNvPr>
          <p:cNvSpPr>
            <a:spLocks noGrp="1"/>
          </p:cNvSpPr>
          <p:nvPr/>
        </p:nvSpPr>
        <p:spPr>
          <a:xfrm>
            <a:off x="3952875" y="1571625"/>
            <a:ext cx="171450" cy="171450"/>
          </a:xfrm>
          <a:prstGeom prst="ellipse">
            <a:avLst/>
          </a:prstGeom>
          <a:solidFill>
            <a:srgbClr val="C8D9D8"/>
          </a:solidFill>
          <a:ln w="0">
            <a:solidFill>
              <a:srgbClr val="C8D9D8"/>
            </a:solidFill>
            <a:prstDash val="solid"/>
          </a:ln>
        </p:spPr>
        <p:txBody>
          <a:bodyPr/>
          <a:lstStyle/>
          <a:p>
            <a:endParaRPr lang="en-IQ"/>
          </a:p>
        </p:txBody>
      </p:sp>
      <p:sp>
        <p:nvSpPr>
          <p:cNvPr id="12" name="Oval 11">
            <a:extLst>
              <a:ext uri="{FF2B5EF4-FFF2-40B4-BE49-F238E27FC236}">
                <a16:creationId xmlns:a16="http://schemas.microsoft.com/office/drawing/2014/main" id="{BB2C8724-1F41-49F4-B499-D60F93BABDA4}"/>
              </a:ext>
            </a:extLst>
          </p:cNvPr>
          <p:cNvSpPr>
            <a:spLocks noGrp="1"/>
          </p:cNvSpPr>
          <p:nvPr/>
        </p:nvSpPr>
        <p:spPr>
          <a:xfrm>
            <a:off x="4552950" y="1571625"/>
            <a:ext cx="171450" cy="171450"/>
          </a:xfrm>
          <a:prstGeom prst="ellipse">
            <a:avLst/>
          </a:prstGeom>
          <a:solidFill>
            <a:srgbClr val="C8D9D8"/>
          </a:solidFill>
          <a:ln w="0">
            <a:solidFill>
              <a:srgbClr val="C8D9D8"/>
            </a:solidFill>
            <a:prstDash val="solid"/>
          </a:ln>
        </p:spPr>
        <p:txBody>
          <a:bodyPr/>
          <a:lstStyle/>
          <a:p>
            <a:endParaRPr lang="en-IQ"/>
          </a:p>
        </p:txBody>
      </p:sp>
      <p:sp>
        <p:nvSpPr>
          <p:cNvPr id="13" name="Oval 12">
            <a:extLst>
              <a:ext uri="{FF2B5EF4-FFF2-40B4-BE49-F238E27FC236}">
                <a16:creationId xmlns:a16="http://schemas.microsoft.com/office/drawing/2014/main" id="{BD5B2681-C19C-44A6-AA4A-9D3E013B542E}"/>
              </a:ext>
            </a:extLst>
          </p:cNvPr>
          <p:cNvSpPr>
            <a:spLocks noGrp="1"/>
          </p:cNvSpPr>
          <p:nvPr/>
        </p:nvSpPr>
        <p:spPr>
          <a:xfrm>
            <a:off x="5153025" y="1571625"/>
            <a:ext cx="171450" cy="171450"/>
          </a:xfrm>
          <a:prstGeom prst="ellipse">
            <a:avLst/>
          </a:prstGeom>
          <a:solidFill>
            <a:srgbClr val="C8D9D8"/>
          </a:solidFill>
          <a:ln w="0">
            <a:solidFill>
              <a:srgbClr val="C8D9D8"/>
            </a:solidFill>
            <a:prstDash val="solid"/>
          </a:ln>
        </p:spPr>
        <p:txBody>
          <a:bodyPr/>
          <a:lstStyle/>
          <a:p>
            <a:endParaRPr lang="en-IQ"/>
          </a:p>
        </p:txBody>
      </p:sp>
      <p:sp>
        <p:nvSpPr>
          <p:cNvPr id="14" name="Oval 13">
            <a:extLst>
              <a:ext uri="{FF2B5EF4-FFF2-40B4-BE49-F238E27FC236}">
                <a16:creationId xmlns:a16="http://schemas.microsoft.com/office/drawing/2014/main" id="{64CEA5DB-D836-4007-BA74-73424FE24AC2}"/>
              </a:ext>
            </a:extLst>
          </p:cNvPr>
          <p:cNvSpPr>
            <a:spLocks noGrp="1"/>
          </p:cNvSpPr>
          <p:nvPr/>
        </p:nvSpPr>
        <p:spPr>
          <a:xfrm>
            <a:off x="5753100" y="1571625"/>
            <a:ext cx="171450" cy="171450"/>
          </a:xfrm>
          <a:prstGeom prst="ellipse">
            <a:avLst/>
          </a:prstGeom>
          <a:solidFill>
            <a:srgbClr val="C8D9D8"/>
          </a:solidFill>
          <a:ln w="0">
            <a:solidFill>
              <a:srgbClr val="C8D9D8"/>
            </a:solidFill>
            <a:prstDash val="solid"/>
          </a:ln>
        </p:spPr>
        <p:txBody>
          <a:bodyPr/>
          <a:lstStyle/>
          <a:p>
            <a:endParaRPr lang="en-IQ"/>
          </a:p>
        </p:txBody>
      </p:sp>
      <p:sp>
        <p:nvSpPr>
          <p:cNvPr id="15" name="Oval 14">
            <a:extLst>
              <a:ext uri="{FF2B5EF4-FFF2-40B4-BE49-F238E27FC236}">
                <a16:creationId xmlns:a16="http://schemas.microsoft.com/office/drawing/2014/main" id="{2116D5C8-F769-466B-8AC2-E0716BD9C3DC}"/>
              </a:ext>
            </a:extLst>
          </p:cNvPr>
          <p:cNvSpPr>
            <a:spLocks noGrp="1"/>
          </p:cNvSpPr>
          <p:nvPr/>
        </p:nvSpPr>
        <p:spPr>
          <a:xfrm>
            <a:off x="6353175" y="1571625"/>
            <a:ext cx="171450" cy="171450"/>
          </a:xfrm>
          <a:prstGeom prst="ellipse">
            <a:avLst/>
          </a:prstGeom>
          <a:solidFill>
            <a:srgbClr val="C8D9D8"/>
          </a:solidFill>
          <a:ln w="0">
            <a:solidFill>
              <a:srgbClr val="C8D9D8"/>
            </a:solidFill>
            <a:prstDash val="solid"/>
          </a:ln>
        </p:spPr>
        <p:txBody>
          <a:bodyPr/>
          <a:lstStyle/>
          <a:p>
            <a:endParaRPr lang="en-IQ"/>
          </a:p>
        </p:txBody>
      </p:sp>
      <p:sp>
        <p:nvSpPr>
          <p:cNvPr id="16" name="Oval 15">
            <a:extLst>
              <a:ext uri="{FF2B5EF4-FFF2-40B4-BE49-F238E27FC236}">
                <a16:creationId xmlns:a16="http://schemas.microsoft.com/office/drawing/2014/main" id="{68D02EFF-D1B2-451C-BB02-7CF81CAA0CA6}"/>
              </a:ext>
            </a:extLst>
          </p:cNvPr>
          <p:cNvSpPr>
            <a:spLocks noGrp="1"/>
          </p:cNvSpPr>
          <p:nvPr/>
        </p:nvSpPr>
        <p:spPr>
          <a:xfrm>
            <a:off x="6953250" y="1571625"/>
            <a:ext cx="171450" cy="171450"/>
          </a:xfrm>
          <a:prstGeom prst="ellipse">
            <a:avLst/>
          </a:prstGeom>
          <a:solidFill>
            <a:srgbClr val="C8D9D8"/>
          </a:solidFill>
          <a:ln w="0">
            <a:solidFill>
              <a:srgbClr val="C8D9D8"/>
            </a:solidFill>
            <a:prstDash val="solid"/>
          </a:ln>
        </p:spPr>
        <p:txBody>
          <a:bodyPr/>
          <a:lstStyle/>
          <a:p>
            <a:endParaRPr lang="en-IQ"/>
          </a:p>
        </p:txBody>
      </p:sp>
      <p:sp>
        <p:nvSpPr>
          <p:cNvPr id="17" name="Oval 16">
            <a:extLst>
              <a:ext uri="{FF2B5EF4-FFF2-40B4-BE49-F238E27FC236}">
                <a16:creationId xmlns:a16="http://schemas.microsoft.com/office/drawing/2014/main" id="{B010F04B-DA1E-4004-9E17-9102EEDAE2D0}"/>
              </a:ext>
            </a:extLst>
          </p:cNvPr>
          <p:cNvSpPr>
            <a:spLocks noGrp="1"/>
          </p:cNvSpPr>
          <p:nvPr/>
        </p:nvSpPr>
        <p:spPr>
          <a:xfrm>
            <a:off x="7553325" y="1571625"/>
            <a:ext cx="171450" cy="171450"/>
          </a:xfrm>
          <a:prstGeom prst="ellipse">
            <a:avLst/>
          </a:prstGeom>
          <a:solidFill>
            <a:srgbClr val="C8D9D8"/>
          </a:solidFill>
          <a:ln w="0">
            <a:solidFill>
              <a:srgbClr val="C8D9D8"/>
            </a:solidFill>
            <a:prstDash val="solid"/>
          </a:ln>
        </p:spPr>
        <p:txBody>
          <a:bodyPr/>
          <a:lstStyle/>
          <a:p>
            <a:endParaRPr lang="en-IQ"/>
          </a:p>
        </p:txBody>
      </p:sp>
      <p:sp>
        <p:nvSpPr>
          <p:cNvPr id="18" name="Oval 17">
            <a:extLst>
              <a:ext uri="{FF2B5EF4-FFF2-40B4-BE49-F238E27FC236}">
                <a16:creationId xmlns:a16="http://schemas.microsoft.com/office/drawing/2014/main" id="{76513464-0A8A-4C12-91BB-F2098EE13C89}"/>
              </a:ext>
            </a:extLst>
          </p:cNvPr>
          <p:cNvSpPr>
            <a:spLocks noGrp="1"/>
          </p:cNvSpPr>
          <p:nvPr/>
        </p:nvSpPr>
        <p:spPr>
          <a:xfrm>
            <a:off x="8153400" y="1571625"/>
            <a:ext cx="171450" cy="171450"/>
          </a:xfrm>
          <a:prstGeom prst="ellipse">
            <a:avLst/>
          </a:prstGeom>
          <a:solidFill>
            <a:srgbClr val="C8D9D8"/>
          </a:solidFill>
          <a:ln w="0">
            <a:solidFill>
              <a:srgbClr val="C8D9D8"/>
            </a:solidFill>
            <a:prstDash val="solid"/>
          </a:ln>
        </p:spPr>
        <p:txBody>
          <a:bodyPr/>
          <a:lstStyle/>
          <a:p>
            <a:endParaRPr lang="en-IQ"/>
          </a:p>
        </p:txBody>
      </p:sp>
      <p:sp>
        <p:nvSpPr>
          <p:cNvPr id="19" name="Oval 18">
            <a:extLst>
              <a:ext uri="{FF2B5EF4-FFF2-40B4-BE49-F238E27FC236}">
                <a16:creationId xmlns:a16="http://schemas.microsoft.com/office/drawing/2014/main" id="{BF07AE56-EA83-40A2-AFDF-A7D2CC671B9C}"/>
              </a:ext>
            </a:extLst>
          </p:cNvPr>
          <p:cNvSpPr>
            <a:spLocks noGrp="1"/>
          </p:cNvSpPr>
          <p:nvPr/>
        </p:nvSpPr>
        <p:spPr>
          <a:xfrm>
            <a:off x="8753475" y="1571625"/>
            <a:ext cx="171450" cy="171450"/>
          </a:xfrm>
          <a:prstGeom prst="ellipse">
            <a:avLst/>
          </a:prstGeom>
          <a:solidFill>
            <a:srgbClr val="C8D9D8"/>
          </a:solidFill>
          <a:ln w="0">
            <a:solidFill>
              <a:srgbClr val="C8D9D8"/>
            </a:solidFill>
            <a:prstDash val="solid"/>
          </a:ln>
        </p:spPr>
        <p:txBody>
          <a:bodyPr/>
          <a:lstStyle/>
          <a:p>
            <a:endParaRPr lang="en-IQ"/>
          </a:p>
        </p:txBody>
      </p:sp>
      <p:sp>
        <p:nvSpPr>
          <p:cNvPr id="20" name="Oval 19">
            <a:extLst>
              <a:ext uri="{FF2B5EF4-FFF2-40B4-BE49-F238E27FC236}">
                <a16:creationId xmlns:a16="http://schemas.microsoft.com/office/drawing/2014/main" id="{D891CECF-771B-4D05-8AB5-ADA2AE06DBA7}"/>
              </a:ext>
            </a:extLst>
          </p:cNvPr>
          <p:cNvSpPr>
            <a:spLocks noGrp="1"/>
          </p:cNvSpPr>
          <p:nvPr/>
        </p:nvSpPr>
        <p:spPr>
          <a:xfrm>
            <a:off x="9353550" y="1571625"/>
            <a:ext cx="171450" cy="171450"/>
          </a:xfrm>
          <a:prstGeom prst="ellipse">
            <a:avLst/>
          </a:prstGeom>
          <a:solidFill>
            <a:srgbClr val="C8D9D8"/>
          </a:solidFill>
          <a:ln w="0">
            <a:solidFill>
              <a:srgbClr val="C8D9D8"/>
            </a:solidFill>
            <a:prstDash val="solid"/>
          </a:ln>
        </p:spPr>
        <p:txBody>
          <a:bodyPr/>
          <a:lstStyle/>
          <a:p>
            <a:endParaRPr lang="en-IQ"/>
          </a:p>
        </p:txBody>
      </p:sp>
      <p:sp>
        <p:nvSpPr>
          <p:cNvPr id="21" name="Oval 20">
            <a:extLst>
              <a:ext uri="{FF2B5EF4-FFF2-40B4-BE49-F238E27FC236}">
                <a16:creationId xmlns:a16="http://schemas.microsoft.com/office/drawing/2014/main" id="{7B5B9CA7-C3BA-40B1-AA4A-BF64C63B67EE}"/>
              </a:ext>
            </a:extLst>
          </p:cNvPr>
          <p:cNvSpPr>
            <a:spLocks noGrp="1"/>
          </p:cNvSpPr>
          <p:nvPr/>
        </p:nvSpPr>
        <p:spPr>
          <a:xfrm>
            <a:off x="9953625" y="1571625"/>
            <a:ext cx="171450" cy="171450"/>
          </a:xfrm>
          <a:prstGeom prst="ellipse">
            <a:avLst/>
          </a:prstGeom>
          <a:solidFill>
            <a:srgbClr val="C8D9D8"/>
          </a:solidFill>
          <a:ln w="0">
            <a:solidFill>
              <a:srgbClr val="C8D9D8"/>
            </a:solidFill>
            <a:prstDash val="solid"/>
          </a:ln>
        </p:spPr>
        <p:txBody>
          <a:bodyPr/>
          <a:lstStyle/>
          <a:p>
            <a:endParaRPr lang="en-IQ"/>
          </a:p>
        </p:txBody>
      </p:sp>
      <p:sp>
        <p:nvSpPr>
          <p:cNvPr id="22" name="Oval 21">
            <a:extLst>
              <a:ext uri="{FF2B5EF4-FFF2-40B4-BE49-F238E27FC236}">
                <a16:creationId xmlns:a16="http://schemas.microsoft.com/office/drawing/2014/main" id="{0C75DAB2-289C-43E2-BE79-8278DD15FCD6}"/>
              </a:ext>
            </a:extLst>
          </p:cNvPr>
          <p:cNvSpPr>
            <a:spLocks noGrp="1"/>
          </p:cNvSpPr>
          <p:nvPr/>
        </p:nvSpPr>
        <p:spPr>
          <a:xfrm>
            <a:off x="952500" y="2219325"/>
            <a:ext cx="171450" cy="171450"/>
          </a:xfrm>
          <a:prstGeom prst="ellipse">
            <a:avLst/>
          </a:prstGeom>
          <a:solidFill>
            <a:srgbClr val="C8D9D8"/>
          </a:solidFill>
          <a:ln w="0">
            <a:solidFill>
              <a:srgbClr val="C8D9D8"/>
            </a:solidFill>
            <a:prstDash val="solid"/>
          </a:ln>
        </p:spPr>
        <p:txBody>
          <a:bodyPr/>
          <a:lstStyle/>
          <a:p>
            <a:endParaRPr lang="en-IQ"/>
          </a:p>
        </p:txBody>
      </p:sp>
      <p:sp>
        <p:nvSpPr>
          <p:cNvPr id="23" name="Oval 22">
            <a:extLst>
              <a:ext uri="{FF2B5EF4-FFF2-40B4-BE49-F238E27FC236}">
                <a16:creationId xmlns:a16="http://schemas.microsoft.com/office/drawing/2014/main" id="{A254B9AD-5DCE-4031-A5F4-5372C98E9397}"/>
              </a:ext>
            </a:extLst>
          </p:cNvPr>
          <p:cNvSpPr>
            <a:spLocks noGrp="1"/>
          </p:cNvSpPr>
          <p:nvPr/>
        </p:nvSpPr>
        <p:spPr>
          <a:xfrm>
            <a:off x="1552575" y="2219325"/>
            <a:ext cx="171450" cy="171450"/>
          </a:xfrm>
          <a:prstGeom prst="ellipse">
            <a:avLst/>
          </a:prstGeom>
          <a:solidFill>
            <a:srgbClr val="C8D9D8"/>
          </a:solidFill>
          <a:ln w="0">
            <a:solidFill>
              <a:srgbClr val="C8D9D8"/>
            </a:solidFill>
            <a:prstDash val="solid"/>
          </a:ln>
        </p:spPr>
        <p:txBody>
          <a:bodyPr/>
          <a:lstStyle/>
          <a:p>
            <a:endParaRPr lang="en-IQ"/>
          </a:p>
        </p:txBody>
      </p:sp>
      <p:sp>
        <p:nvSpPr>
          <p:cNvPr id="24" name="Oval 23">
            <a:extLst>
              <a:ext uri="{FF2B5EF4-FFF2-40B4-BE49-F238E27FC236}">
                <a16:creationId xmlns:a16="http://schemas.microsoft.com/office/drawing/2014/main" id="{C4AA91F8-A4CA-4507-AED4-134A155FAD99}"/>
              </a:ext>
            </a:extLst>
          </p:cNvPr>
          <p:cNvSpPr>
            <a:spLocks noGrp="1"/>
          </p:cNvSpPr>
          <p:nvPr/>
        </p:nvSpPr>
        <p:spPr>
          <a:xfrm>
            <a:off x="2152650" y="2219325"/>
            <a:ext cx="171450" cy="171450"/>
          </a:xfrm>
          <a:prstGeom prst="ellipse">
            <a:avLst/>
          </a:prstGeom>
          <a:solidFill>
            <a:srgbClr val="C8D9D8"/>
          </a:solidFill>
          <a:ln w="0">
            <a:solidFill>
              <a:srgbClr val="C8D9D8"/>
            </a:solidFill>
            <a:prstDash val="solid"/>
          </a:ln>
        </p:spPr>
        <p:txBody>
          <a:bodyPr/>
          <a:lstStyle/>
          <a:p>
            <a:endParaRPr lang="en-IQ"/>
          </a:p>
        </p:txBody>
      </p:sp>
      <p:sp>
        <p:nvSpPr>
          <p:cNvPr id="25" name="Oval 24">
            <a:extLst>
              <a:ext uri="{FF2B5EF4-FFF2-40B4-BE49-F238E27FC236}">
                <a16:creationId xmlns:a16="http://schemas.microsoft.com/office/drawing/2014/main" id="{5EF0C858-2539-41A6-8F12-E11257E9846F}"/>
              </a:ext>
            </a:extLst>
          </p:cNvPr>
          <p:cNvSpPr>
            <a:spLocks noGrp="1"/>
          </p:cNvSpPr>
          <p:nvPr/>
        </p:nvSpPr>
        <p:spPr>
          <a:xfrm>
            <a:off x="2752725" y="2219325"/>
            <a:ext cx="171450" cy="171450"/>
          </a:xfrm>
          <a:prstGeom prst="ellipse">
            <a:avLst/>
          </a:prstGeom>
          <a:solidFill>
            <a:srgbClr val="C8D9D8"/>
          </a:solidFill>
          <a:ln w="0">
            <a:solidFill>
              <a:srgbClr val="C8D9D8"/>
            </a:solidFill>
            <a:prstDash val="solid"/>
          </a:ln>
        </p:spPr>
        <p:txBody>
          <a:bodyPr/>
          <a:lstStyle/>
          <a:p>
            <a:endParaRPr lang="en-IQ"/>
          </a:p>
        </p:txBody>
      </p:sp>
      <p:sp>
        <p:nvSpPr>
          <p:cNvPr id="26" name="Oval 25">
            <a:extLst>
              <a:ext uri="{FF2B5EF4-FFF2-40B4-BE49-F238E27FC236}">
                <a16:creationId xmlns:a16="http://schemas.microsoft.com/office/drawing/2014/main" id="{4F6B96B3-7933-4CCE-B567-12D5606819FC}"/>
              </a:ext>
            </a:extLst>
          </p:cNvPr>
          <p:cNvSpPr>
            <a:spLocks noGrp="1"/>
          </p:cNvSpPr>
          <p:nvPr/>
        </p:nvSpPr>
        <p:spPr>
          <a:xfrm>
            <a:off x="3352800" y="2219325"/>
            <a:ext cx="171450" cy="171450"/>
          </a:xfrm>
          <a:prstGeom prst="ellipse">
            <a:avLst/>
          </a:prstGeom>
          <a:solidFill>
            <a:srgbClr val="C8D9D8"/>
          </a:solidFill>
          <a:ln w="0">
            <a:solidFill>
              <a:srgbClr val="C8D9D8"/>
            </a:solidFill>
            <a:prstDash val="solid"/>
          </a:ln>
        </p:spPr>
        <p:txBody>
          <a:bodyPr/>
          <a:lstStyle/>
          <a:p>
            <a:endParaRPr lang="en-IQ"/>
          </a:p>
        </p:txBody>
      </p:sp>
      <p:sp>
        <p:nvSpPr>
          <p:cNvPr id="27" name="Oval 26">
            <a:extLst>
              <a:ext uri="{FF2B5EF4-FFF2-40B4-BE49-F238E27FC236}">
                <a16:creationId xmlns:a16="http://schemas.microsoft.com/office/drawing/2014/main" id="{3566C72F-3C01-4417-A6ED-5E9B6FDC31D1}"/>
              </a:ext>
            </a:extLst>
          </p:cNvPr>
          <p:cNvSpPr>
            <a:spLocks noGrp="1"/>
          </p:cNvSpPr>
          <p:nvPr/>
        </p:nvSpPr>
        <p:spPr>
          <a:xfrm>
            <a:off x="3952875" y="2219325"/>
            <a:ext cx="171450" cy="171450"/>
          </a:xfrm>
          <a:prstGeom prst="ellipse">
            <a:avLst/>
          </a:prstGeom>
          <a:solidFill>
            <a:srgbClr val="C8D9D8"/>
          </a:solidFill>
          <a:ln w="0">
            <a:solidFill>
              <a:srgbClr val="C8D9D8"/>
            </a:solidFill>
            <a:prstDash val="solid"/>
          </a:ln>
        </p:spPr>
        <p:txBody>
          <a:bodyPr/>
          <a:lstStyle/>
          <a:p>
            <a:endParaRPr lang="en-IQ"/>
          </a:p>
        </p:txBody>
      </p:sp>
      <p:sp>
        <p:nvSpPr>
          <p:cNvPr id="28" name="Oval 27">
            <a:extLst>
              <a:ext uri="{FF2B5EF4-FFF2-40B4-BE49-F238E27FC236}">
                <a16:creationId xmlns:a16="http://schemas.microsoft.com/office/drawing/2014/main" id="{F57E247C-1FC4-4587-AD2A-B4678D5932B0}"/>
              </a:ext>
            </a:extLst>
          </p:cNvPr>
          <p:cNvSpPr>
            <a:spLocks noGrp="1"/>
          </p:cNvSpPr>
          <p:nvPr/>
        </p:nvSpPr>
        <p:spPr>
          <a:xfrm>
            <a:off x="4552950" y="2219325"/>
            <a:ext cx="171450" cy="171450"/>
          </a:xfrm>
          <a:prstGeom prst="ellipse">
            <a:avLst/>
          </a:prstGeom>
          <a:solidFill>
            <a:srgbClr val="C8D9D8"/>
          </a:solidFill>
          <a:ln w="0">
            <a:solidFill>
              <a:srgbClr val="C8D9D8"/>
            </a:solidFill>
            <a:prstDash val="solid"/>
          </a:ln>
        </p:spPr>
        <p:txBody>
          <a:bodyPr/>
          <a:lstStyle/>
          <a:p>
            <a:endParaRPr lang="en-IQ"/>
          </a:p>
        </p:txBody>
      </p:sp>
      <p:sp>
        <p:nvSpPr>
          <p:cNvPr id="29" name="Oval 28">
            <a:extLst>
              <a:ext uri="{FF2B5EF4-FFF2-40B4-BE49-F238E27FC236}">
                <a16:creationId xmlns:a16="http://schemas.microsoft.com/office/drawing/2014/main" id="{FC3987A1-4C1A-4807-9C05-9708AEE3E8AC}"/>
              </a:ext>
            </a:extLst>
          </p:cNvPr>
          <p:cNvSpPr>
            <a:spLocks noGrp="1"/>
          </p:cNvSpPr>
          <p:nvPr/>
        </p:nvSpPr>
        <p:spPr>
          <a:xfrm>
            <a:off x="5153025" y="2219325"/>
            <a:ext cx="171450" cy="171450"/>
          </a:xfrm>
          <a:prstGeom prst="ellipse">
            <a:avLst/>
          </a:prstGeom>
          <a:solidFill>
            <a:srgbClr val="C8D9D8"/>
          </a:solidFill>
          <a:ln w="0">
            <a:solidFill>
              <a:srgbClr val="C8D9D8"/>
            </a:solidFill>
            <a:prstDash val="solid"/>
          </a:ln>
        </p:spPr>
        <p:txBody>
          <a:bodyPr/>
          <a:lstStyle/>
          <a:p>
            <a:endParaRPr lang="en-IQ"/>
          </a:p>
        </p:txBody>
      </p:sp>
      <p:sp>
        <p:nvSpPr>
          <p:cNvPr id="30" name="Oval 29">
            <a:extLst>
              <a:ext uri="{FF2B5EF4-FFF2-40B4-BE49-F238E27FC236}">
                <a16:creationId xmlns:a16="http://schemas.microsoft.com/office/drawing/2014/main" id="{6506C5CA-49FD-41BB-BF18-05BBA5EA6D23}"/>
              </a:ext>
            </a:extLst>
          </p:cNvPr>
          <p:cNvSpPr>
            <a:spLocks noGrp="1"/>
          </p:cNvSpPr>
          <p:nvPr/>
        </p:nvSpPr>
        <p:spPr>
          <a:xfrm>
            <a:off x="5753100" y="2219325"/>
            <a:ext cx="171450" cy="171450"/>
          </a:xfrm>
          <a:prstGeom prst="ellipse">
            <a:avLst/>
          </a:prstGeom>
          <a:solidFill>
            <a:srgbClr val="C8D9D8"/>
          </a:solidFill>
          <a:ln w="0">
            <a:solidFill>
              <a:srgbClr val="C8D9D8"/>
            </a:solidFill>
            <a:prstDash val="solid"/>
          </a:ln>
        </p:spPr>
        <p:txBody>
          <a:bodyPr/>
          <a:lstStyle/>
          <a:p>
            <a:endParaRPr lang="en-IQ"/>
          </a:p>
        </p:txBody>
      </p:sp>
      <p:sp>
        <p:nvSpPr>
          <p:cNvPr id="31" name="Oval 30">
            <a:extLst>
              <a:ext uri="{FF2B5EF4-FFF2-40B4-BE49-F238E27FC236}">
                <a16:creationId xmlns:a16="http://schemas.microsoft.com/office/drawing/2014/main" id="{C45F9B4A-3EE9-4DE2-8601-9386F09E339B}"/>
              </a:ext>
            </a:extLst>
          </p:cNvPr>
          <p:cNvSpPr>
            <a:spLocks noGrp="1"/>
          </p:cNvSpPr>
          <p:nvPr/>
        </p:nvSpPr>
        <p:spPr>
          <a:xfrm>
            <a:off x="6353175" y="2219325"/>
            <a:ext cx="171450" cy="171450"/>
          </a:xfrm>
          <a:prstGeom prst="ellipse">
            <a:avLst/>
          </a:prstGeom>
          <a:solidFill>
            <a:srgbClr val="C8D9D8"/>
          </a:solidFill>
          <a:ln w="0">
            <a:solidFill>
              <a:srgbClr val="C8D9D8"/>
            </a:solidFill>
            <a:prstDash val="solid"/>
          </a:ln>
        </p:spPr>
        <p:txBody>
          <a:bodyPr/>
          <a:lstStyle/>
          <a:p>
            <a:endParaRPr lang="en-IQ"/>
          </a:p>
        </p:txBody>
      </p:sp>
      <p:sp>
        <p:nvSpPr>
          <p:cNvPr id="32" name="Oval 31">
            <a:extLst>
              <a:ext uri="{FF2B5EF4-FFF2-40B4-BE49-F238E27FC236}">
                <a16:creationId xmlns:a16="http://schemas.microsoft.com/office/drawing/2014/main" id="{7474307F-C10B-432B-8D78-2B6E762FBF8C}"/>
              </a:ext>
            </a:extLst>
          </p:cNvPr>
          <p:cNvSpPr>
            <a:spLocks noGrp="1"/>
          </p:cNvSpPr>
          <p:nvPr/>
        </p:nvSpPr>
        <p:spPr>
          <a:xfrm>
            <a:off x="6953250" y="2219325"/>
            <a:ext cx="171450" cy="171450"/>
          </a:xfrm>
          <a:prstGeom prst="ellipse">
            <a:avLst/>
          </a:prstGeom>
          <a:solidFill>
            <a:srgbClr val="C8D9D8"/>
          </a:solidFill>
          <a:ln w="0">
            <a:solidFill>
              <a:srgbClr val="C8D9D8"/>
            </a:solidFill>
            <a:prstDash val="solid"/>
          </a:ln>
        </p:spPr>
        <p:txBody>
          <a:bodyPr/>
          <a:lstStyle/>
          <a:p>
            <a:endParaRPr lang="en-IQ"/>
          </a:p>
        </p:txBody>
      </p:sp>
      <p:sp>
        <p:nvSpPr>
          <p:cNvPr id="33" name="Oval 32">
            <a:extLst>
              <a:ext uri="{FF2B5EF4-FFF2-40B4-BE49-F238E27FC236}">
                <a16:creationId xmlns:a16="http://schemas.microsoft.com/office/drawing/2014/main" id="{3D8B4CD2-EAD7-4B6B-A3FC-0F5691F78882}"/>
              </a:ext>
            </a:extLst>
          </p:cNvPr>
          <p:cNvSpPr>
            <a:spLocks noGrp="1"/>
          </p:cNvSpPr>
          <p:nvPr/>
        </p:nvSpPr>
        <p:spPr>
          <a:xfrm>
            <a:off x="7553325" y="2219325"/>
            <a:ext cx="171450" cy="171450"/>
          </a:xfrm>
          <a:prstGeom prst="ellipse">
            <a:avLst/>
          </a:prstGeom>
          <a:solidFill>
            <a:srgbClr val="C8D9D8"/>
          </a:solidFill>
          <a:ln w="0">
            <a:solidFill>
              <a:srgbClr val="C8D9D8"/>
            </a:solidFill>
            <a:prstDash val="solid"/>
          </a:ln>
        </p:spPr>
        <p:txBody>
          <a:bodyPr/>
          <a:lstStyle/>
          <a:p>
            <a:endParaRPr lang="en-IQ"/>
          </a:p>
        </p:txBody>
      </p:sp>
      <p:sp>
        <p:nvSpPr>
          <p:cNvPr id="34" name="Oval 33">
            <a:extLst>
              <a:ext uri="{FF2B5EF4-FFF2-40B4-BE49-F238E27FC236}">
                <a16:creationId xmlns:a16="http://schemas.microsoft.com/office/drawing/2014/main" id="{0D8FB865-48F8-4B2E-861B-DED1A45B34E0}"/>
              </a:ext>
            </a:extLst>
          </p:cNvPr>
          <p:cNvSpPr>
            <a:spLocks noGrp="1"/>
          </p:cNvSpPr>
          <p:nvPr/>
        </p:nvSpPr>
        <p:spPr>
          <a:xfrm>
            <a:off x="8153400" y="2219325"/>
            <a:ext cx="171450" cy="171450"/>
          </a:xfrm>
          <a:prstGeom prst="ellipse">
            <a:avLst/>
          </a:prstGeom>
          <a:solidFill>
            <a:srgbClr val="C8D9D8"/>
          </a:solidFill>
          <a:ln w="0">
            <a:solidFill>
              <a:srgbClr val="C8D9D8"/>
            </a:solidFill>
            <a:prstDash val="solid"/>
          </a:ln>
        </p:spPr>
        <p:txBody>
          <a:bodyPr/>
          <a:lstStyle/>
          <a:p>
            <a:endParaRPr lang="en-IQ"/>
          </a:p>
        </p:txBody>
      </p:sp>
      <p:sp>
        <p:nvSpPr>
          <p:cNvPr id="35" name="Oval 34">
            <a:extLst>
              <a:ext uri="{FF2B5EF4-FFF2-40B4-BE49-F238E27FC236}">
                <a16:creationId xmlns:a16="http://schemas.microsoft.com/office/drawing/2014/main" id="{DD1AE526-96AF-470E-B126-6F5780BE7911}"/>
              </a:ext>
            </a:extLst>
          </p:cNvPr>
          <p:cNvSpPr>
            <a:spLocks noGrp="1"/>
          </p:cNvSpPr>
          <p:nvPr/>
        </p:nvSpPr>
        <p:spPr>
          <a:xfrm>
            <a:off x="8753475" y="2219325"/>
            <a:ext cx="171450" cy="171450"/>
          </a:xfrm>
          <a:prstGeom prst="ellipse">
            <a:avLst/>
          </a:prstGeom>
          <a:solidFill>
            <a:srgbClr val="C8D9D8"/>
          </a:solidFill>
          <a:ln w="0">
            <a:solidFill>
              <a:srgbClr val="C8D9D8"/>
            </a:solidFill>
            <a:prstDash val="solid"/>
          </a:ln>
        </p:spPr>
        <p:txBody>
          <a:bodyPr/>
          <a:lstStyle/>
          <a:p>
            <a:endParaRPr lang="en-IQ"/>
          </a:p>
        </p:txBody>
      </p:sp>
      <p:sp>
        <p:nvSpPr>
          <p:cNvPr id="36" name="Oval 35">
            <a:extLst>
              <a:ext uri="{FF2B5EF4-FFF2-40B4-BE49-F238E27FC236}">
                <a16:creationId xmlns:a16="http://schemas.microsoft.com/office/drawing/2014/main" id="{BE91DA9F-A990-4327-ABAC-D987A44DD4B7}"/>
              </a:ext>
            </a:extLst>
          </p:cNvPr>
          <p:cNvSpPr>
            <a:spLocks noGrp="1"/>
          </p:cNvSpPr>
          <p:nvPr/>
        </p:nvSpPr>
        <p:spPr>
          <a:xfrm>
            <a:off x="9353550" y="2219325"/>
            <a:ext cx="171450" cy="171450"/>
          </a:xfrm>
          <a:prstGeom prst="ellipse">
            <a:avLst/>
          </a:prstGeom>
          <a:solidFill>
            <a:srgbClr val="C8D9D8"/>
          </a:solidFill>
          <a:ln w="0">
            <a:solidFill>
              <a:srgbClr val="C8D9D8"/>
            </a:solidFill>
            <a:prstDash val="solid"/>
          </a:ln>
        </p:spPr>
        <p:txBody>
          <a:bodyPr/>
          <a:lstStyle/>
          <a:p>
            <a:endParaRPr lang="en-IQ"/>
          </a:p>
        </p:txBody>
      </p:sp>
      <p:sp>
        <p:nvSpPr>
          <p:cNvPr id="37" name="Oval 36">
            <a:extLst>
              <a:ext uri="{FF2B5EF4-FFF2-40B4-BE49-F238E27FC236}">
                <a16:creationId xmlns:a16="http://schemas.microsoft.com/office/drawing/2014/main" id="{D128D4CF-92E6-4D91-9991-EEBC9866D8DF}"/>
              </a:ext>
            </a:extLst>
          </p:cNvPr>
          <p:cNvSpPr>
            <a:spLocks noGrp="1"/>
          </p:cNvSpPr>
          <p:nvPr/>
        </p:nvSpPr>
        <p:spPr>
          <a:xfrm>
            <a:off x="9953625" y="2219325"/>
            <a:ext cx="171450" cy="171450"/>
          </a:xfrm>
          <a:prstGeom prst="ellipse">
            <a:avLst/>
          </a:prstGeom>
          <a:solidFill>
            <a:srgbClr val="C8D9D8"/>
          </a:solidFill>
          <a:ln w="0">
            <a:solidFill>
              <a:srgbClr val="C8D9D8"/>
            </a:solidFill>
            <a:prstDash val="solid"/>
          </a:ln>
        </p:spPr>
        <p:txBody>
          <a:bodyPr/>
          <a:lstStyle/>
          <a:p>
            <a:endParaRPr lang="en-IQ"/>
          </a:p>
        </p:txBody>
      </p:sp>
      <p:sp>
        <p:nvSpPr>
          <p:cNvPr id="38" name="Oval 37">
            <a:extLst>
              <a:ext uri="{FF2B5EF4-FFF2-40B4-BE49-F238E27FC236}">
                <a16:creationId xmlns:a16="http://schemas.microsoft.com/office/drawing/2014/main" id="{E40BF8E1-9ECC-41ED-B2C9-7664B535D6C8}"/>
              </a:ext>
            </a:extLst>
          </p:cNvPr>
          <p:cNvSpPr>
            <a:spLocks noGrp="1"/>
          </p:cNvSpPr>
          <p:nvPr/>
        </p:nvSpPr>
        <p:spPr>
          <a:xfrm>
            <a:off x="952500" y="2867025"/>
            <a:ext cx="171450" cy="171450"/>
          </a:xfrm>
          <a:prstGeom prst="ellipse">
            <a:avLst/>
          </a:prstGeom>
          <a:solidFill>
            <a:srgbClr val="C8D9D8"/>
          </a:solidFill>
          <a:ln w="0">
            <a:solidFill>
              <a:srgbClr val="C8D9D8"/>
            </a:solidFill>
            <a:prstDash val="solid"/>
          </a:ln>
        </p:spPr>
        <p:txBody>
          <a:bodyPr/>
          <a:lstStyle/>
          <a:p>
            <a:endParaRPr lang="en-IQ"/>
          </a:p>
        </p:txBody>
      </p:sp>
      <p:sp>
        <p:nvSpPr>
          <p:cNvPr id="39" name="Oval 38">
            <a:extLst>
              <a:ext uri="{FF2B5EF4-FFF2-40B4-BE49-F238E27FC236}">
                <a16:creationId xmlns:a16="http://schemas.microsoft.com/office/drawing/2014/main" id="{95A29BCF-2363-4B33-B50C-E103A88495D3}"/>
              </a:ext>
            </a:extLst>
          </p:cNvPr>
          <p:cNvSpPr>
            <a:spLocks noGrp="1"/>
          </p:cNvSpPr>
          <p:nvPr/>
        </p:nvSpPr>
        <p:spPr>
          <a:xfrm>
            <a:off x="1552575" y="2867025"/>
            <a:ext cx="171450" cy="171450"/>
          </a:xfrm>
          <a:prstGeom prst="ellipse">
            <a:avLst/>
          </a:prstGeom>
          <a:solidFill>
            <a:srgbClr val="C8D9D8"/>
          </a:solidFill>
          <a:ln w="0">
            <a:solidFill>
              <a:srgbClr val="C8D9D8"/>
            </a:solidFill>
            <a:prstDash val="solid"/>
          </a:ln>
        </p:spPr>
        <p:txBody>
          <a:bodyPr/>
          <a:lstStyle/>
          <a:p>
            <a:endParaRPr lang="en-IQ"/>
          </a:p>
        </p:txBody>
      </p:sp>
      <p:sp>
        <p:nvSpPr>
          <p:cNvPr id="40" name="Oval 39">
            <a:extLst>
              <a:ext uri="{FF2B5EF4-FFF2-40B4-BE49-F238E27FC236}">
                <a16:creationId xmlns:a16="http://schemas.microsoft.com/office/drawing/2014/main" id="{FEC6D3FF-E021-462B-B5A6-B9B753B7372E}"/>
              </a:ext>
            </a:extLst>
          </p:cNvPr>
          <p:cNvSpPr>
            <a:spLocks noGrp="1"/>
          </p:cNvSpPr>
          <p:nvPr/>
        </p:nvSpPr>
        <p:spPr>
          <a:xfrm>
            <a:off x="2152650" y="2867025"/>
            <a:ext cx="171450" cy="171450"/>
          </a:xfrm>
          <a:prstGeom prst="ellipse">
            <a:avLst/>
          </a:prstGeom>
          <a:solidFill>
            <a:srgbClr val="C8D9D8"/>
          </a:solidFill>
          <a:ln w="0">
            <a:solidFill>
              <a:srgbClr val="C8D9D8"/>
            </a:solidFill>
            <a:prstDash val="solid"/>
          </a:ln>
        </p:spPr>
        <p:txBody>
          <a:bodyPr/>
          <a:lstStyle/>
          <a:p>
            <a:endParaRPr lang="en-IQ"/>
          </a:p>
        </p:txBody>
      </p:sp>
      <p:sp>
        <p:nvSpPr>
          <p:cNvPr id="41" name="Oval 40">
            <a:extLst>
              <a:ext uri="{FF2B5EF4-FFF2-40B4-BE49-F238E27FC236}">
                <a16:creationId xmlns:a16="http://schemas.microsoft.com/office/drawing/2014/main" id="{0400533D-05DA-4CE0-8EA2-0CC9E8F7C88C}"/>
              </a:ext>
            </a:extLst>
          </p:cNvPr>
          <p:cNvSpPr>
            <a:spLocks noGrp="1"/>
          </p:cNvSpPr>
          <p:nvPr/>
        </p:nvSpPr>
        <p:spPr>
          <a:xfrm>
            <a:off x="2752725" y="2867025"/>
            <a:ext cx="171450" cy="171450"/>
          </a:xfrm>
          <a:prstGeom prst="ellipse">
            <a:avLst/>
          </a:prstGeom>
          <a:solidFill>
            <a:srgbClr val="C8D9D8"/>
          </a:solidFill>
          <a:ln w="0">
            <a:solidFill>
              <a:srgbClr val="C8D9D8"/>
            </a:solidFill>
            <a:prstDash val="solid"/>
          </a:ln>
        </p:spPr>
        <p:txBody>
          <a:bodyPr/>
          <a:lstStyle/>
          <a:p>
            <a:endParaRPr lang="en-IQ"/>
          </a:p>
        </p:txBody>
      </p:sp>
      <p:sp>
        <p:nvSpPr>
          <p:cNvPr id="42" name="Oval 41">
            <a:extLst>
              <a:ext uri="{FF2B5EF4-FFF2-40B4-BE49-F238E27FC236}">
                <a16:creationId xmlns:a16="http://schemas.microsoft.com/office/drawing/2014/main" id="{C395924D-5C1B-4E89-8AEB-59ED2B96302E}"/>
              </a:ext>
            </a:extLst>
          </p:cNvPr>
          <p:cNvSpPr>
            <a:spLocks noGrp="1"/>
          </p:cNvSpPr>
          <p:nvPr/>
        </p:nvSpPr>
        <p:spPr>
          <a:xfrm>
            <a:off x="3352800" y="2867025"/>
            <a:ext cx="171450" cy="171450"/>
          </a:xfrm>
          <a:prstGeom prst="ellipse">
            <a:avLst/>
          </a:prstGeom>
          <a:solidFill>
            <a:srgbClr val="C8D9D8"/>
          </a:solidFill>
          <a:ln w="0">
            <a:solidFill>
              <a:srgbClr val="C8D9D8"/>
            </a:solidFill>
            <a:prstDash val="solid"/>
          </a:ln>
        </p:spPr>
        <p:txBody>
          <a:bodyPr/>
          <a:lstStyle/>
          <a:p>
            <a:endParaRPr lang="en-IQ"/>
          </a:p>
        </p:txBody>
      </p:sp>
      <p:sp>
        <p:nvSpPr>
          <p:cNvPr id="43" name="Oval 42">
            <a:extLst>
              <a:ext uri="{FF2B5EF4-FFF2-40B4-BE49-F238E27FC236}">
                <a16:creationId xmlns:a16="http://schemas.microsoft.com/office/drawing/2014/main" id="{BBF868AF-D614-41A1-8826-E094C8734C81}"/>
              </a:ext>
            </a:extLst>
          </p:cNvPr>
          <p:cNvSpPr>
            <a:spLocks noGrp="1"/>
          </p:cNvSpPr>
          <p:nvPr/>
        </p:nvSpPr>
        <p:spPr>
          <a:xfrm>
            <a:off x="3952875" y="2867025"/>
            <a:ext cx="171450" cy="171450"/>
          </a:xfrm>
          <a:prstGeom prst="ellipse">
            <a:avLst/>
          </a:prstGeom>
          <a:solidFill>
            <a:srgbClr val="C8D9D8"/>
          </a:solidFill>
          <a:ln w="0">
            <a:solidFill>
              <a:srgbClr val="C8D9D8"/>
            </a:solidFill>
            <a:prstDash val="solid"/>
          </a:ln>
        </p:spPr>
        <p:txBody>
          <a:bodyPr/>
          <a:lstStyle/>
          <a:p>
            <a:endParaRPr lang="en-IQ"/>
          </a:p>
        </p:txBody>
      </p:sp>
      <p:sp>
        <p:nvSpPr>
          <p:cNvPr id="44" name="Oval 43">
            <a:extLst>
              <a:ext uri="{FF2B5EF4-FFF2-40B4-BE49-F238E27FC236}">
                <a16:creationId xmlns:a16="http://schemas.microsoft.com/office/drawing/2014/main" id="{A54F2320-EEB2-46F7-BB24-D461243AA8A2}"/>
              </a:ext>
            </a:extLst>
          </p:cNvPr>
          <p:cNvSpPr>
            <a:spLocks noGrp="1"/>
          </p:cNvSpPr>
          <p:nvPr/>
        </p:nvSpPr>
        <p:spPr>
          <a:xfrm>
            <a:off x="4552950" y="2867025"/>
            <a:ext cx="171450" cy="171450"/>
          </a:xfrm>
          <a:prstGeom prst="ellipse">
            <a:avLst/>
          </a:prstGeom>
          <a:solidFill>
            <a:srgbClr val="C8D9D8"/>
          </a:solidFill>
          <a:ln w="0">
            <a:solidFill>
              <a:srgbClr val="C8D9D8"/>
            </a:solidFill>
            <a:prstDash val="solid"/>
          </a:ln>
        </p:spPr>
        <p:txBody>
          <a:bodyPr/>
          <a:lstStyle/>
          <a:p>
            <a:endParaRPr lang="en-IQ"/>
          </a:p>
        </p:txBody>
      </p:sp>
      <p:sp>
        <p:nvSpPr>
          <p:cNvPr id="45" name="Oval 44">
            <a:extLst>
              <a:ext uri="{FF2B5EF4-FFF2-40B4-BE49-F238E27FC236}">
                <a16:creationId xmlns:a16="http://schemas.microsoft.com/office/drawing/2014/main" id="{D1ABA2C0-3C4E-4C0F-856F-5469BAB336BB}"/>
              </a:ext>
            </a:extLst>
          </p:cNvPr>
          <p:cNvSpPr>
            <a:spLocks noGrp="1"/>
          </p:cNvSpPr>
          <p:nvPr/>
        </p:nvSpPr>
        <p:spPr>
          <a:xfrm>
            <a:off x="5153025" y="2867025"/>
            <a:ext cx="171450" cy="171450"/>
          </a:xfrm>
          <a:prstGeom prst="ellipse">
            <a:avLst/>
          </a:prstGeom>
          <a:solidFill>
            <a:srgbClr val="C8D9D8"/>
          </a:solidFill>
          <a:ln w="0">
            <a:solidFill>
              <a:srgbClr val="C8D9D8"/>
            </a:solidFill>
            <a:prstDash val="solid"/>
          </a:ln>
        </p:spPr>
        <p:txBody>
          <a:bodyPr/>
          <a:lstStyle/>
          <a:p>
            <a:endParaRPr lang="en-IQ"/>
          </a:p>
        </p:txBody>
      </p:sp>
      <p:sp>
        <p:nvSpPr>
          <p:cNvPr id="46" name="Oval 45">
            <a:extLst>
              <a:ext uri="{FF2B5EF4-FFF2-40B4-BE49-F238E27FC236}">
                <a16:creationId xmlns:a16="http://schemas.microsoft.com/office/drawing/2014/main" id="{15207A69-F76E-4BB1-B61B-33EDA887CF8E}"/>
              </a:ext>
            </a:extLst>
          </p:cNvPr>
          <p:cNvSpPr>
            <a:spLocks noGrp="1"/>
          </p:cNvSpPr>
          <p:nvPr/>
        </p:nvSpPr>
        <p:spPr>
          <a:xfrm>
            <a:off x="5753100" y="2867025"/>
            <a:ext cx="171450" cy="171450"/>
          </a:xfrm>
          <a:prstGeom prst="ellipse">
            <a:avLst/>
          </a:prstGeom>
          <a:solidFill>
            <a:srgbClr val="C8D9D8"/>
          </a:solidFill>
          <a:ln w="0">
            <a:solidFill>
              <a:srgbClr val="C8D9D8"/>
            </a:solidFill>
            <a:prstDash val="solid"/>
          </a:ln>
        </p:spPr>
        <p:txBody>
          <a:bodyPr/>
          <a:lstStyle/>
          <a:p>
            <a:endParaRPr lang="en-IQ"/>
          </a:p>
        </p:txBody>
      </p:sp>
      <p:sp>
        <p:nvSpPr>
          <p:cNvPr id="47" name="Oval 46">
            <a:extLst>
              <a:ext uri="{FF2B5EF4-FFF2-40B4-BE49-F238E27FC236}">
                <a16:creationId xmlns:a16="http://schemas.microsoft.com/office/drawing/2014/main" id="{DBDC3DF1-8AA8-4658-841F-6E01C2902135}"/>
              </a:ext>
            </a:extLst>
          </p:cNvPr>
          <p:cNvSpPr>
            <a:spLocks noGrp="1"/>
          </p:cNvSpPr>
          <p:nvPr/>
        </p:nvSpPr>
        <p:spPr>
          <a:xfrm>
            <a:off x="6353175" y="2867025"/>
            <a:ext cx="171450" cy="171450"/>
          </a:xfrm>
          <a:prstGeom prst="ellipse">
            <a:avLst/>
          </a:prstGeom>
          <a:solidFill>
            <a:srgbClr val="C8D9D8"/>
          </a:solidFill>
          <a:ln w="0">
            <a:solidFill>
              <a:srgbClr val="C8D9D8"/>
            </a:solidFill>
            <a:prstDash val="solid"/>
          </a:ln>
        </p:spPr>
        <p:txBody>
          <a:bodyPr/>
          <a:lstStyle/>
          <a:p>
            <a:endParaRPr lang="en-IQ"/>
          </a:p>
        </p:txBody>
      </p:sp>
      <p:sp>
        <p:nvSpPr>
          <p:cNvPr id="48" name="Oval 47">
            <a:extLst>
              <a:ext uri="{FF2B5EF4-FFF2-40B4-BE49-F238E27FC236}">
                <a16:creationId xmlns:a16="http://schemas.microsoft.com/office/drawing/2014/main" id="{81B6D508-EBAB-42EA-B72F-C41A5CC2617E}"/>
              </a:ext>
            </a:extLst>
          </p:cNvPr>
          <p:cNvSpPr>
            <a:spLocks noGrp="1"/>
          </p:cNvSpPr>
          <p:nvPr/>
        </p:nvSpPr>
        <p:spPr>
          <a:xfrm>
            <a:off x="6953250" y="2867025"/>
            <a:ext cx="171450" cy="171450"/>
          </a:xfrm>
          <a:prstGeom prst="ellipse">
            <a:avLst/>
          </a:prstGeom>
          <a:solidFill>
            <a:srgbClr val="C8D9D8"/>
          </a:solidFill>
          <a:ln w="0">
            <a:solidFill>
              <a:srgbClr val="C8D9D8"/>
            </a:solidFill>
            <a:prstDash val="solid"/>
          </a:ln>
        </p:spPr>
        <p:txBody>
          <a:bodyPr/>
          <a:lstStyle/>
          <a:p>
            <a:endParaRPr lang="en-IQ"/>
          </a:p>
        </p:txBody>
      </p:sp>
      <p:sp>
        <p:nvSpPr>
          <p:cNvPr id="49" name="Oval 48">
            <a:extLst>
              <a:ext uri="{FF2B5EF4-FFF2-40B4-BE49-F238E27FC236}">
                <a16:creationId xmlns:a16="http://schemas.microsoft.com/office/drawing/2014/main" id="{7D0B1F84-602D-458D-8DBB-39411917B9B4}"/>
              </a:ext>
            </a:extLst>
          </p:cNvPr>
          <p:cNvSpPr>
            <a:spLocks noGrp="1"/>
          </p:cNvSpPr>
          <p:nvPr/>
        </p:nvSpPr>
        <p:spPr>
          <a:xfrm>
            <a:off x="7553325" y="2867025"/>
            <a:ext cx="171450" cy="171450"/>
          </a:xfrm>
          <a:prstGeom prst="ellipse">
            <a:avLst/>
          </a:prstGeom>
          <a:solidFill>
            <a:srgbClr val="C8D9D8"/>
          </a:solidFill>
          <a:ln w="0">
            <a:solidFill>
              <a:srgbClr val="C8D9D8"/>
            </a:solidFill>
            <a:prstDash val="solid"/>
          </a:ln>
        </p:spPr>
        <p:txBody>
          <a:bodyPr/>
          <a:lstStyle/>
          <a:p>
            <a:endParaRPr lang="en-IQ"/>
          </a:p>
        </p:txBody>
      </p:sp>
      <p:sp>
        <p:nvSpPr>
          <p:cNvPr id="50" name="Oval 49">
            <a:extLst>
              <a:ext uri="{FF2B5EF4-FFF2-40B4-BE49-F238E27FC236}">
                <a16:creationId xmlns:a16="http://schemas.microsoft.com/office/drawing/2014/main" id="{EF49740C-0733-482C-8AF3-F72D5D3DB774}"/>
              </a:ext>
            </a:extLst>
          </p:cNvPr>
          <p:cNvSpPr>
            <a:spLocks noGrp="1"/>
          </p:cNvSpPr>
          <p:nvPr/>
        </p:nvSpPr>
        <p:spPr>
          <a:xfrm>
            <a:off x="8153400" y="2867025"/>
            <a:ext cx="171450" cy="171450"/>
          </a:xfrm>
          <a:prstGeom prst="ellipse">
            <a:avLst/>
          </a:prstGeom>
          <a:solidFill>
            <a:srgbClr val="C8D9D8"/>
          </a:solidFill>
          <a:ln w="0">
            <a:solidFill>
              <a:srgbClr val="C8D9D8"/>
            </a:solidFill>
            <a:prstDash val="solid"/>
          </a:ln>
        </p:spPr>
        <p:txBody>
          <a:bodyPr/>
          <a:lstStyle/>
          <a:p>
            <a:endParaRPr lang="en-IQ"/>
          </a:p>
        </p:txBody>
      </p:sp>
      <p:sp>
        <p:nvSpPr>
          <p:cNvPr id="51" name="Oval 50">
            <a:extLst>
              <a:ext uri="{FF2B5EF4-FFF2-40B4-BE49-F238E27FC236}">
                <a16:creationId xmlns:a16="http://schemas.microsoft.com/office/drawing/2014/main" id="{03775F9C-453F-4760-99AB-902D2315D18B}"/>
              </a:ext>
            </a:extLst>
          </p:cNvPr>
          <p:cNvSpPr>
            <a:spLocks noGrp="1"/>
          </p:cNvSpPr>
          <p:nvPr/>
        </p:nvSpPr>
        <p:spPr>
          <a:xfrm>
            <a:off x="8753475" y="2867025"/>
            <a:ext cx="171450" cy="171450"/>
          </a:xfrm>
          <a:prstGeom prst="ellipse">
            <a:avLst/>
          </a:prstGeom>
          <a:solidFill>
            <a:srgbClr val="C8D9D8"/>
          </a:solidFill>
          <a:ln w="0">
            <a:solidFill>
              <a:srgbClr val="C8D9D8"/>
            </a:solidFill>
            <a:prstDash val="solid"/>
          </a:ln>
        </p:spPr>
        <p:txBody>
          <a:bodyPr/>
          <a:lstStyle/>
          <a:p>
            <a:endParaRPr lang="en-IQ"/>
          </a:p>
        </p:txBody>
      </p:sp>
      <p:sp>
        <p:nvSpPr>
          <p:cNvPr id="52" name="Oval 51">
            <a:extLst>
              <a:ext uri="{FF2B5EF4-FFF2-40B4-BE49-F238E27FC236}">
                <a16:creationId xmlns:a16="http://schemas.microsoft.com/office/drawing/2014/main" id="{5600A585-D935-416E-A36D-6158A05267B1}"/>
              </a:ext>
            </a:extLst>
          </p:cNvPr>
          <p:cNvSpPr>
            <a:spLocks noGrp="1"/>
          </p:cNvSpPr>
          <p:nvPr/>
        </p:nvSpPr>
        <p:spPr>
          <a:xfrm>
            <a:off x="9353550" y="2867025"/>
            <a:ext cx="171450" cy="171450"/>
          </a:xfrm>
          <a:prstGeom prst="ellipse">
            <a:avLst/>
          </a:prstGeom>
          <a:solidFill>
            <a:srgbClr val="C8D9D8"/>
          </a:solidFill>
          <a:ln w="0">
            <a:solidFill>
              <a:srgbClr val="C8D9D8"/>
            </a:solidFill>
            <a:prstDash val="solid"/>
          </a:ln>
        </p:spPr>
        <p:txBody>
          <a:bodyPr/>
          <a:lstStyle/>
          <a:p>
            <a:endParaRPr lang="en-IQ"/>
          </a:p>
        </p:txBody>
      </p:sp>
      <p:sp>
        <p:nvSpPr>
          <p:cNvPr id="53" name="Oval 52">
            <a:extLst>
              <a:ext uri="{FF2B5EF4-FFF2-40B4-BE49-F238E27FC236}">
                <a16:creationId xmlns:a16="http://schemas.microsoft.com/office/drawing/2014/main" id="{4D64647A-7436-4081-A460-982CB032B1DE}"/>
              </a:ext>
            </a:extLst>
          </p:cNvPr>
          <p:cNvSpPr>
            <a:spLocks noGrp="1"/>
          </p:cNvSpPr>
          <p:nvPr/>
        </p:nvSpPr>
        <p:spPr>
          <a:xfrm>
            <a:off x="9953625" y="2867025"/>
            <a:ext cx="171450" cy="171450"/>
          </a:xfrm>
          <a:prstGeom prst="ellipse">
            <a:avLst/>
          </a:prstGeom>
          <a:solidFill>
            <a:srgbClr val="C8D9D8"/>
          </a:solidFill>
          <a:ln w="0">
            <a:solidFill>
              <a:srgbClr val="C8D9D8"/>
            </a:solidFill>
            <a:prstDash val="solid"/>
          </a:ln>
        </p:spPr>
        <p:txBody>
          <a:bodyPr/>
          <a:lstStyle/>
          <a:p>
            <a:endParaRPr lang="en-IQ"/>
          </a:p>
        </p:txBody>
      </p:sp>
      <p:sp>
        <p:nvSpPr>
          <p:cNvPr id="54" name="Oval 53">
            <a:extLst>
              <a:ext uri="{FF2B5EF4-FFF2-40B4-BE49-F238E27FC236}">
                <a16:creationId xmlns:a16="http://schemas.microsoft.com/office/drawing/2014/main" id="{52C91D5D-268D-43FB-AB6B-696144E0E804}"/>
              </a:ext>
            </a:extLst>
          </p:cNvPr>
          <p:cNvSpPr>
            <a:spLocks noGrp="1"/>
          </p:cNvSpPr>
          <p:nvPr/>
        </p:nvSpPr>
        <p:spPr>
          <a:xfrm>
            <a:off x="952500" y="3514725"/>
            <a:ext cx="171450" cy="171450"/>
          </a:xfrm>
          <a:prstGeom prst="ellipse">
            <a:avLst/>
          </a:prstGeom>
          <a:solidFill>
            <a:srgbClr val="C8D9D8"/>
          </a:solidFill>
          <a:ln w="0">
            <a:solidFill>
              <a:srgbClr val="C8D9D8"/>
            </a:solidFill>
            <a:prstDash val="solid"/>
          </a:ln>
        </p:spPr>
        <p:txBody>
          <a:bodyPr/>
          <a:lstStyle/>
          <a:p>
            <a:endParaRPr lang="en-IQ"/>
          </a:p>
        </p:txBody>
      </p:sp>
      <p:sp>
        <p:nvSpPr>
          <p:cNvPr id="55" name="Oval 54">
            <a:extLst>
              <a:ext uri="{FF2B5EF4-FFF2-40B4-BE49-F238E27FC236}">
                <a16:creationId xmlns:a16="http://schemas.microsoft.com/office/drawing/2014/main" id="{DAD293C9-18E3-41A2-A575-4CEF8982B98F}"/>
              </a:ext>
            </a:extLst>
          </p:cNvPr>
          <p:cNvSpPr>
            <a:spLocks noGrp="1"/>
          </p:cNvSpPr>
          <p:nvPr/>
        </p:nvSpPr>
        <p:spPr>
          <a:xfrm>
            <a:off x="1552575" y="3514725"/>
            <a:ext cx="171450" cy="171450"/>
          </a:xfrm>
          <a:prstGeom prst="ellipse">
            <a:avLst/>
          </a:prstGeom>
          <a:solidFill>
            <a:srgbClr val="C8D9D8"/>
          </a:solidFill>
          <a:ln w="0">
            <a:solidFill>
              <a:srgbClr val="C8D9D8"/>
            </a:solidFill>
            <a:prstDash val="solid"/>
          </a:ln>
        </p:spPr>
        <p:txBody>
          <a:bodyPr/>
          <a:lstStyle/>
          <a:p>
            <a:endParaRPr lang="en-IQ"/>
          </a:p>
        </p:txBody>
      </p:sp>
      <p:sp>
        <p:nvSpPr>
          <p:cNvPr id="56" name="Oval 55">
            <a:extLst>
              <a:ext uri="{FF2B5EF4-FFF2-40B4-BE49-F238E27FC236}">
                <a16:creationId xmlns:a16="http://schemas.microsoft.com/office/drawing/2014/main" id="{B48DD5EC-F038-49F2-906B-DD20D6E38A08}"/>
              </a:ext>
            </a:extLst>
          </p:cNvPr>
          <p:cNvSpPr>
            <a:spLocks noGrp="1"/>
          </p:cNvSpPr>
          <p:nvPr/>
        </p:nvSpPr>
        <p:spPr>
          <a:xfrm>
            <a:off x="2152650" y="3514725"/>
            <a:ext cx="171450" cy="171450"/>
          </a:xfrm>
          <a:prstGeom prst="ellipse">
            <a:avLst/>
          </a:prstGeom>
          <a:solidFill>
            <a:srgbClr val="C8D9D8"/>
          </a:solidFill>
          <a:ln w="0">
            <a:solidFill>
              <a:srgbClr val="C8D9D8"/>
            </a:solidFill>
            <a:prstDash val="solid"/>
          </a:ln>
        </p:spPr>
        <p:txBody>
          <a:bodyPr/>
          <a:lstStyle/>
          <a:p>
            <a:endParaRPr lang="en-IQ"/>
          </a:p>
        </p:txBody>
      </p:sp>
      <p:sp>
        <p:nvSpPr>
          <p:cNvPr id="57" name="Oval 56">
            <a:extLst>
              <a:ext uri="{FF2B5EF4-FFF2-40B4-BE49-F238E27FC236}">
                <a16:creationId xmlns:a16="http://schemas.microsoft.com/office/drawing/2014/main" id="{AAAD87F2-2D14-4712-86B0-FAF757B3ABF3}"/>
              </a:ext>
            </a:extLst>
          </p:cNvPr>
          <p:cNvSpPr>
            <a:spLocks noGrp="1"/>
          </p:cNvSpPr>
          <p:nvPr/>
        </p:nvSpPr>
        <p:spPr>
          <a:xfrm>
            <a:off x="2752725" y="3514725"/>
            <a:ext cx="171450" cy="171450"/>
          </a:xfrm>
          <a:prstGeom prst="ellipse">
            <a:avLst/>
          </a:prstGeom>
          <a:solidFill>
            <a:srgbClr val="C8D9D8"/>
          </a:solidFill>
          <a:ln w="0">
            <a:solidFill>
              <a:srgbClr val="C8D9D8"/>
            </a:solidFill>
            <a:prstDash val="solid"/>
          </a:ln>
        </p:spPr>
        <p:txBody>
          <a:bodyPr/>
          <a:lstStyle/>
          <a:p>
            <a:endParaRPr lang="en-IQ"/>
          </a:p>
        </p:txBody>
      </p:sp>
      <p:sp>
        <p:nvSpPr>
          <p:cNvPr id="58" name="Oval 57">
            <a:extLst>
              <a:ext uri="{FF2B5EF4-FFF2-40B4-BE49-F238E27FC236}">
                <a16:creationId xmlns:a16="http://schemas.microsoft.com/office/drawing/2014/main" id="{3E0273B7-DC69-46C8-9FA2-FC87F2B08110}"/>
              </a:ext>
            </a:extLst>
          </p:cNvPr>
          <p:cNvSpPr>
            <a:spLocks noGrp="1"/>
          </p:cNvSpPr>
          <p:nvPr/>
        </p:nvSpPr>
        <p:spPr>
          <a:xfrm>
            <a:off x="3352800" y="3514725"/>
            <a:ext cx="171450" cy="171450"/>
          </a:xfrm>
          <a:prstGeom prst="ellipse">
            <a:avLst/>
          </a:prstGeom>
          <a:solidFill>
            <a:srgbClr val="C8D9D8"/>
          </a:solidFill>
          <a:ln w="0">
            <a:solidFill>
              <a:srgbClr val="C8D9D8"/>
            </a:solidFill>
            <a:prstDash val="solid"/>
          </a:ln>
        </p:spPr>
        <p:txBody>
          <a:bodyPr/>
          <a:lstStyle/>
          <a:p>
            <a:endParaRPr lang="en-IQ"/>
          </a:p>
        </p:txBody>
      </p:sp>
      <p:sp>
        <p:nvSpPr>
          <p:cNvPr id="59" name="Oval 58">
            <a:extLst>
              <a:ext uri="{FF2B5EF4-FFF2-40B4-BE49-F238E27FC236}">
                <a16:creationId xmlns:a16="http://schemas.microsoft.com/office/drawing/2014/main" id="{DA098AA7-54CB-4FC3-BFED-1AA87EF77D2A}"/>
              </a:ext>
            </a:extLst>
          </p:cNvPr>
          <p:cNvSpPr>
            <a:spLocks noGrp="1"/>
          </p:cNvSpPr>
          <p:nvPr/>
        </p:nvSpPr>
        <p:spPr>
          <a:xfrm>
            <a:off x="3952875" y="3514725"/>
            <a:ext cx="171450" cy="171450"/>
          </a:xfrm>
          <a:prstGeom prst="ellipse">
            <a:avLst/>
          </a:prstGeom>
          <a:solidFill>
            <a:srgbClr val="C8D9D8"/>
          </a:solidFill>
          <a:ln w="0">
            <a:solidFill>
              <a:srgbClr val="C8D9D8"/>
            </a:solidFill>
            <a:prstDash val="solid"/>
          </a:ln>
        </p:spPr>
        <p:txBody>
          <a:bodyPr/>
          <a:lstStyle/>
          <a:p>
            <a:endParaRPr lang="en-IQ"/>
          </a:p>
        </p:txBody>
      </p:sp>
      <p:sp>
        <p:nvSpPr>
          <p:cNvPr id="60" name="Oval 59">
            <a:extLst>
              <a:ext uri="{FF2B5EF4-FFF2-40B4-BE49-F238E27FC236}">
                <a16:creationId xmlns:a16="http://schemas.microsoft.com/office/drawing/2014/main" id="{6C54AA39-E82A-42AF-9EF4-E364CBCC5B2C}"/>
              </a:ext>
            </a:extLst>
          </p:cNvPr>
          <p:cNvSpPr>
            <a:spLocks noGrp="1"/>
          </p:cNvSpPr>
          <p:nvPr/>
        </p:nvSpPr>
        <p:spPr>
          <a:xfrm>
            <a:off x="4552950" y="3514725"/>
            <a:ext cx="171450" cy="171450"/>
          </a:xfrm>
          <a:prstGeom prst="ellipse">
            <a:avLst/>
          </a:prstGeom>
          <a:solidFill>
            <a:srgbClr val="C8D9D8"/>
          </a:solidFill>
          <a:ln w="0">
            <a:solidFill>
              <a:srgbClr val="C8D9D8"/>
            </a:solidFill>
            <a:prstDash val="solid"/>
          </a:ln>
        </p:spPr>
        <p:txBody>
          <a:bodyPr/>
          <a:lstStyle/>
          <a:p>
            <a:endParaRPr lang="en-IQ"/>
          </a:p>
        </p:txBody>
      </p:sp>
      <p:sp>
        <p:nvSpPr>
          <p:cNvPr id="61" name="Oval 60">
            <a:extLst>
              <a:ext uri="{FF2B5EF4-FFF2-40B4-BE49-F238E27FC236}">
                <a16:creationId xmlns:a16="http://schemas.microsoft.com/office/drawing/2014/main" id="{76F07BB0-B0A0-4FB5-83D1-52C23F067B46}"/>
              </a:ext>
            </a:extLst>
          </p:cNvPr>
          <p:cNvSpPr>
            <a:spLocks noGrp="1"/>
          </p:cNvSpPr>
          <p:nvPr/>
        </p:nvSpPr>
        <p:spPr>
          <a:xfrm>
            <a:off x="5153025" y="3514725"/>
            <a:ext cx="171450" cy="171450"/>
          </a:xfrm>
          <a:prstGeom prst="ellipse">
            <a:avLst/>
          </a:prstGeom>
          <a:solidFill>
            <a:srgbClr val="C8D9D8"/>
          </a:solidFill>
          <a:ln w="0">
            <a:solidFill>
              <a:srgbClr val="C8D9D8"/>
            </a:solidFill>
            <a:prstDash val="solid"/>
          </a:ln>
        </p:spPr>
        <p:txBody>
          <a:bodyPr/>
          <a:lstStyle/>
          <a:p>
            <a:endParaRPr lang="en-IQ"/>
          </a:p>
        </p:txBody>
      </p:sp>
      <p:sp>
        <p:nvSpPr>
          <p:cNvPr id="62" name="Oval 61">
            <a:extLst>
              <a:ext uri="{FF2B5EF4-FFF2-40B4-BE49-F238E27FC236}">
                <a16:creationId xmlns:a16="http://schemas.microsoft.com/office/drawing/2014/main" id="{CFDBA28A-D9E7-4CC0-BF82-6B0DFDE095DC}"/>
              </a:ext>
            </a:extLst>
          </p:cNvPr>
          <p:cNvSpPr>
            <a:spLocks noGrp="1"/>
          </p:cNvSpPr>
          <p:nvPr/>
        </p:nvSpPr>
        <p:spPr>
          <a:xfrm>
            <a:off x="5753100" y="3514725"/>
            <a:ext cx="171450" cy="171450"/>
          </a:xfrm>
          <a:prstGeom prst="ellipse">
            <a:avLst/>
          </a:prstGeom>
          <a:solidFill>
            <a:srgbClr val="C8D9D8"/>
          </a:solidFill>
          <a:ln w="0">
            <a:solidFill>
              <a:srgbClr val="C8D9D8"/>
            </a:solidFill>
            <a:prstDash val="solid"/>
          </a:ln>
        </p:spPr>
        <p:txBody>
          <a:bodyPr/>
          <a:lstStyle/>
          <a:p>
            <a:endParaRPr lang="en-IQ"/>
          </a:p>
        </p:txBody>
      </p:sp>
      <p:sp>
        <p:nvSpPr>
          <p:cNvPr id="63" name="Oval 62">
            <a:extLst>
              <a:ext uri="{FF2B5EF4-FFF2-40B4-BE49-F238E27FC236}">
                <a16:creationId xmlns:a16="http://schemas.microsoft.com/office/drawing/2014/main" id="{9B764653-802D-410C-9646-5AF4F4A876AF}"/>
              </a:ext>
            </a:extLst>
          </p:cNvPr>
          <p:cNvSpPr>
            <a:spLocks noGrp="1"/>
          </p:cNvSpPr>
          <p:nvPr/>
        </p:nvSpPr>
        <p:spPr>
          <a:xfrm>
            <a:off x="6353175" y="3514725"/>
            <a:ext cx="171450" cy="171450"/>
          </a:xfrm>
          <a:prstGeom prst="ellipse">
            <a:avLst/>
          </a:prstGeom>
          <a:solidFill>
            <a:srgbClr val="C8D9D8"/>
          </a:solidFill>
          <a:ln w="0">
            <a:solidFill>
              <a:srgbClr val="C8D9D8"/>
            </a:solidFill>
            <a:prstDash val="solid"/>
          </a:ln>
        </p:spPr>
        <p:txBody>
          <a:bodyPr/>
          <a:lstStyle/>
          <a:p>
            <a:endParaRPr lang="en-IQ"/>
          </a:p>
        </p:txBody>
      </p:sp>
      <p:sp>
        <p:nvSpPr>
          <p:cNvPr id="64" name="Oval 63">
            <a:extLst>
              <a:ext uri="{FF2B5EF4-FFF2-40B4-BE49-F238E27FC236}">
                <a16:creationId xmlns:a16="http://schemas.microsoft.com/office/drawing/2014/main" id="{37E50A29-627A-44DC-9DAD-4954AB19FFD1}"/>
              </a:ext>
            </a:extLst>
          </p:cNvPr>
          <p:cNvSpPr>
            <a:spLocks noGrp="1"/>
          </p:cNvSpPr>
          <p:nvPr/>
        </p:nvSpPr>
        <p:spPr>
          <a:xfrm>
            <a:off x="6953250" y="3514725"/>
            <a:ext cx="171450" cy="171450"/>
          </a:xfrm>
          <a:prstGeom prst="ellipse">
            <a:avLst/>
          </a:prstGeom>
          <a:solidFill>
            <a:srgbClr val="C8D9D8"/>
          </a:solidFill>
          <a:ln w="0">
            <a:solidFill>
              <a:srgbClr val="C8D9D8"/>
            </a:solidFill>
            <a:prstDash val="solid"/>
          </a:ln>
        </p:spPr>
        <p:txBody>
          <a:bodyPr/>
          <a:lstStyle/>
          <a:p>
            <a:endParaRPr lang="en-IQ"/>
          </a:p>
        </p:txBody>
      </p:sp>
      <p:sp>
        <p:nvSpPr>
          <p:cNvPr id="65" name="Oval 64">
            <a:extLst>
              <a:ext uri="{FF2B5EF4-FFF2-40B4-BE49-F238E27FC236}">
                <a16:creationId xmlns:a16="http://schemas.microsoft.com/office/drawing/2014/main" id="{7D38BCF5-2526-49DC-A7AC-8BA5EF0DC53C}"/>
              </a:ext>
            </a:extLst>
          </p:cNvPr>
          <p:cNvSpPr>
            <a:spLocks noGrp="1"/>
          </p:cNvSpPr>
          <p:nvPr/>
        </p:nvSpPr>
        <p:spPr>
          <a:xfrm>
            <a:off x="7553325" y="3514725"/>
            <a:ext cx="171450" cy="171450"/>
          </a:xfrm>
          <a:prstGeom prst="ellipse">
            <a:avLst/>
          </a:prstGeom>
          <a:solidFill>
            <a:srgbClr val="C8D9D8"/>
          </a:solidFill>
          <a:ln w="0">
            <a:solidFill>
              <a:srgbClr val="C8D9D8"/>
            </a:solidFill>
            <a:prstDash val="solid"/>
          </a:ln>
        </p:spPr>
        <p:txBody>
          <a:bodyPr/>
          <a:lstStyle/>
          <a:p>
            <a:endParaRPr lang="en-IQ"/>
          </a:p>
        </p:txBody>
      </p:sp>
      <p:sp>
        <p:nvSpPr>
          <p:cNvPr id="66" name="Oval 65">
            <a:extLst>
              <a:ext uri="{FF2B5EF4-FFF2-40B4-BE49-F238E27FC236}">
                <a16:creationId xmlns:a16="http://schemas.microsoft.com/office/drawing/2014/main" id="{BAB5224F-369A-45E1-9399-A5B57F76F3DF}"/>
              </a:ext>
            </a:extLst>
          </p:cNvPr>
          <p:cNvSpPr>
            <a:spLocks noGrp="1"/>
          </p:cNvSpPr>
          <p:nvPr/>
        </p:nvSpPr>
        <p:spPr>
          <a:xfrm>
            <a:off x="8153400" y="3514725"/>
            <a:ext cx="171450" cy="171450"/>
          </a:xfrm>
          <a:prstGeom prst="ellipse">
            <a:avLst/>
          </a:prstGeom>
          <a:solidFill>
            <a:srgbClr val="C8D9D8"/>
          </a:solidFill>
          <a:ln w="0">
            <a:solidFill>
              <a:srgbClr val="C8D9D8"/>
            </a:solidFill>
            <a:prstDash val="solid"/>
          </a:ln>
        </p:spPr>
        <p:txBody>
          <a:bodyPr/>
          <a:lstStyle/>
          <a:p>
            <a:endParaRPr lang="en-IQ"/>
          </a:p>
        </p:txBody>
      </p:sp>
      <p:sp>
        <p:nvSpPr>
          <p:cNvPr id="67" name="Oval 66">
            <a:extLst>
              <a:ext uri="{FF2B5EF4-FFF2-40B4-BE49-F238E27FC236}">
                <a16:creationId xmlns:a16="http://schemas.microsoft.com/office/drawing/2014/main" id="{E38C429C-D6FB-47AE-95D5-4F0F3ADCEE18}"/>
              </a:ext>
            </a:extLst>
          </p:cNvPr>
          <p:cNvSpPr>
            <a:spLocks noGrp="1"/>
          </p:cNvSpPr>
          <p:nvPr/>
        </p:nvSpPr>
        <p:spPr>
          <a:xfrm>
            <a:off x="8753475" y="3514725"/>
            <a:ext cx="171450" cy="171450"/>
          </a:xfrm>
          <a:prstGeom prst="ellipse">
            <a:avLst/>
          </a:prstGeom>
          <a:solidFill>
            <a:srgbClr val="C8D9D8"/>
          </a:solidFill>
          <a:ln w="0">
            <a:solidFill>
              <a:srgbClr val="C8D9D8"/>
            </a:solidFill>
            <a:prstDash val="solid"/>
          </a:ln>
        </p:spPr>
        <p:txBody>
          <a:bodyPr/>
          <a:lstStyle/>
          <a:p>
            <a:endParaRPr lang="en-IQ"/>
          </a:p>
        </p:txBody>
      </p:sp>
      <p:sp>
        <p:nvSpPr>
          <p:cNvPr id="68" name="Oval 67">
            <a:extLst>
              <a:ext uri="{FF2B5EF4-FFF2-40B4-BE49-F238E27FC236}">
                <a16:creationId xmlns:a16="http://schemas.microsoft.com/office/drawing/2014/main" id="{4B02CA14-C5A9-48D3-841B-669749F1BAFA}"/>
              </a:ext>
            </a:extLst>
          </p:cNvPr>
          <p:cNvSpPr>
            <a:spLocks noGrp="1"/>
          </p:cNvSpPr>
          <p:nvPr/>
        </p:nvSpPr>
        <p:spPr>
          <a:xfrm>
            <a:off x="9353550" y="3514725"/>
            <a:ext cx="171450" cy="171450"/>
          </a:xfrm>
          <a:prstGeom prst="ellipse">
            <a:avLst/>
          </a:prstGeom>
          <a:solidFill>
            <a:srgbClr val="C8D9D8"/>
          </a:solidFill>
          <a:ln w="0">
            <a:solidFill>
              <a:srgbClr val="C8D9D8"/>
            </a:solidFill>
            <a:prstDash val="solid"/>
          </a:ln>
        </p:spPr>
        <p:txBody>
          <a:bodyPr/>
          <a:lstStyle/>
          <a:p>
            <a:endParaRPr lang="en-IQ"/>
          </a:p>
        </p:txBody>
      </p:sp>
      <p:sp>
        <p:nvSpPr>
          <p:cNvPr id="69" name="Oval 68">
            <a:extLst>
              <a:ext uri="{FF2B5EF4-FFF2-40B4-BE49-F238E27FC236}">
                <a16:creationId xmlns:a16="http://schemas.microsoft.com/office/drawing/2014/main" id="{859BD824-6617-4387-B441-CB00E52DED78}"/>
              </a:ext>
            </a:extLst>
          </p:cNvPr>
          <p:cNvSpPr>
            <a:spLocks noGrp="1"/>
          </p:cNvSpPr>
          <p:nvPr/>
        </p:nvSpPr>
        <p:spPr>
          <a:xfrm>
            <a:off x="9953625" y="3514725"/>
            <a:ext cx="171450" cy="171450"/>
          </a:xfrm>
          <a:prstGeom prst="ellipse">
            <a:avLst/>
          </a:prstGeom>
          <a:solidFill>
            <a:srgbClr val="C8D9D8"/>
          </a:solidFill>
          <a:ln w="0">
            <a:solidFill>
              <a:srgbClr val="C8D9D8"/>
            </a:solidFill>
            <a:prstDash val="solid"/>
          </a:ln>
        </p:spPr>
        <p:txBody>
          <a:bodyPr/>
          <a:lstStyle/>
          <a:p>
            <a:endParaRPr lang="en-IQ"/>
          </a:p>
        </p:txBody>
      </p:sp>
      <p:sp>
        <p:nvSpPr>
          <p:cNvPr id="70" name="Oval 69">
            <a:extLst>
              <a:ext uri="{FF2B5EF4-FFF2-40B4-BE49-F238E27FC236}">
                <a16:creationId xmlns:a16="http://schemas.microsoft.com/office/drawing/2014/main" id="{56826DEA-2BB2-44F9-B5E1-BBB551399B9C}"/>
              </a:ext>
            </a:extLst>
          </p:cNvPr>
          <p:cNvSpPr>
            <a:spLocks noGrp="1"/>
          </p:cNvSpPr>
          <p:nvPr/>
        </p:nvSpPr>
        <p:spPr>
          <a:xfrm>
            <a:off x="952500" y="4162425"/>
            <a:ext cx="171450" cy="171450"/>
          </a:xfrm>
          <a:prstGeom prst="ellipse">
            <a:avLst/>
          </a:prstGeom>
          <a:solidFill>
            <a:srgbClr val="C8D9D8"/>
          </a:solidFill>
          <a:ln w="0">
            <a:solidFill>
              <a:srgbClr val="C8D9D8"/>
            </a:solidFill>
            <a:prstDash val="solid"/>
          </a:ln>
        </p:spPr>
        <p:txBody>
          <a:bodyPr/>
          <a:lstStyle/>
          <a:p>
            <a:endParaRPr lang="en-IQ"/>
          </a:p>
        </p:txBody>
      </p:sp>
      <p:sp>
        <p:nvSpPr>
          <p:cNvPr id="71" name="Oval 70">
            <a:extLst>
              <a:ext uri="{FF2B5EF4-FFF2-40B4-BE49-F238E27FC236}">
                <a16:creationId xmlns:a16="http://schemas.microsoft.com/office/drawing/2014/main" id="{ECC836E5-1017-4E99-ABAE-E131B7015D6D}"/>
              </a:ext>
            </a:extLst>
          </p:cNvPr>
          <p:cNvSpPr>
            <a:spLocks noGrp="1"/>
          </p:cNvSpPr>
          <p:nvPr/>
        </p:nvSpPr>
        <p:spPr>
          <a:xfrm>
            <a:off x="1552575" y="4162425"/>
            <a:ext cx="171450" cy="171450"/>
          </a:xfrm>
          <a:prstGeom prst="ellipse">
            <a:avLst/>
          </a:prstGeom>
          <a:solidFill>
            <a:srgbClr val="C8D9D8"/>
          </a:solidFill>
          <a:ln w="0">
            <a:solidFill>
              <a:srgbClr val="C8D9D8"/>
            </a:solidFill>
            <a:prstDash val="solid"/>
          </a:ln>
        </p:spPr>
        <p:txBody>
          <a:bodyPr/>
          <a:lstStyle/>
          <a:p>
            <a:endParaRPr lang="en-IQ"/>
          </a:p>
        </p:txBody>
      </p:sp>
      <p:sp>
        <p:nvSpPr>
          <p:cNvPr id="72" name="Oval 71">
            <a:extLst>
              <a:ext uri="{FF2B5EF4-FFF2-40B4-BE49-F238E27FC236}">
                <a16:creationId xmlns:a16="http://schemas.microsoft.com/office/drawing/2014/main" id="{4B873681-928D-4C48-B93B-2A878CFFBADC}"/>
              </a:ext>
            </a:extLst>
          </p:cNvPr>
          <p:cNvSpPr>
            <a:spLocks noGrp="1"/>
          </p:cNvSpPr>
          <p:nvPr/>
        </p:nvSpPr>
        <p:spPr>
          <a:xfrm>
            <a:off x="2152650" y="4162425"/>
            <a:ext cx="171450" cy="171450"/>
          </a:xfrm>
          <a:prstGeom prst="ellipse">
            <a:avLst/>
          </a:prstGeom>
          <a:solidFill>
            <a:srgbClr val="C8D9D8"/>
          </a:solidFill>
          <a:ln w="0">
            <a:solidFill>
              <a:srgbClr val="C8D9D8"/>
            </a:solidFill>
            <a:prstDash val="solid"/>
          </a:ln>
        </p:spPr>
        <p:txBody>
          <a:bodyPr/>
          <a:lstStyle/>
          <a:p>
            <a:endParaRPr lang="en-IQ"/>
          </a:p>
        </p:txBody>
      </p:sp>
      <p:sp>
        <p:nvSpPr>
          <p:cNvPr id="73" name="Oval 72">
            <a:extLst>
              <a:ext uri="{FF2B5EF4-FFF2-40B4-BE49-F238E27FC236}">
                <a16:creationId xmlns:a16="http://schemas.microsoft.com/office/drawing/2014/main" id="{1444B4ED-FDC7-4C3E-A922-54D8C1D627E4}"/>
              </a:ext>
            </a:extLst>
          </p:cNvPr>
          <p:cNvSpPr>
            <a:spLocks noGrp="1"/>
          </p:cNvSpPr>
          <p:nvPr/>
        </p:nvSpPr>
        <p:spPr>
          <a:xfrm>
            <a:off x="2752725" y="4162425"/>
            <a:ext cx="171450" cy="171450"/>
          </a:xfrm>
          <a:prstGeom prst="ellipse">
            <a:avLst/>
          </a:prstGeom>
          <a:solidFill>
            <a:srgbClr val="C8D9D8"/>
          </a:solidFill>
          <a:ln w="0">
            <a:solidFill>
              <a:srgbClr val="C8D9D8"/>
            </a:solidFill>
            <a:prstDash val="solid"/>
          </a:ln>
        </p:spPr>
        <p:txBody>
          <a:bodyPr/>
          <a:lstStyle/>
          <a:p>
            <a:endParaRPr lang="en-IQ"/>
          </a:p>
        </p:txBody>
      </p:sp>
      <p:sp>
        <p:nvSpPr>
          <p:cNvPr id="74" name="Oval 73">
            <a:extLst>
              <a:ext uri="{FF2B5EF4-FFF2-40B4-BE49-F238E27FC236}">
                <a16:creationId xmlns:a16="http://schemas.microsoft.com/office/drawing/2014/main" id="{7716855C-3924-44A6-A3D1-C16E447A58E3}"/>
              </a:ext>
            </a:extLst>
          </p:cNvPr>
          <p:cNvSpPr>
            <a:spLocks noGrp="1"/>
          </p:cNvSpPr>
          <p:nvPr/>
        </p:nvSpPr>
        <p:spPr>
          <a:xfrm>
            <a:off x="3352800" y="4162425"/>
            <a:ext cx="171450" cy="171450"/>
          </a:xfrm>
          <a:prstGeom prst="ellipse">
            <a:avLst/>
          </a:prstGeom>
          <a:solidFill>
            <a:srgbClr val="C8D9D8"/>
          </a:solidFill>
          <a:ln w="0">
            <a:solidFill>
              <a:srgbClr val="C8D9D8"/>
            </a:solidFill>
            <a:prstDash val="solid"/>
          </a:ln>
        </p:spPr>
        <p:txBody>
          <a:bodyPr/>
          <a:lstStyle/>
          <a:p>
            <a:endParaRPr lang="en-IQ"/>
          </a:p>
        </p:txBody>
      </p:sp>
      <p:sp>
        <p:nvSpPr>
          <p:cNvPr id="75" name="Oval 74">
            <a:extLst>
              <a:ext uri="{FF2B5EF4-FFF2-40B4-BE49-F238E27FC236}">
                <a16:creationId xmlns:a16="http://schemas.microsoft.com/office/drawing/2014/main" id="{34997A78-0D3F-4E82-AE57-07143AD35E15}"/>
              </a:ext>
            </a:extLst>
          </p:cNvPr>
          <p:cNvSpPr>
            <a:spLocks noGrp="1"/>
          </p:cNvSpPr>
          <p:nvPr/>
        </p:nvSpPr>
        <p:spPr>
          <a:xfrm>
            <a:off x="3952875" y="4162425"/>
            <a:ext cx="171450" cy="171450"/>
          </a:xfrm>
          <a:prstGeom prst="ellipse">
            <a:avLst/>
          </a:prstGeom>
          <a:solidFill>
            <a:srgbClr val="C8D9D8"/>
          </a:solidFill>
          <a:ln w="0">
            <a:solidFill>
              <a:srgbClr val="C8D9D8"/>
            </a:solidFill>
            <a:prstDash val="solid"/>
          </a:ln>
        </p:spPr>
        <p:txBody>
          <a:bodyPr/>
          <a:lstStyle/>
          <a:p>
            <a:endParaRPr lang="en-IQ"/>
          </a:p>
        </p:txBody>
      </p:sp>
      <p:sp>
        <p:nvSpPr>
          <p:cNvPr id="76" name="Oval 75">
            <a:extLst>
              <a:ext uri="{FF2B5EF4-FFF2-40B4-BE49-F238E27FC236}">
                <a16:creationId xmlns:a16="http://schemas.microsoft.com/office/drawing/2014/main" id="{B709D925-B409-4070-B230-12898DF8D092}"/>
              </a:ext>
            </a:extLst>
          </p:cNvPr>
          <p:cNvSpPr>
            <a:spLocks noGrp="1"/>
          </p:cNvSpPr>
          <p:nvPr/>
        </p:nvSpPr>
        <p:spPr>
          <a:xfrm>
            <a:off x="4552950" y="4162425"/>
            <a:ext cx="171450" cy="171450"/>
          </a:xfrm>
          <a:prstGeom prst="ellipse">
            <a:avLst/>
          </a:prstGeom>
          <a:solidFill>
            <a:srgbClr val="C8D9D8"/>
          </a:solidFill>
          <a:ln w="0">
            <a:solidFill>
              <a:srgbClr val="C8D9D8"/>
            </a:solidFill>
            <a:prstDash val="solid"/>
          </a:ln>
        </p:spPr>
        <p:txBody>
          <a:bodyPr/>
          <a:lstStyle/>
          <a:p>
            <a:endParaRPr lang="en-IQ"/>
          </a:p>
        </p:txBody>
      </p:sp>
      <p:sp>
        <p:nvSpPr>
          <p:cNvPr id="77" name="Oval 76">
            <a:extLst>
              <a:ext uri="{FF2B5EF4-FFF2-40B4-BE49-F238E27FC236}">
                <a16:creationId xmlns:a16="http://schemas.microsoft.com/office/drawing/2014/main" id="{8CF999CC-33B3-4710-95F9-D987DB6139DE}"/>
              </a:ext>
            </a:extLst>
          </p:cNvPr>
          <p:cNvSpPr>
            <a:spLocks noGrp="1"/>
          </p:cNvSpPr>
          <p:nvPr/>
        </p:nvSpPr>
        <p:spPr>
          <a:xfrm>
            <a:off x="5153025" y="4162425"/>
            <a:ext cx="171450" cy="171450"/>
          </a:xfrm>
          <a:prstGeom prst="ellipse">
            <a:avLst/>
          </a:prstGeom>
          <a:solidFill>
            <a:srgbClr val="C8D9D8"/>
          </a:solidFill>
          <a:ln w="0">
            <a:solidFill>
              <a:srgbClr val="C8D9D8"/>
            </a:solidFill>
            <a:prstDash val="solid"/>
          </a:ln>
        </p:spPr>
        <p:txBody>
          <a:bodyPr/>
          <a:lstStyle/>
          <a:p>
            <a:endParaRPr lang="en-IQ"/>
          </a:p>
        </p:txBody>
      </p:sp>
      <p:sp>
        <p:nvSpPr>
          <p:cNvPr id="78" name="Oval 77">
            <a:extLst>
              <a:ext uri="{FF2B5EF4-FFF2-40B4-BE49-F238E27FC236}">
                <a16:creationId xmlns:a16="http://schemas.microsoft.com/office/drawing/2014/main" id="{E216BFB8-FD06-414E-A8E6-C6654D9C5D98}"/>
              </a:ext>
            </a:extLst>
          </p:cNvPr>
          <p:cNvSpPr>
            <a:spLocks noGrp="1"/>
          </p:cNvSpPr>
          <p:nvPr/>
        </p:nvSpPr>
        <p:spPr>
          <a:xfrm>
            <a:off x="5753100" y="4162425"/>
            <a:ext cx="171450" cy="171450"/>
          </a:xfrm>
          <a:prstGeom prst="ellipse">
            <a:avLst/>
          </a:prstGeom>
          <a:solidFill>
            <a:srgbClr val="C8D9D8"/>
          </a:solidFill>
          <a:ln w="0">
            <a:solidFill>
              <a:srgbClr val="C8D9D8"/>
            </a:solidFill>
            <a:prstDash val="solid"/>
          </a:ln>
        </p:spPr>
        <p:txBody>
          <a:bodyPr/>
          <a:lstStyle/>
          <a:p>
            <a:endParaRPr lang="en-IQ"/>
          </a:p>
        </p:txBody>
      </p:sp>
      <p:sp>
        <p:nvSpPr>
          <p:cNvPr id="79" name="Oval 78">
            <a:extLst>
              <a:ext uri="{FF2B5EF4-FFF2-40B4-BE49-F238E27FC236}">
                <a16:creationId xmlns:a16="http://schemas.microsoft.com/office/drawing/2014/main" id="{588F986E-9C28-4093-A10F-9470AB14E50B}"/>
              </a:ext>
            </a:extLst>
          </p:cNvPr>
          <p:cNvSpPr>
            <a:spLocks noGrp="1"/>
          </p:cNvSpPr>
          <p:nvPr/>
        </p:nvSpPr>
        <p:spPr>
          <a:xfrm>
            <a:off x="6353175" y="4162425"/>
            <a:ext cx="171450" cy="171450"/>
          </a:xfrm>
          <a:prstGeom prst="ellipse">
            <a:avLst/>
          </a:prstGeom>
          <a:solidFill>
            <a:srgbClr val="C8D9D8"/>
          </a:solidFill>
          <a:ln w="0">
            <a:solidFill>
              <a:srgbClr val="C8D9D8"/>
            </a:solidFill>
            <a:prstDash val="solid"/>
          </a:ln>
        </p:spPr>
        <p:txBody>
          <a:bodyPr/>
          <a:lstStyle/>
          <a:p>
            <a:endParaRPr lang="en-IQ"/>
          </a:p>
        </p:txBody>
      </p:sp>
      <p:sp>
        <p:nvSpPr>
          <p:cNvPr id="80" name="Oval 79">
            <a:extLst>
              <a:ext uri="{FF2B5EF4-FFF2-40B4-BE49-F238E27FC236}">
                <a16:creationId xmlns:a16="http://schemas.microsoft.com/office/drawing/2014/main" id="{C8A98477-67B6-4617-8A5D-D5CA640F0C21}"/>
              </a:ext>
            </a:extLst>
          </p:cNvPr>
          <p:cNvSpPr>
            <a:spLocks noGrp="1"/>
          </p:cNvSpPr>
          <p:nvPr/>
        </p:nvSpPr>
        <p:spPr>
          <a:xfrm>
            <a:off x="6953250" y="4162425"/>
            <a:ext cx="171450" cy="171450"/>
          </a:xfrm>
          <a:prstGeom prst="ellipse">
            <a:avLst/>
          </a:prstGeom>
          <a:solidFill>
            <a:srgbClr val="C8D9D8"/>
          </a:solidFill>
          <a:ln w="0">
            <a:solidFill>
              <a:srgbClr val="C8D9D8"/>
            </a:solidFill>
            <a:prstDash val="solid"/>
          </a:ln>
        </p:spPr>
        <p:txBody>
          <a:bodyPr/>
          <a:lstStyle/>
          <a:p>
            <a:endParaRPr lang="en-IQ"/>
          </a:p>
        </p:txBody>
      </p:sp>
      <p:sp>
        <p:nvSpPr>
          <p:cNvPr id="81" name="Oval 80">
            <a:extLst>
              <a:ext uri="{FF2B5EF4-FFF2-40B4-BE49-F238E27FC236}">
                <a16:creationId xmlns:a16="http://schemas.microsoft.com/office/drawing/2014/main" id="{F16C29B1-0556-461A-8510-650AEEDD6294}"/>
              </a:ext>
            </a:extLst>
          </p:cNvPr>
          <p:cNvSpPr>
            <a:spLocks noGrp="1"/>
          </p:cNvSpPr>
          <p:nvPr/>
        </p:nvSpPr>
        <p:spPr>
          <a:xfrm>
            <a:off x="7553325" y="4162425"/>
            <a:ext cx="171450" cy="171450"/>
          </a:xfrm>
          <a:prstGeom prst="ellipse">
            <a:avLst/>
          </a:prstGeom>
          <a:solidFill>
            <a:srgbClr val="C8D9D8"/>
          </a:solidFill>
          <a:ln w="0">
            <a:solidFill>
              <a:srgbClr val="C8D9D8"/>
            </a:solidFill>
            <a:prstDash val="solid"/>
          </a:ln>
        </p:spPr>
        <p:txBody>
          <a:bodyPr/>
          <a:lstStyle/>
          <a:p>
            <a:endParaRPr lang="en-IQ"/>
          </a:p>
        </p:txBody>
      </p:sp>
      <p:sp>
        <p:nvSpPr>
          <p:cNvPr id="82" name="Oval 81">
            <a:extLst>
              <a:ext uri="{FF2B5EF4-FFF2-40B4-BE49-F238E27FC236}">
                <a16:creationId xmlns:a16="http://schemas.microsoft.com/office/drawing/2014/main" id="{14015F6D-645F-4F21-AB37-67CB09424FE5}"/>
              </a:ext>
            </a:extLst>
          </p:cNvPr>
          <p:cNvSpPr>
            <a:spLocks noGrp="1"/>
          </p:cNvSpPr>
          <p:nvPr/>
        </p:nvSpPr>
        <p:spPr>
          <a:xfrm>
            <a:off x="8153400" y="4162425"/>
            <a:ext cx="171450" cy="171450"/>
          </a:xfrm>
          <a:prstGeom prst="ellipse">
            <a:avLst/>
          </a:prstGeom>
          <a:solidFill>
            <a:srgbClr val="C8D9D8"/>
          </a:solidFill>
          <a:ln w="0">
            <a:solidFill>
              <a:srgbClr val="C8D9D8"/>
            </a:solidFill>
            <a:prstDash val="solid"/>
          </a:ln>
        </p:spPr>
        <p:txBody>
          <a:bodyPr/>
          <a:lstStyle/>
          <a:p>
            <a:endParaRPr lang="en-IQ"/>
          </a:p>
        </p:txBody>
      </p:sp>
      <p:sp>
        <p:nvSpPr>
          <p:cNvPr id="83" name="Oval 82">
            <a:extLst>
              <a:ext uri="{FF2B5EF4-FFF2-40B4-BE49-F238E27FC236}">
                <a16:creationId xmlns:a16="http://schemas.microsoft.com/office/drawing/2014/main" id="{7C717AE6-1B3A-40F8-A4B7-D4B03EB09C88}"/>
              </a:ext>
            </a:extLst>
          </p:cNvPr>
          <p:cNvSpPr>
            <a:spLocks noGrp="1"/>
          </p:cNvSpPr>
          <p:nvPr/>
        </p:nvSpPr>
        <p:spPr>
          <a:xfrm>
            <a:off x="8753475" y="4162425"/>
            <a:ext cx="171450" cy="171450"/>
          </a:xfrm>
          <a:prstGeom prst="ellipse">
            <a:avLst/>
          </a:prstGeom>
          <a:solidFill>
            <a:srgbClr val="C8D9D8"/>
          </a:solidFill>
          <a:ln w="0">
            <a:solidFill>
              <a:srgbClr val="C8D9D8"/>
            </a:solidFill>
            <a:prstDash val="solid"/>
          </a:ln>
        </p:spPr>
        <p:txBody>
          <a:bodyPr/>
          <a:lstStyle/>
          <a:p>
            <a:endParaRPr lang="en-IQ"/>
          </a:p>
        </p:txBody>
      </p:sp>
      <p:sp>
        <p:nvSpPr>
          <p:cNvPr id="84" name="Oval 83">
            <a:extLst>
              <a:ext uri="{FF2B5EF4-FFF2-40B4-BE49-F238E27FC236}">
                <a16:creationId xmlns:a16="http://schemas.microsoft.com/office/drawing/2014/main" id="{0A392508-3B61-4C04-AAEA-B2483C059944}"/>
              </a:ext>
            </a:extLst>
          </p:cNvPr>
          <p:cNvSpPr>
            <a:spLocks noGrp="1"/>
          </p:cNvSpPr>
          <p:nvPr/>
        </p:nvSpPr>
        <p:spPr>
          <a:xfrm>
            <a:off x="9353550" y="4162425"/>
            <a:ext cx="171450" cy="171450"/>
          </a:xfrm>
          <a:prstGeom prst="ellipse">
            <a:avLst/>
          </a:prstGeom>
          <a:solidFill>
            <a:srgbClr val="C8D9D8"/>
          </a:solidFill>
          <a:ln w="0">
            <a:solidFill>
              <a:srgbClr val="C8D9D8"/>
            </a:solidFill>
            <a:prstDash val="solid"/>
          </a:ln>
        </p:spPr>
        <p:txBody>
          <a:bodyPr/>
          <a:lstStyle/>
          <a:p>
            <a:endParaRPr lang="en-IQ"/>
          </a:p>
        </p:txBody>
      </p:sp>
      <p:sp>
        <p:nvSpPr>
          <p:cNvPr id="85" name="Oval 84">
            <a:extLst>
              <a:ext uri="{FF2B5EF4-FFF2-40B4-BE49-F238E27FC236}">
                <a16:creationId xmlns:a16="http://schemas.microsoft.com/office/drawing/2014/main" id="{F6BBEE05-F9A9-4CE9-B9E5-28B5F79343FF}"/>
              </a:ext>
            </a:extLst>
          </p:cNvPr>
          <p:cNvSpPr>
            <a:spLocks noGrp="1"/>
          </p:cNvSpPr>
          <p:nvPr/>
        </p:nvSpPr>
        <p:spPr>
          <a:xfrm>
            <a:off x="9953625" y="4162425"/>
            <a:ext cx="171450" cy="171450"/>
          </a:xfrm>
          <a:prstGeom prst="ellipse">
            <a:avLst/>
          </a:prstGeom>
          <a:solidFill>
            <a:srgbClr val="C8D9D8"/>
          </a:solidFill>
          <a:ln w="0">
            <a:solidFill>
              <a:srgbClr val="C8D9D8"/>
            </a:solidFill>
            <a:prstDash val="solid"/>
          </a:ln>
        </p:spPr>
        <p:txBody>
          <a:bodyPr/>
          <a:lstStyle/>
          <a:p>
            <a:endParaRPr lang="en-IQ"/>
          </a:p>
        </p:txBody>
      </p:sp>
      <p:sp>
        <p:nvSpPr>
          <p:cNvPr id="86" name="Oval 85">
            <a:extLst>
              <a:ext uri="{FF2B5EF4-FFF2-40B4-BE49-F238E27FC236}">
                <a16:creationId xmlns:a16="http://schemas.microsoft.com/office/drawing/2014/main" id="{8EDEEF66-CB23-4B82-9978-3EF42BD15760}"/>
              </a:ext>
            </a:extLst>
          </p:cNvPr>
          <p:cNvSpPr>
            <a:spLocks noGrp="1"/>
          </p:cNvSpPr>
          <p:nvPr/>
        </p:nvSpPr>
        <p:spPr>
          <a:xfrm>
            <a:off x="2752725" y="1571625"/>
            <a:ext cx="266700" cy="266700"/>
          </a:xfrm>
          <a:prstGeom prst="ellipse">
            <a:avLst/>
          </a:prstGeom>
          <a:solidFill>
            <a:srgbClr val="0B9B91"/>
          </a:solidFill>
          <a:ln w="0">
            <a:solidFill>
              <a:srgbClr val="0B9B91"/>
            </a:solidFill>
            <a:prstDash val="solid"/>
          </a:ln>
        </p:spPr>
        <p:txBody>
          <a:bodyPr/>
          <a:lstStyle/>
          <a:p>
            <a:endParaRPr lang="en-IQ"/>
          </a:p>
        </p:txBody>
      </p:sp>
      <p:sp>
        <p:nvSpPr>
          <p:cNvPr id="87" name="Oval 86">
            <a:extLst>
              <a:ext uri="{FF2B5EF4-FFF2-40B4-BE49-F238E27FC236}">
                <a16:creationId xmlns:a16="http://schemas.microsoft.com/office/drawing/2014/main" id="{47959262-4545-4583-B5CA-5BBEAFAC54EF}"/>
              </a:ext>
            </a:extLst>
          </p:cNvPr>
          <p:cNvSpPr>
            <a:spLocks noGrp="1"/>
          </p:cNvSpPr>
          <p:nvPr/>
        </p:nvSpPr>
        <p:spPr>
          <a:xfrm>
            <a:off x="1552575" y="2219325"/>
            <a:ext cx="266700" cy="266700"/>
          </a:xfrm>
          <a:prstGeom prst="ellipse">
            <a:avLst/>
          </a:prstGeom>
          <a:solidFill>
            <a:srgbClr val="0B9B91"/>
          </a:solidFill>
          <a:ln w="0">
            <a:solidFill>
              <a:srgbClr val="0B9B91"/>
            </a:solidFill>
            <a:prstDash val="solid"/>
          </a:ln>
        </p:spPr>
        <p:txBody>
          <a:bodyPr/>
          <a:lstStyle/>
          <a:p>
            <a:endParaRPr lang="en-IQ"/>
          </a:p>
        </p:txBody>
      </p:sp>
      <p:sp>
        <p:nvSpPr>
          <p:cNvPr id="88" name="Oval 87">
            <a:extLst>
              <a:ext uri="{FF2B5EF4-FFF2-40B4-BE49-F238E27FC236}">
                <a16:creationId xmlns:a16="http://schemas.microsoft.com/office/drawing/2014/main" id="{C256A531-17CF-47DD-9C38-F2EE31FC3818}"/>
              </a:ext>
            </a:extLst>
          </p:cNvPr>
          <p:cNvSpPr>
            <a:spLocks noGrp="1"/>
          </p:cNvSpPr>
          <p:nvPr/>
        </p:nvSpPr>
        <p:spPr>
          <a:xfrm>
            <a:off x="6353175" y="2219325"/>
            <a:ext cx="266700" cy="266700"/>
          </a:xfrm>
          <a:prstGeom prst="ellipse">
            <a:avLst/>
          </a:prstGeom>
          <a:solidFill>
            <a:srgbClr val="0B9B91"/>
          </a:solidFill>
          <a:ln w="0">
            <a:solidFill>
              <a:srgbClr val="0B9B91"/>
            </a:solidFill>
            <a:prstDash val="solid"/>
          </a:ln>
        </p:spPr>
        <p:txBody>
          <a:bodyPr/>
          <a:lstStyle/>
          <a:p>
            <a:endParaRPr lang="en-IQ"/>
          </a:p>
        </p:txBody>
      </p:sp>
      <p:sp>
        <p:nvSpPr>
          <p:cNvPr id="89" name="Oval 88">
            <a:extLst>
              <a:ext uri="{FF2B5EF4-FFF2-40B4-BE49-F238E27FC236}">
                <a16:creationId xmlns:a16="http://schemas.microsoft.com/office/drawing/2014/main" id="{0B2D6165-EDF9-48DA-A6E0-2EAECE4A2C56}"/>
              </a:ext>
            </a:extLst>
          </p:cNvPr>
          <p:cNvSpPr>
            <a:spLocks noGrp="1"/>
          </p:cNvSpPr>
          <p:nvPr/>
        </p:nvSpPr>
        <p:spPr>
          <a:xfrm>
            <a:off x="9353550" y="2867025"/>
            <a:ext cx="266700" cy="266700"/>
          </a:xfrm>
          <a:prstGeom prst="ellipse">
            <a:avLst/>
          </a:prstGeom>
          <a:solidFill>
            <a:srgbClr val="0B9B91"/>
          </a:solidFill>
          <a:ln w="0">
            <a:solidFill>
              <a:srgbClr val="0B9B91"/>
            </a:solidFill>
            <a:prstDash val="solid"/>
          </a:ln>
        </p:spPr>
        <p:txBody>
          <a:bodyPr/>
          <a:lstStyle/>
          <a:p>
            <a:endParaRPr lang="en-IQ"/>
          </a:p>
        </p:txBody>
      </p:sp>
      <p:sp>
        <p:nvSpPr>
          <p:cNvPr id="90" name="Oval 89">
            <a:extLst>
              <a:ext uri="{FF2B5EF4-FFF2-40B4-BE49-F238E27FC236}">
                <a16:creationId xmlns:a16="http://schemas.microsoft.com/office/drawing/2014/main" id="{488B2966-A5E5-4185-8244-05745E2C7BAC}"/>
              </a:ext>
            </a:extLst>
          </p:cNvPr>
          <p:cNvSpPr>
            <a:spLocks noGrp="1"/>
          </p:cNvSpPr>
          <p:nvPr/>
        </p:nvSpPr>
        <p:spPr>
          <a:xfrm>
            <a:off x="3952875" y="4162425"/>
            <a:ext cx="266700" cy="266700"/>
          </a:xfrm>
          <a:prstGeom prst="ellipse">
            <a:avLst/>
          </a:prstGeom>
          <a:solidFill>
            <a:srgbClr val="0B9B91"/>
          </a:solidFill>
          <a:ln w="0">
            <a:solidFill>
              <a:srgbClr val="0B9B91"/>
            </a:solidFill>
            <a:prstDash val="solid"/>
          </a:ln>
        </p:spPr>
        <p:txBody>
          <a:bodyPr/>
          <a:lstStyle/>
          <a:p>
            <a:endParaRPr lang="en-IQ"/>
          </a:p>
        </p:txBody>
      </p:sp>
      <p:sp>
        <p:nvSpPr>
          <p:cNvPr id="91" name="Oval 90">
            <a:extLst>
              <a:ext uri="{FF2B5EF4-FFF2-40B4-BE49-F238E27FC236}">
                <a16:creationId xmlns:a16="http://schemas.microsoft.com/office/drawing/2014/main" id="{6EE3C988-DD8C-4529-82BD-66D0794CDCC3}"/>
              </a:ext>
            </a:extLst>
          </p:cNvPr>
          <p:cNvSpPr>
            <a:spLocks noGrp="1"/>
          </p:cNvSpPr>
          <p:nvPr/>
        </p:nvSpPr>
        <p:spPr>
          <a:xfrm>
            <a:off x="8753475" y="4162425"/>
            <a:ext cx="266700" cy="266700"/>
          </a:xfrm>
          <a:prstGeom prst="ellipse">
            <a:avLst/>
          </a:prstGeom>
          <a:solidFill>
            <a:srgbClr val="F2A93B"/>
          </a:solidFill>
          <a:ln w="0">
            <a:solidFill>
              <a:srgbClr val="F2A93B"/>
            </a:solidFill>
            <a:prstDash val="solid"/>
          </a:ln>
        </p:spPr>
        <p:txBody>
          <a:bodyPr/>
          <a:lstStyle/>
          <a:p>
            <a:endParaRPr lang="en-IQ"/>
          </a:p>
        </p:txBody>
      </p:sp>
      <p:sp>
        <p:nvSpPr>
          <p:cNvPr id="92" name="Rectangle 91">
            <a:extLst>
              <a:ext uri="{FF2B5EF4-FFF2-40B4-BE49-F238E27FC236}">
                <a16:creationId xmlns:a16="http://schemas.microsoft.com/office/drawing/2014/main" id="{A777B6DB-EAFF-4669-8032-FB9A372B609E}"/>
              </a:ext>
            </a:extLst>
          </p:cNvPr>
          <p:cNvSpPr>
            <a:spLocks noGrp="1"/>
          </p:cNvSpPr>
          <p:nvPr/>
        </p:nvSpPr>
        <p:spPr>
          <a:xfrm>
            <a:off x="10287000" y="2000250"/>
            <a:ext cx="1143000" cy="304800"/>
          </a:xfrm>
          <a:prstGeom prst="rect">
            <a:avLst/>
          </a:prstGeom>
          <a:noFill/>
          <a:ln w="0">
            <a:noFill/>
            <a:prstDash val="solid"/>
          </a:ln>
        </p:spPr>
        <p:txBody>
          <a:bodyPr anchor="ctr"/>
          <a:lstStyle/>
          <a:p>
            <a:pPr algn="l">
              <a:defRPr sz="1425" b="1">
                <a:solidFill>
                  <a:srgbClr val="0B9B91"/>
                </a:solidFill>
              </a:defRPr>
            </a:pPr>
            <a:r>
              <a:rPr sz="1425" b="1">
                <a:solidFill>
                  <a:srgbClr val="0B9B91"/>
                </a:solidFill>
              </a:rPr>
              <a:t>sampled</a:t>
            </a:r>
          </a:p>
        </p:txBody>
      </p:sp>
      <p:sp>
        <p:nvSpPr>
          <p:cNvPr id="93" name="Rectangle 92">
            <a:extLst>
              <a:ext uri="{FF2B5EF4-FFF2-40B4-BE49-F238E27FC236}">
                <a16:creationId xmlns:a16="http://schemas.microsoft.com/office/drawing/2014/main" id="{C8237E7C-BF1C-4805-A344-5F472B422ECF}"/>
              </a:ext>
            </a:extLst>
          </p:cNvPr>
          <p:cNvSpPr>
            <a:spLocks noGrp="1"/>
          </p:cNvSpPr>
          <p:nvPr/>
        </p:nvSpPr>
        <p:spPr>
          <a:xfrm>
            <a:off x="10287000" y="4095750"/>
            <a:ext cx="1143000" cy="304800"/>
          </a:xfrm>
          <a:prstGeom prst="rect">
            <a:avLst/>
          </a:prstGeom>
          <a:noFill/>
          <a:ln w="0">
            <a:noFill/>
            <a:prstDash val="solid"/>
          </a:ln>
        </p:spPr>
        <p:txBody>
          <a:bodyPr anchor="ctr"/>
          <a:lstStyle/>
          <a:p>
            <a:pPr algn="l">
              <a:defRPr sz="1425" b="1">
                <a:solidFill>
                  <a:srgbClr val="F2A93B"/>
                </a:solidFill>
              </a:defRPr>
            </a:pPr>
            <a:r>
              <a:rPr sz="1425" b="1">
                <a:solidFill>
                  <a:srgbClr val="F2A93B"/>
                </a:solidFill>
              </a:rPr>
              <a:t>best found</a:t>
            </a:r>
          </a:p>
        </p:txBody>
      </p:sp>
      <p:sp>
        <p:nvSpPr>
          <p:cNvPr id="94" name="Rounded Rectangle 93">
            <a:extLst>
              <a:ext uri="{FF2B5EF4-FFF2-40B4-BE49-F238E27FC236}">
                <a16:creationId xmlns:a16="http://schemas.microsoft.com/office/drawing/2014/main" id="{96FB2443-BDED-4BFB-AC58-3DA6CBC9D688}"/>
              </a:ext>
            </a:extLst>
          </p:cNvPr>
          <p:cNvSpPr>
            <a:spLocks noGrp="1"/>
          </p:cNvSpPr>
          <p:nvPr/>
        </p:nvSpPr>
        <p:spPr>
          <a:xfrm>
            <a:off x="1714500" y="5381625"/>
            <a:ext cx="8763000" cy="590550"/>
          </a:xfrm>
          <a:prstGeom prst="roundRect">
            <a:avLst>
              <a:gd name="adj" fmla="val 12903"/>
            </a:avLst>
          </a:prstGeom>
          <a:solidFill>
            <a:srgbClr val="092A3D"/>
          </a:solidFill>
          <a:ln w="0">
            <a:solidFill>
              <a:srgbClr val="092A3D"/>
            </a:solidFill>
            <a:prstDash val="solid"/>
          </a:ln>
        </p:spPr>
        <p:txBody>
          <a:bodyPr/>
          <a:lstStyle/>
          <a:p>
            <a:endParaRPr lang="en-IQ"/>
          </a:p>
        </p:txBody>
      </p:sp>
      <p:sp>
        <p:nvSpPr>
          <p:cNvPr id="95" name="Rectangle 94">
            <a:extLst>
              <a:ext uri="{FF2B5EF4-FFF2-40B4-BE49-F238E27FC236}">
                <a16:creationId xmlns:a16="http://schemas.microsoft.com/office/drawing/2014/main" id="{43883D60-F820-4405-9853-CA02E206F281}"/>
              </a:ext>
            </a:extLst>
          </p:cNvPr>
          <p:cNvSpPr>
            <a:spLocks noGrp="1"/>
          </p:cNvSpPr>
          <p:nvPr/>
        </p:nvSpPr>
        <p:spPr>
          <a:xfrm>
            <a:off x="1905000" y="5457825"/>
            <a:ext cx="8382000" cy="438150"/>
          </a:xfrm>
          <a:prstGeom prst="rect">
            <a:avLst/>
          </a:prstGeom>
          <a:noFill/>
          <a:ln w="0">
            <a:noFill/>
            <a:prstDash val="solid"/>
          </a:ln>
        </p:spPr>
        <p:txBody>
          <a:bodyPr anchor="ctr"/>
          <a:lstStyle/>
          <a:p>
            <a:pPr algn="ctr">
              <a:defRPr sz="1650" b="1">
                <a:solidFill>
                  <a:srgbClr val="FFFFFF"/>
                </a:solidFill>
              </a:defRPr>
            </a:pPr>
            <a:r>
              <a:rPr sz="1650" b="1">
                <a:solidFill>
                  <a:srgbClr val="FFFFFF"/>
                </a:solidFill>
              </a:rPr>
              <a:t>Budget = number of candidates the algorithm is allowed to evaluate</a:t>
            </a:r>
          </a:p>
        </p:txBody>
      </p:sp>
      <p:sp>
        <p:nvSpPr>
          <p:cNvPr id="96" name="Rectangle 95">
            <a:extLst>
              <a:ext uri="{FF2B5EF4-FFF2-40B4-BE49-F238E27FC236}">
                <a16:creationId xmlns:a16="http://schemas.microsoft.com/office/drawing/2014/main" id="{33C4102A-A89E-4646-AE08-D21CCD618191}"/>
              </a:ext>
            </a:extLst>
          </p:cNvPr>
          <p:cNvSpPr>
            <a:spLocks noGrp="1"/>
          </p:cNvSpPr>
          <p:nvPr/>
        </p:nvSpPr>
        <p:spPr>
          <a:xfrm>
            <a:off x="609600" y="1238250"/>
            <a:ext cx="10972800" cy="5067300"/>
          </a:xfrm>
          <a:prstGeom prst="rect">
            <a:avLst/>
          </a:prstGeom>
          <a:solidFill>
            <a:srgbClr val="F7F4EE"/>
          </a:solidFill>
          <a:ln w="0">
            <a:solidFill>
              <a:srgbClr val="F7F4EE"/>
            </a:solidFill>
            <a:prstDash val="solid"/>
          </a:ln>
        </p:spPr>
        <p:txBody>
          <a:bodyPr/>
          <a:lstStyle/>
          <a:p>
            <a:endParaRPr lang="en-IQ"/>
          </a:p>
        </p:txBody>
      </p:sp>
      <p:pic>
        <p:nvPicPr>
          <p:cNvPr id="194" name="Picture 193"/>
          <p:cNvPicPr>
            <a:picLocks noChangeAspect="1"/>
          </p:cNvPicPr>
          <p:nvPr/>
        </p:nvPicPr>
        <p:blipFill>
          <a:blip r:embed="rId3"/>
          <a:stretch/>
        </p:blipFill>
        <p:spPr>
          <a:xfrm>
            <a:off x="1991849" y="1381125"/>
            <a:ext cx="8208303" cy="4619625"/>
          </a:xfrm>
          <a:prstGeom prst="rect">
            <a:avLst/>
          </a:prstGeom>
        </p:spPr>
      </p:pic>
    </p:spTree>
    <p:extLst>
      <p:ext uri="{BB962C8B-B14F-4D97-AF65-F5344CB8AC3E}">
        <p14:creationId xmlns:p14="http://schemas.microsoft.com/office/powerpoint/2010/main" val="194516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099D775-FAC8-452F-B294-5AF1161D56E9}"/>
              </a:ext>
            </a:extLst>
          </p:cNvPr>
          <p:cNvSpPr>
            <a:spLocks noGrp="1"/>
          </p:cNvSpPr>
          <p:nvPr/>
        </p:nvSpPr>
        <p:spPr>
          <a:xfrm>
            <a:off x="609600" y="285750"/>
            <a:ext cx="64770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IMPORTANT DISTINCTION</a:t>
            </a:r>
          </a:p>
        </p:txBody>
      </p:sp>
      <p:sp>
        <p:nvSpPr>
          <p:cNvPr id="2" name="Rectangle 1">
            <a:extLst>
              <a:ext uri="{FF2B5EF4-FFF2-40B4-BE49-F238E27FC236}">
                <a16:creationId xmlns:a16="http://schemas.microsoft.com/office/drawing/2014/main" id="{42EB29EF-C9B2-4704-BF4E-A2B4A4B315AE}"/>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Random search and random walk are not the same</a:t>
            </a:r>
          </a:p>
        </p:txBody>
      </p:sp>
      <p:sp>
        <p:nvSpPr>
          <p:cNvPr id="3" name="Rectangle 2">
            <a:extLst>
              <a:ext uri="{FF2B5EF4-FFF2-40B4-BE49-F238E27FC236}">
                <a16:creationId xmlns:a16="http://schemas.microsoft.com/office/drawing/2014/main" id="{2C773988-AEC9-40AC-A453-11A8312625EB}"/>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5FB2C3C6-CA16-4C90-8330-210C05B445FD}"/>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2</a:t>
            </a:r>
          </a:p>
        </p:txBody>
      </p:sp>
      <p:sp>
        <p:nvSpPr>
          <p:cNvPr id="5" name="Rectangle 4">
            <a:extLst>
              <a:ext uri="{FF2B5EF4-FFF2-40B4-BE49-F238E27FC236}">
                <a16:creationId xmlns:a16="http://schemas.microsoft.com/office/drawing/2014/main" id="{C22BCF84-4B2F-47AC-B94F-A7EBF1528532}"/>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12</a:t>
            </a:r>
          </a:p>
        </p:txBody>
      </p:sp>
      <p:sp>
        <p:nvSpPr>
          <p:cNvPr id="6" name="Rounded Rectangle 5">
            <a:extLst>
              <a:ext uri="{FF2B5EF4-FFF2-40B4-BE49-F238E27FC236}">
                <a16:creationId xmlns:a16="http://schemas.microsoft.com/office/drawing/2014/main" id="{A9EFC04A-FC52-400E-8A64-646B91278C48}"/>
              </a:ext>
            </a:extLst>
          </p:cNvPr>
          <p:cNvSpPr>
            <a:spLocks noGrp="1"/>
          </p:cNvSpPr>
          <p:nvPr/>
        </p:nvSpPr>
        <p:spPr>
          <a:xfrm>
            <a:off x="762000" y="1666875"/>
            <a:ext cx="4762500" cy="3429000"/>
          </a:xfrm>
          <a:prstGeom prst="roundRect">
            <a:avLst>
              <a:gd name="adj" fmla="val 2222"/>
            </a:avLst>
          </a:prstGeom>
          <a:solidFill>
            <a:srgbClr val="FFFFFF"/>
          </a:solidFill>
          <a:ln w="9525">
            <a:solidFill>
              <a:srgbClr val="CED9DB"/>
            </a:solidFill>
            <a:prstDash val="solid"/>
          </a:ln>
        </p:spPr>
        <p:txBody>
          <a:bodyPr/>
          <a:lstStyle/>
          <a:p>
            <a:endParaRPr lang="en-IQ"/>
          </a:p>
        </p:txBody>
      </p:sp>
      <p:sp>
        <p:nvSpPr>
          <p:cNvPr id="7" name="Rectangle 6">
            <a:extLst>
              <a:ext uri="{FF2B5EF4-FFF2-40B4-BE49-F238E27FC236}">
                <a16:creationId xmlns:a16="http://schemas.microsoft.com/office/drawing/2014/main" id="{7F4D4089-94F6-4504-8C76-F812CAA43E6C}"/>
              </a:ext>
            </a:extLst>
          </p:cNvPr>
          <p:cNvSpPr>
            <a:spLocks noGrp="1"/>
          </p:cNvSpPr>
          <p:nvPr/>
        </p:nvSpPr>
        <p:spPr>
          <a:xfrm>
            <a:off x="1143000" y="1952625"/>
            <a:ext cx="4000500" cy="361950"/>
          </a:xfrm>
          <a:prstGeom prst="rect">
            <a:avLst/>
          </a:prstGeom>
          <a:noFill/>
          <a:ln w="0">
            <a:noFill/>
            <a:prstDash val="solid"/>
          </a:ln>
        </p:spPr>
        <p:txBody>
          <a:bodyPr anchor="ctr"/>
          <a:lstStyle/>
          <a:p>
            <a:pPr algn="ctr">
              <a:defRPr sz="1950" b="1">
                <a:solidFill>
                  <a:srgbClr val="0B9B91"/>
                </a:solidFill>
              </a:defRPr>
            </a:pPr>
            <a:r>
              <a:rPr sz="1950" b="1">
                <a:solidFill>
                  <a:srgbClr val="0B9B91"/>
                </a:solidFill>
              </a:rPr>
              <a:t>RANDOM SEARCH</a:t>
            </a:r>
          </a:p>
        </p:txBody>
      </p:sp>
      <p:sp>
        <p:nvSpPr>
          <p:cNvPr id="8" name="Rectangle 7">
            <a:extLst>
              <a:ext uri="{FF2B5EF4-FFF2-40B4-BE49-F238E27FC236}">
                <a16:creationId xmlns:a16="http://schemas.microsoft.com/office/drawing/2014/main" id="{C1C0006F-A29D-4AFD-A91B-BE6CACD8E42D}"/>
              </a:ext>
            </a:extLst>
          </p:cNvPr>
          <p:cNvSpPr>
            <a:spLocks noGrp="1"/>
          </p:cNvSpPr>
          <p:nvPr/>
        </p:nvSpPr>
        <p:spPr>
          <a:xfrm>
            <a:off x="1190625" y="2857500"/>
            <a:ext cx="3905250" cy="857250"/>
          </a:xfrm>
          <a:prstGeom prst="rect">
            <a:avLst/>
          </a:prstGeom>
          <a:noFill/>
          <a:ln w="0">
            <a:noFill/>
            <a:prstDash val="solid"/>
          </a:ln>
        </p:spPr>
        <p:txBody>
          <a:bodyPr anchor="ctr"/>
          <a:lstStyle/>
          <a:p>
            <a:pPr algn="ctr">
              <a:defRPr sz="1725" b="1">
                <a:solidFill>
                  <a:srgbClr val="092A3D"/>
                </a:solidFill>
              </a:defRPr>
            </a:pPr>
            <a:r>
              <a:rPr sz="1725" b="1">
                <a:solidFill>
                  <a:srgbClr val="092A3D"/>
                </a:solidFill>
              </a:rPr>
              <a:t>Each new candidate is sampled</a:t>
            </a:r>
          </a:p>
          <a:p>
            <a:pPr algn="ctr">
              <a:defRPr sz="1725" b="1">
                <a:solidFill>
                  <a:srgbClr val="092A3D"/>
                </a:solidFill>
              </a:defRPr>
            </a:pPr>
            <a:r>
              <a:rPr sz="1725" b="1">
                <a:solidFill>
                  <a:srgbClr val="092A3D"/>
                </a:solidFill>
              </a:rPr>
              <a:t>independently from the whole space.</a:t>
            </a:r>
          </a:p>
        </p:txBody>
      </p:sp>
      <p:sp>
        <p:nvSpPr>
          <p:cNvPr id="9" name="Rectangle 8">
            <a:extLst>
              <a:ext uri="{FF2B5EF4-FFF2-40B4-BE49-F238E27FC236}">
                <a16:creationId xmlns:a16="http://schemas.microsoft.com/office/drawing/2014/main" id="{FD9BE53E-7FA6-4906-AA39-D3A2BC242D69}"/>
              </a:ext>
            </a:extLst>
          </p:cNvPr>
          <p:cNvSpPr>
            <a:spLocks noGrp="1"/>
          </p:cNvSpPr>
          <p:nvPr/>
        </p:nvSpPr>
        <p:spPr>
          <a:xfrm>
            <a:off x="1190625" y="4191000"/>
            <a:ext cx="3905250" cy="400050"/>
          </a:xfrm>
          <a:prstGeom prst="rect">
            <a:avLst/>
          </a:prstGeom>
          <a:noFill/>
          <a:ln w="0">
            <a:noFill/>
            <a:prstDash val="solid"/>
          </a:ln>
        </p:spPr>
        <p:txBody>
          <a:bodyPr anchor="ctr"/>
          <a:lstStyle/>
          <a:p>
            <a:pPr algn="ctr">
              <a:defRPr sz="1425" b="1">
                <a:solidFill>
                  <a:srgbClr val="58707C"/>
                </a:solidFill>
              </a:defRPr>
            </a:pPr>
            <a:r>
              <a:rPr sz="1425" b="1">
                <a:solidFill>
                  <a:srgbClr val="58707C"/>
                </a:solidFill>
              </a:rPr>
              <a:t>broad exploration • no memory of location</a:t>
            </a:r>
          </a:p>
        </p:txBody>
      </p:sp>
      <p:sp>
        <p:nvSpPr>
          <p:cNvPr id="10" name="Rounded Rectangle 9">
            <a:extLst>
              <a:ext uri="{FF2B5EF4-FFF2-40B4-BE49-F238E27FC236}">
                <a16:creationId xmlns:a16="http://schemas.microsoft.com/office/drawing/2014/main" id="{D2F5F7B0-4ED6-42D8-9805-EAE11C2D2716}"/>
              </a:ext>
            </a:extLst>
          </p:cNvPr>
          <p:cNvSpPr>
            <a:spLocks noGrp="1"/>
          </p:cNvSpPr>
          <p:nvPr/>
        </p:nvSpPr>
        <p:spPr>
          <a:xfrm>
            <a:off x="6667500" y="1666875"/>
            <a:ext cx="4762500" cy="3429000"/>
          </a:xfrm>
          <a:prstGeom prst="roundRect">
            <a:avLst>
              <a:gd name="adj" fmla="val 2222"/>
            </a:avLst>
          </a:prstGeom>
          <a:solidFill>
            <a:srgbClr val="FFFFFF"/>
          </a:solidFill>
          <a:ln w="9525">
            <a:solidFill>
              <a:srgbClr val="CED9DB"/>
            </a:solidFill>
            <a:prstDash val="solid"/>
          </a:ln>
        </p:spPr>
        <p:txBody>
          <a:bodyPr/>
          <a:lstStyle/>
          <a:p>
            <a:endParaRPr lang="en-IQ"/>
          </a:p>
        </p:txBody>
      </p:sp>
      <p:sp>
        <p:nvSpPr>
          <p:cNvPr id="11" name="Rectangle 10">
            <a:extLst>
              <a:ext uri="{FF2B5EF4-FFF2-40B4-BE49-F238E27FC236}">
                <a16:creationId xmlns:a16="http://schemas.microsoft.com/office/drawing/2014/main" id="{FC4B1250-351D-4006-85B9-3516D7951E22}"/>
              </a:ext>
            </a:extLst>
          </p:cNvPr>
          <p:cNvSpPr>
            <a:spLocks noGrp="1"/>
          </p:cNvSpPr>
          <p:nvPr/>
        </p:nvSpPr>
        <p:spPr>
          <a:xfrm>
            <a:off x="7048500" y="1952625"/>
            <a:ext cx="4000500" cy="361950"/>
          </a:xfrm>
          <a:prstGeom prst="rect">
            <a:avLst/>
          </a:prstGeom>
          <a:noFill/>
          <a:ln w="0">
            <a:noFill/>
            <a:prstDash val="solid"/>
          </a:ln>
        </p:spPr>
        <p:txBody>
          <a:bodyPr anchor="ctr"/>
          <a:lstStyle/>
          <a:p>
            <a:pPr algn="ctr">
              <a:defRPr sz="1950" b="1">
                <a:solidFill>
                  <a:srgbClr val="2878B5"/>
                </a:solidFill>
              </a:defRPr>
            </a:pPr>
            <a:r>
              <a:rPr sz="1950" b="1">
                <a:solidFill>
                  <a:srgbClr val="2878B5"/>
                </a:solidFill>
              </a:rPr>
              <a:t>RANDOM WALK</a:t>
            </a:r>
          </a:p>
        </p:txBody>
      </p:sp>
      <p:sp>
        <p:nvSpPr>
          <p:cNvPr id="12" name="Rectangle 11">
            <a:extLst>
              <a:ext uri="{FF2B5EF4-FFF2-40B4-BE49-F238E27FC236}">
                <a16:creationId xmlns:a16="http://schemas.microsoft.com/office/drawing/2014/main" id="{13BA8A16-063B-4D16-8B4B-DABAF8DB7F48}"/>
              </a:ext>
            </a:extLst>
          </p:cNvPr>
          <p:cNvSpPr>
            <a:spLocks noGrp="1"/>
          </p:cNvSpPr>
          <p:nvPr/>
        </p:nvSpPr>
        <p:spPr>
          <a:xfrm>
            <a:off x="7096125" y="2857500"/>
            <a:ext cx="3905250" cy="857250"/>
          </a:xfrm>
          <a:prstGeom prst="rect">
            <a:avLst/>
          </a:prstGeom>
          <a:noFill/>
          <a:ln w="0">
            <a:noFill/>
            <a:prstDash val="solid"/>
          </a:ln>
        </p:spPr>
        <p:txBody>
          <a:bodyPr anchor="ctr"/>
          <a:lstStyle/>
          <a:p>
            <a:pPr algn="ctr">
              <a:defRPr sz="1725" b="1">
                <a:solidFill>
                  <a:srgbClr val="092A3D"/>
                </a:solidFill>
              </a:defRPr>
            </a:pPr>
            <a:r>
              <a:rPr sz="1725" b="1">
                <a:solidFill>
                  <a:srgbClr val="092A3D"/>
                </a:solidFill>
              </a:rPr>
              <a:t>Each new candidate is a neighbour</a:t>
            </a:r>
          </a:p>
          <a:p>
            <a:pPr algn="ctr">
              <a:defRPr sz="1725" b="1">
                <a:solidFill>
                  <a:srgbClr val="092A3D"/>
                </a:solidFill>
              </a:defRPr>
            </a:pPr>
            <a:r>
              <a:rPr sz="1725" b="1">
                <a:solidFill>
                  <a:srgbClr val="092A3D"/>
                </a:solidFill>
              </a:rPr>
              <a:t>of the current candidate.</a:t>
            </a:r>
          </a:p>
        </p:txBody>
      </p:sp>
      <p:sp>
        <p:nvSpPr>
          <p:cNvPr id="13" name="Rectangle 12">
            <a:extLst>
              <a:ext uri="{FF2B5EF4-FFF2-40B4-BE49-F238E27FC236}">
                <a16:creationId xmlns:a16="http://schemas.microsoft.com/office/drawing/2014/main" id="{FBA4F79A-0D93-463B-93A0-18A3D4897C4A}"/>
              </a:ext>
            </a:extLst>
          </p:cNvPr>
          <p:cNvSpPr>
            <a:spLocks noGrp="1"/>
          </p:cNvSpPr>
          <p:nvPr/>
        </p:nvSpPr>
        <p:spPr>
          <a:xfrm>
            <a:off x="7096125" y="4191000"/>
            <a:ext cx="3905250" cy="400050"/>
          </a:xfrm>
          <a:prstGeom prst="rect">
            <a:avLst/>
          </a:prstGeom>
          <a:noFill/>
          <a:ln w="0">
            <a:noFill/>
            <a:prstDash val="solid"/>
          </a:ln>
        </p:spPr>
        <p:txBody>
          <a:bodyPr anchor="ctr"/>
          <a:lstStyle/>
          <a:p>
            <a:pPr algn="ctr">
              <a:defRPr sz="1425" b="1">
                <a:solidFill>
                  <a:srgbClr val="58707C"/>
                </a:solidFill>
              </a:defRPr>
            </a:pPr>
            <a:r>
              <a:rPr sz="1425" b="1">
                <a:solidFill>
                  <a:srgbClr val="58707C"/>
                </a:solidFill>
              </a:rPr>
              <a:t>local movement • path depends on history</a:t>
            </a:r>
          </a:p>
        </p:txBody>
      </p:sp>
    </p:spTree>
    <p:extLst>
      <p:ext uri="{BB962C8B-B14F-4D97-AF65-F5344CB8AC3E}">
        <p14:creationId xmlns:p14="http://schemas.microsoft.com/office/powerpoint/2010/main" val="18716680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1D80587A-5D9C-429E-B21F-6068F86F0F2D}"/>
              </a:ext>
            </a:extLst>
          </p:cNvPr>
          <p:cNvSpPr>
            <a:spLocks noGrp="1"/>
          </p:cNvSpPr>
          <p:nvPr/>
        </p:nvSpPr>
        <p:spPr>
          <a:xfrm>
            <a:off x="609600" y="285750"/>
            <a:ext cx="64770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ALGORITHM</a:t>
            </a:r>
          </a:p>
        </p:txBody>
      </p:sp>
      <p:sp>
        <p:nvSpPr>
          <p:cNvPr id="2" name="Rectangle 1">
            <a:extLst>
              <a:ext uri="{FF2B5EF4-FFF2-40B4-BE49-F238E27FC236}">
                <a16:creationId xmlns:a16="http://schemas.microsoft.com/office/drawing/2014/main" id="{9C50382C-1755-4FA4-B40A-852B3D5C803E}"/>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The algorithm needs only generation, evaluation and memory</a:t>
            </a:r>
          </a:p>
        </p:txBody>
      </p:sp>
      <p:sp>
        <p:nvSpPr>
          <p:cNvPr id="3" name="Rectangle 2">
            <a:extLst>
              <a:ext uri="{FF2B5EF4-FFF2-40B4-BE49-F238E27FC236}">
                <a16:creationId xmlns:a16="http://schemas.microsoft.com/office/drawing/2014/main" id="{8A797AE9-81F6-49CD-AFC4-02A8DFD55319}"/>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4E4CC5B6-2736-48A1-9873-23A211272DD3}"/>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2</a:t>
            </a:r>
          </a:p>
        </p:txBody>
      </p:sp>
      <p:sp>
        <p:nvSpPr>
          <p:cNvPr id="5" name="Rectangle 4">
            <a:extLst>
              <a:ext uri="{FF2B5EF4-FFF2-40B4-BE49-F238E27FC236}">
                <a16:creationId xmlns:a16="http://schemas.microsoft.com/office/drawing/2014/main" id="{511A31F0-625C-4CA7-8919-B05654E756C8}"/>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13</a:t>
            </a:r>
          </a:p>
        </p:txBody>
      </p:sp>
      <p:sp>
        <p:nvSpPr>
          <p:cNvPr id="6" name="Straight Connector 5">
            <a:extLst>
              <a:ext uri="{FF2B5EF4-FFF2-40B4-BE49-F238E27FC236}">
                <a16:creationId xmlns:a16="http://schemas.microsoft.com/office/drawing/2014/main" id="{BD0B31D6-0C0B-4720-B8D1-D081B6D414C8}"/>
              </a:ext>
            </a:extLst>
          </p:cNvPr>
          <p:cNvSpPr>
            <a:spLocks noGrp="1"/>
          </p:cNvSpPr>
          <p:nvPr/>
        </p:nvSpPr>
        <p:spPr>
          <a:xfrm>
            <a:off x="2619375" y="3095625"/>
            <a:ext cx="428625" cy="0"/>
          </a:xfrm>
          <a:prstGeom prst="line">
            <a:avLst/>
          </a:prstGeom>
          <a:noFill/>
          <a:ln w="28575">
            <a:solidFill>
              <a:srgbClr val="0B9B91"/>
            </a:solidFill>
            <a:prstDash val="solid"/>
          </a:ln>
        </p:spPr>
        <p:txBody>
          <a:bodyPr/>
          <a:lstStyle/>
          <a:p>
            <a:endParaRPr lang="en-IQ"/>
          </a:p>
        </p:txBody>
      </p:sp>
      <p:sp>
        <p:nvSpPr>
          <p:cNvPr id="7" name="Rounded Rectangle 6">
            <a:extLst>
              <a:ext uri="{FF2B5EF4-FFF2-40B4-BE49-F238E27FC236}">
                <a16:creationId xmlns:a16="http://schemas.microsoft.com/office/drawing/2014/main" id="{B17B0FCF-C556-4D4C-8F0C-1E6B11611856}"/>
              </a:ext>
            </a:extLst>
          </p:cNvPr>
          <p:cNvSpPr>
            <a:spLocks noGrp="1"/>
          </p:cNvSpPr>
          <p:nvPr/>
        </p:nvSpPr>
        <p:spPr>
          <a:xfrm>
            <a:off x="666750" y="2238375"/>
            <a:ext cx="1905000" cy="1714500"/>
          </a:xfrm>
          <a:prstGeom prst="roundRect">
            <a:avLst>
              <a:gd name="adj" fmla="val 4444"/>
            </a:avLst>
          </a:prstGeom>
          <a:solidFill>
            <a:srgbClr val="FFFFFF"/>
          </a:solidFill>
          <a:ln w="9525">
            <a:solidFill>
              <a:srgbClr val="CED9DB"/>
            </a:solidFill>
            <a:prstDash val="solid"/>
          </a:ln>
        </p:spPr>
        <p:txBody>
          <a:bodyPr/>
          <a:lstStyle/>
          <a:p>
            <a:endParaRPr lang="en-IQ"/>
          </a:p>
        </p:txBody>
      </p:sp>
      <p:sp>
        <p:nvSpPr>
          <p:cNvPr id="8" name="Rectangle 7">
            <a:extLst>
              <a:ext uri="{FF2B5EF4-FFF2-40B4-BE49-F238E27FC236}">
                <a16:creationId xmlns:a16="http://schemas.microsoft.com/office/drawing/2014/main" id="{BEBF240C-80EE-4C9C-B806-D946A08906BF}"/>
              </a:ext>
            </a:extLst>
          </p:cNvPr>
          <p:cNvSpPr>
            <a:spLocks noGrp="1"/>
          </p:cNvSpPr>
          <p:nvPr/>
        </p:nvSpPr>
        <p:spPr>
          <a:xfrm>
            <a:off x="857250" y="2428875"/>
            <a:ext cx="400050" cy="304800"/>
          </a:xfrm>
          <a:prstGeom prst="rect">
            <a:avLst/>
          </a:prstGeom>
          <a:noFill/>
          <a:ln w="0">
            <a:noFill/>
            <a:prstDash val="solid"/>
          </a:ln>
        </p:spPr>
        <p:txBody>
          <a:bodyPr anchor="ctr"/>
          <a:lstStyle/>
          <a:p>
            <a:pPr algn="ctr">
              <a:defRPr sz="1425" b="1">
                <a:solidFill>
                  <a:srgbClr val="0B9B91"/>
                </a:solidFill>
              </a:defRPr>
            </a:pPr>
            <a:r>
              <a:rPr sz="1425" b="1">
                <a:solidFill>
                  <a:srgbClr val="0B9B91"/>
                </a:solidFill>
              </a:rPr>
              <a:t>1</a:t>
            </a:r>
          </a:p>
        </p:txBody>
      </p:sp>
      <p:sp>
        <p:nvSpPr>
          <p:cNvPr id="9" name="Rectangle 8">
            <a:extLst>
              <a:ext uri="{FF2B5EF4-FFF2-40B4-BE49-F238E27FC236}">
                <a16:creationId xmlns:a16="http://schemas.microsoft.com/office/drawing/2014/main" id="{A5A13C6D-A320-4505-81D5-7C7777300F3C}"/>
              </a:ext>
            </a:extLst>
          </p:cNvPr>
          <p:cNvSpPr>
            <a:spLocks noGrp="1"/>
          </p:cNvSpPr>
          <p:nvPr/>
        </p:nvSpPr>
        <p:spPr>
          <a:xfrm>
            <a:off x="857250" y="3000375"/>
            <a:ext cx="1524000" cy="619125"/>
          </a:xfrm>
          <a:prstGeom prst="rect">
            <a:avLst/>
          </a:prstGeom>
          <a:noFill/>
          <a:ln w="0">
            <a:noFill/>
            <a:prstDash val="solid"/>
          </a:ln>
        </p:spPr>
        <p:txBody>
          <a:bodyPr anchor="ctr"/>
          <a:lstStyle/>
          <a:p>
            <a:pPr algn="ctr">
              <a:defRPr sz="1425" b="1">
                <a:solidFill>
                  <a:srgbClr val="092A3D"/>
                </a:solidFill>
              </a:defRPr>
            </a:pPr>
            <a:r>
              <a:rPr sz="1425" b="1">
                <a:solidFill>
                  <a:srgbClr val="092A3D"/>
                </a:solidFill>
              </a:rPr>
              <a:t>Seed the generator</a:t>
            </a:r>
          </a:p>
        </p:txBody>
      </p:sp>
      <p:sp>
        <p:nvSpPr>
          <p:cNvPr id="10" name="Straight Connector 9">
            <a:extLst>
              <a:ext uri="{FF2B5EF4-FFF2-40B4-BE49-F238E27FC236}">
                <a16:creationId xmlns:a16="http://schemas.microsoft.com/office/drawing/2014/main" id="{6C8AC7AD-1E40-4919-BC6B-7477162F7D21}"/>
              </a:ext>
            </a:extLst>
          </p:cNvPr>
          <p:cNvSpPr>
            <a:spLocks noGrp="1"/>
          </p:cNvSpPr>
          <p:nvPr/>
        </p:nvSpPr>
        <p:spPr>
          <a:xfrm>
            <a:off x="4810125" y="3095625"/>
            <a:ext cx="428625" cy="0"/>
          </a:xfrm>
          <a:prstGeom prst="line">
            <a:avLst/>
          </a:prstGeom>
          <a:noFill/>
          <a:ln w="28575">
            <a:solidFill>
              <a:srgbClr val="0B9B91"/>
            </a:solidFill>
            <a:prstDash val="solid"/>
          </a:ln>
        </p:spPr>
        <p:txBody>
          <a:bodyPr/>
          <a:lstStyle/>
          <a:p>
            <a:endParaRPr lang="en-IQ"/>
          </a:p>
        </p:txBody>
      </p:sp>
      <p:sp>
        <p:nvSpPr>
          <p:cNvPr id="11" name="Rounded Rectangle 10">
            <a:extLst>
              <a:ext uri="{FF2B5EF4-FFF2-40B4-BE49-F238E27FC236}">
                <a16:creationId xmlns:a16="http://schemas.microsoft.com/office/drawing/2014/main" id="{111C97F5-BCF5-435B-BA2E-8575241076A9}"/>
              </a:ext>
            </a:extLst>
          </p:cNvPr>
          <p:cNvSpPr>
            <a:spLocks noGrp="1"/>
          </p:cNvSpPr>
          <p:nvPr/>
        </p:nvSpPr>
        <p:spPr>
          <a:xfrm>
            <a:off x="2857500" y="2238375"/>
            <a:ext cx="1905000" cy="1714500"/>
          </a:xfrm>
          <a:prstGeom prst="roundRect">
            <a:avLst>
              <a:gd name="adj" fmla="val 4444"/>
            </a:avLst>
          </a:prstGeom>
          <a:solidFill>
            <a:srgbClr val="FFFFFF"/>
          </a:solidFill>
          <a:ln w="9525">
            <a:solidFill>
              <a:srgbClr val="CED9DB"/>
            </a:solidFill>
            <a:prstDash val="solid"/>
          </a:ln>
        </p:spPr>
        <p:txBody>
          <a:bodyPr/>
          <a:lstStyle/>
          <a:p>
            <a:endParaRPr lang="en-IQ"/>
          </a:p>
        </p:txBody>
      </p:sp>
      <p:sp>
        <p:nvSpPr>
          <p:cNvPr id="12" name="Rectangle 11">
            <a:extLst>
              <a:ext uri="{FF2B5EF4-FFF2-40B4-BE49-F238E27FC236}">
                <a16:creationId xmlns:a16="http://schemas.microsoft.com/office/drawing/2014/main" id="{E5046401-A223-401D-B6E3-3E5162AA0EB3}"/>
              </a:ext>
            </a:extLst>
          </p:cNvPr>
          <p:cNvSpPr>
            <a:spLocks noGrp="1"/>
          </p:cNvSpPr>
          <p:nvPr/>
        </p:nvSpPr>
        <p:spPr>
          <a:xfrm>
            <a:off x="3048000" y="2428875"/>
            <a:ext cx="400050" cy="304800"/>
          </a:xfrm>
          <a:prstGeom prst="rect">
            <a:avLst/>
          </a:prstGeom>
          <a:noFill/>
          <a:ln w="0">
            <a:noFill/>
            <a:prstDash val="solid"/>
          </a:ln>
        </p:spPr>
        <p:txBody>
          <a:bodyPr anchor="ctr"/>
          <a:lstStyle/>
          <a:p>
            <a:pPr algn="ctr">
              <a:defRPr sz="1425" b="1">
                <a:solidFill>
                  <a:srgbClr val="0B9B91"/>
                </a:solidFill>
              </a:defRPr>
            </a:pPr>
            <a:r>
              <a:rPr sz="1425" b="1">
                <a:solidFill>
                  <a:srgbClr val="0B9B91"/>
                </a:solidFill>
              </a:rPr>
              <a:t>2</a:t>
            </a:r>
          </a:p>
        </p:txBody>
      </p:sp>
      <p:sp>
        <p:nvSpPr>
          <p:cNvPr id="13" name="Rectangle 12">
            <a:extLst>
              <a:ext uri="{FF2B5EF4-FFF2-40B4-BE49-F238E27FC236}">
                <a16:creationId xmlns:a16="http://schemas.microsoft.com/office/drawing/2014/main" id="{204B04B4-F6DD-4D5C-9E46-1B1872220455}"/>
              </a:ext>
            </a:extLst>
          </p:cNvPr>
          <p:cNvSpPr>
            <a:spLocks noGrp="1"/>
          </p:cNvSpPr>
          <p:nvPr/>
        </p:nvSpPr>
        <p:spPr>
          <a:xfrm>
            <a:off x="3048000" y="3000375"/>
            <a:ext cx="1524000" cy="619125"/>
          </a:xfrm>
          <a:prstGeom prst="rect">
            <a:avLst/>
          </a:prstGeom>
          <a:noFill/>
          <a:ln w="0">
            <a:noFill/>
            <a:prstDash val="solid"/>
          </a:ln>
        </p:spPr>
        <p:txBody>
          <a:bodyPr anchor="ctr"/>
          <a:lstStyle/>
          <a:p>
            <a:pPr algn="ctr">
              <a:defRPr sz="1425" b="1">
                <a:solidFill>
                  <a:srgbClr val="092A3D"/>
                </a:solidFill>
              </a:defRPr>
            </a:pPr>
            <a:r>
              <a:rPr sz="1425" b="1">
                <a:solidFill>
                  <a:srgbClr val="092A3D"/>
                </a:solidFill>
              </a:rPr>
              <a:t>Generate assignment</a:t>
            </a:r>
          </a:p>
        </p:txBody>
      </p:sp>
      <p:sp>
        <p:nvSpPr>
          <p:cNvPr id="14" name="Straight Connector 13">
            <a:extLst>
              <a:ext uri="{FF2B5EF4-FFF2-40B4-BE49-F238E27FC236}">
                <a16:creationId xmlns:a16="http://schemas.microsoft.com/office/drawing/2014/main" id="{7B31FD6D-2FC4-49EC-A759-3408C6487894}"/>
              </a:ext>
            </a:extLst>
          </p:cNvPr>
          <p:cNvSpPr>
            <a:spLocks noGrp="1"/>
          </p:cNvSpPr>
          <p:nvPr/>
        </p:nvSpPr>
        <p:spPr>
          <a:xfrm>
            <a:off x="7000875" y="3095625"/>
            <a:ext cx="428625" cy="0"/>
          </a:xfrm>
          <a:prstGeom prst="line">
            <a:avLst/>
          </a:prstGeom>
          <a:noFill/>
          <a:ln w="28575">
            <a:solidFill>
              <a:srgbClr val="0B9B91"/>
            </a:solidFill>
            <a:prstDash val="solid"/>
          </a:ln>
        </p:spPr>
        <p:txBody>
          <a:bodyPr/>
          <a:lstStyle/>
          <a:p>
            <a:endParaRPr lang="en-IQ"/>
          </a:p>
        </p:txBody>
      </p:sp>
      <p:sp>
        <p:nvSpPr>
          <p:cNvPr id="15" name="Rounded Rectangle 14">
            <a:extLst>
              <a:ext uri="{FF2B5EF4-FFF2-40B4-BE49-F238E27FC236}">
                <a16:creationId xmlns:a16="http://schemas.microsoft.com/office/drawing/2014/main" id="{A1FF0A70-9833-4D93-9126-B551622CA804}"/>
              </a:ext>
            </a:extLst>
          </p:cNvPr>
          <p:cNvSpPr>
            <a:spLocks noGrp="1"/>
          </p:cNvSpPr>
          <p:nvPr/>
        </p:nvSpPr>
        <p:spPr>
          <a:xfrm>
            <a:off x="5048250" y="2238375"/>
            <a:ext cx="1905000" cy="1714500"/>
          </a:xfrm>
          <a:prstGeom prst="roundRect">
            <a:avLst>
              <a:gd name="adj" fmla="val 4444"/>
            </a:avLst>
          </a:prstGeom>
          <a:solidFill>
            <a:srgbClr val="FFFFFF"/>
          </a:solidFill>
          <a:ln w="9525">
            <a:solidFill>
              <a:srgbClr val="CED9DB"/>
            </a:solidFill>
            <a:prstDash val="solid"/>
          </a:ln>
        </p:spPr>
        <p:txBody>
          <a:bodyPr/>
          <a:lstStyle/>
          <a:p>
            <a:endParaRPr lang="en-IQ"/>
          </a:p>
        </p:txBody>
      </p:sp>
      <p:sp>
        <p:nvSpPr>
          <p:cNvPr id="16" name="Rectangle 15">
            <a:extLst>
              <a:ext uri="{FF2B5EF4-FFF2-40B4-BE49-F238E27FC236}">
                <a16:creationId xmlns:a16="http://schemas.microsoft.com/office/drawing/2014/main" id="{00DE9B36-E7B0-423B-8458-3242846B5793}"/>
              </a:ext>
            </a:extLst>
          </p:cNvPr>
          <p:cNvSpPr>
            <a:spLocks noGrp="1"/>
          </p:cNvSpPr>
          <p:nvPr/>
        </p:nvSpPr>
        <p:spPr>
          <a:xfrm>
            <a:off x="5238750" y="2428875"/>
            <a:ext cx="400050" cy="304800"/>
          </a:xfrm>
          <a:prstGeom prst="rect">
            <a:avLst/>
          </a:prstGeom>
          <a:noFill/>
          <a:ln w="0">
            <a:noFill/>
            <a:prstDash val="solid"/>
          </a:ln>
        </p:spPr>
        <p:txBody>
          <a:bodyPr anchor="ctr"/>
          <a:lstStyle/>
          <a:p>
            <a:pPr algn="ctr">
              <a:defRPr sz="1425" b="1">
                <a:solidFill>
                  <a:srgbClr val="0B9B91"/>
                </a:solidFill>
              </a:defRPr>
            </a:pPr>
            <a:r>
              <a:rPr sz="1425" b="1">
                <a:solidFill>
                  <a:srgbClr val="0B9B91"/>
                </a:solidFill>
              </a:rPr>
              <a:t>3</a:t>
            </a:r>
          </a:p>
        </p:txBody>
      </p:sp>
      <p:sp>
        <p:nvSpPr>
          <p:cNvPr id="17" name="Rectangle 16">
            <a:extLst>
              <a:ext uri="{FF2B5EF4-FFF2-40B4-BE49-F238E27FC236}">
                <a16:creationId xmlns:a16="http://schemas.microsoft.com/office/drawing/2014/main" id="{C65214A8-B2F4-4564-84EF-456E1C976F5A}"/>
              </a:ext>
            </a:extLst>
          </p:cNvPr>
          <p:cNvSpPr>
            <a:spLocks noGrp="1"/>
          </p:cNvSpPr>
          <p:nvPr/>
        </p:nvSpPr>
        <p:spPr>
          <a:xfrm>
            <a:off x="5238750" y="3000375"/>
            <a:ext cx="1524000" cy="619125"/>
          </a:xfrm>
          <a:prstGeom prst="rect">
            <a:avLst/>
          </a:prstGeom>
          <a:noFill/>
          <a:ln w="0">
            <a:noFill/>
            <a:prstDash val="solid"/>
          </a:ln>
        </p:spPr>
        <p:txBody>
          <a:bodyPr anchor="ctr"/>
          <a:lstStyle/>
          <a:p>
            <a:pPr algn="ctr">
              <a:defRPr sz="1425" b="1">
                <a:solidFill>
                  <a:srgbClr val="092A3D"/>
                </a:solidFill>
              </a:defRPr>
            </a:pPr>
            <a:r>
              <a:rPr sz="1425" b="1">
                <a:solidFill>
                  <a:srgbClr val="092A3D"/>
                </a:solidFill>
              </a:rPr>
              <a:t>Evaluate feasibility</a:t>
            </a:r>
          </a:p>
        </p:txBody>
      </p:sp>
      <p:sp>
        <p:nvSpPr>
          <p:cNvPr id="18" name="Straight Connector 17">
            <a:extLst>
              <a:ext uri="{FF2B5EF4-FFF2-40B4-BE49-F238E27FC236}">
                <a16:creationId xmlns:a16="http://schemas.microsoft.com/office/drawing/2014/main" id="{500D72F4-55A5-4392-A396-7860F32B06BB}"/>
              </a:ext>
            </a:extLst>
          </p:cNvPr>
          <p:cNvSpPr>
            <a:spLocks noGrp="1"/>
          </p:cNvSpPr>
          <p:nvPr/>
        </p:nvSpPr>
        <p:spPr>
          <a:xfrm>
            <a:off x="9191625" y="3095625"/>
            <a:ext cx="428625" cy="0"/>
          </a:xfrm>
          <a:prstGeom prst="line">
            <a:avLst/>
          </a:prstGeom>
          <a:noFill/>
          <a:ln w="28575">
            <a:solidFill>
              <a:srgbClr val="0B9B91"/>
            </a:solidFill>
            <a:prstDash val="solid"/>
          </a:ln>
        </p:spPr>
        <p:txBody>
          <a:bodyPr/>
          <a:lstStyle/>
          <a:p>
            <a:endParaRPr lang="en-IQ"/>
          </a:p>
        </p:txBody>
      </p:sp>
      <p:sp>
        <p:nvSpPr>
          <p:cNvPr id="19" name="Rounded Rectangle 18">
            <a:extLst>
              <a:ext uri="{FF2B5EF4-FFF2-40B4-BE49-F238E27FC236}">
                <a16:creationId xmlns:a16="http://schemas.microsoft.com/office/drawing/2014/main" id="{56076F3B-EDF9-4F61-8F61-D8CC8C909335}"/>
              </a:ext>
            </a:extLst>
          </p:cNvPr>
          <p:cNvSpPr>
            <a:spLocks noGrp="1"/>
          </p:cNvSpPr>
          <p:nvPr/>
        </p:nvSpPr>
        <p:spPr>
          <a:xfrm>
            <a:off x="7239000" y="2238375"/>
            <a:ext cx="1905000" cy="1714500"/>
          </a:xfrm>
          <a:prstGeom prst="roundRect">
            <a:avLst>
              <a:gd name="adj" fmla="val 4444"/>
            </a:avLst>
          </a:prstGeom>
          <a:solidFill>
            <a:srgbClr val="FFFFFF"/>
          </a:solidFill>
          <a:ln w="9525">
            <a:solidFill>
              <a:srgbClr val="CED9DB"/>
            </a:solidFill>
            <a:prstDash val="solid"/>
          </a:ln>
        </p:spPr>
        <p:txBody>
          <a:bodyPr/>
          <a:lstStyle/>
          <a:p>
            <a:endParaRPr lang="en-IQ"/>
          </a:p>
        </p:txBody>
      </p:sp>
      <p:sp>
        <p:nvSpPr>
          <p:cNvPr id="20" name="Rectangle 19">
            <a:extLst>
              <a:ext uri="{FF2B5EF4-FFF2-40B4-BE49-F238E27FC236}">
                <a16:creationId xmlns:a16="http://schemas.microsoft.com/office/drawing/2014/main" id="{F8CE7ED0-DE18-4DD7-859C-A90CCBAD5EAD}"/>
              </a:ext>
            </a:extLst>
          </p:cNvPr>
          <p:cNvSpPr>
            <a:spLocks noGrp="1"/>
          </p:cNvSpPr>
          <p:nvPr/>
        </p:nvSpPr>
        <p:spPr>
          <a:xfrm>
            <a:off x="7429500" y="2428875"/>
            <a:ext cx="400050" cy="304800"/>
          </a:xfrm>
          <a:prstGeom prst="rect">
            <a:avLst/>
          </a:prstGeom>
          <a:noFill/>
          <a:ln w="0">
            <a:noFill/>
            <a:prstDash val="solid"/>
          </a:ln>
        </p:spPr>
        <p:txBody>
          <a:bodyPr anchor="ctr"/>
          <a:lstStyle/>
          <a:p>
            <a:pPr algn="ctr">
              <a:defRPr sz="1425" b="1">
                <a:solidFill>
                  <a:srgbClr val="0B9B91"/>
                </a:solidFill>
              </a:defRPr>
            </a:pPr>
            <a:r>
              <a:rPr sz="1425" b="1">
                <a:solidFill>
                  <a:srgbClr val="0B9B91"/>
                </a:solidFill>
              </a:rPr>
              <a:t>4</a:t>
            </a:r>
          </a:p>
        </p:txBody>
      </p:sp>
      <p:sp>
        <p:nvSpPr>
          <p:cNvPr id="21" name="Rectangle 20">
            <a:extLst>
              <a:ext uri="{FF2B5EF4-FFF2-40B4-BE49-F238E27FC236}">
                <a16:creationId xmlns:a16="http://schemas.microsoft.com/office/drawing/2014/main" id="{68CD8AE3-4F9B-42E1-BACF-195FDEF5C2AF}"/>
              </a:ext>
            </a:extLst>
          </p:cNvPr>
          <p:cNvSpPr>
            <a:spLocks noGrp="1"/>
          </p:cNvSpPr>
          <p:nvPr/>
        </p:nvSpPr>
        <p:spPr>
          <a:xfrm>
            <a:off x="7429500" y="3000375"/>
            <a:ext cx="1524000" cy="619125"/>
          </a:xfrm>
          <a:prstGeom prst="rect">
            <a:avLst/>
          </a:prstGeom>
          <a:noFill/>
          <a:ln w="0">
            <a:noFill/>
            <a:prstDash val="solid"/>
          </a:ln>
        </p:spPr>
        <p:txBody>
          <a:bodyPr anchor="ctr"/>
          <a:lstStyle/>
          <a:p>
            <a:pPr algn="ctr">
              <a:defRPr sz="1425" b="1">
                <a:solidFill>
                  <a:srgbClr val="092A3D"/>
                </a:solidFill>
              </a:defRPr>
            </a:pPr>
            <a:r>
              <a:rPr sz="1425" b="1">
                <a:solidFill>
                  <a:srgbClr val="092A3D"/>
                </a:solidFill>
              </a:rPr>
              <a:t>Compare objective</a:t>
            </a:r>
          </a:p>
        </p:txBody>
      </p:sp>
      <p:sp>
        <p:nvSpPr>
          <p:cNvPr id="22" name="Rounded Rectangle 21">
            <a:extLst>
              <a:ext uri="{FF2B5EF4-FFF2-40B4-BE49-F238E27FC236}">
                <a16:creationId xmlns:a16="http://schemas.microsoft.com/office/drawing/2014/main" id="{5FFA590E-BE7A-4AD0-9644-EB3689B9AA7C}"/>
              </a:ext>
            </a:extLst>
          </p:cNvPr>
          <p:cNvSpPr>
            <a:spLocks noGrp="1"/>
          </p:cNvSpPr>
          <p:nvPr/>
        </p:nvSpPr>
        <p:spPr>
          <a:xfrm>
            <a:off x="9429750" y="2238375"/>
            <a:ext cx="1905000" cy="1714500"/>
          </a:xfrm>
          <a:prstGeom prst="roundRect">
            <a:avLst>
              <a:gd name="adj" fmla="val 4444"/>
            </a:avLst>
          </a:prstGeom>
          <a:solidFill>
            <a:srgbClr val="092A3D"/>
          </a:solidFill>
          <a:ln w="9525">
            <a:solidFill>
              <a:srgbClr val="092A3D"/>
            </a:solidFill>
            <a:prstDash val="solid"/>
          </a:ln>
        </p:spPr>
        <p:txBody>
          <a:bodyPr/>
          <a:lstStyle/>
          <a:p>
            <a:endParaRPr lang="en-IQ"/>
          </a:p>
        </p:txBody>
      </p:sp>
      <p:sp>
        <p:nvSpPr>
          <p:cNvPr id="23" name="Rectangle 22">
            <a:extLst>
              <a:ext uri="{FF2B5EF4-FFF2-40B4-BE49-F238E27FC236}">
                <a16:creationId xmlns:a16="http://schemas.microsoft.com/office/drawing/2014/main" id="{4A6A335B-D13F-4839-A2DB-050A3E0C5E0B}"/>
              </a:ext>
            </a:extLst>
          </p:cNvPr>
          <p:cNvSpPr>
            <a:spLocks noGrp="1"/>
          </p:cNvSpPr>
          <p:nvPr/>
        </p:nvSpPr>
        <p:spPr>
          <a:xfrm>
            <a:off x="9620250" y="2428875"/>
            <a:ext cx="400050" cy="304800"/>
          </a:xfrm>
          <a:prstGeom prst="rect">
            <a:avLst/>
          </a:prstGeom>
          <a:noFill/>
          <a:ln w="0">
            <a:noFill/>
            <a:prstDash val="solid"/>
          </a:ln>
        </p:spPr>
        <p:txBody>
          <a:bodyPr anchor="ctr"/>
          <a:lstStyle/>
          <a:p>
            <a:pPr algn="ctr">
              <a:defRPr sz="1425" b="1">
                <a:solidFill>
                  <a:srgbClr val="F2A93B"/>
                </a:solidFill>
              </a:defRPr>
            </a:pPr>
            <a:r>
              <a:rPr sz="1425" b="1">
                <a:solidFill>
                  <a:srgbClr val="F2A93B"/>
                </a:solidFill>
              </a:rPr>
              <a:t>5</a:t>
            </a:r>
          </a:p>
        </p:txBody>
      </p:sp>
      <p:sp>
        <p:nvSpPr>
          <p:cNvPr id="24" name="Rectangle 23">
            <a:extLst>
              <a:ext uri="{FF2B5EF4-FFF2-40B4-BE49-F238E27FC236}">
                <a16:creationId xmlns:a16="http://schemas.microsoft.com/office/drawing/2014/main" id="{0D58235B-3A4B-4A3B-94A9-8AF612B89448}"/>
              </a:ext>
            </a:extLst>
          </p:cNvPr>
          <p:cNvSpPr>
            <a:spLocks noGrp="1"/>
          </p:cNvSpPr>
          <p:nvPr/>
        </p:nvSpPr>
        <p:spPr>
          <a:xfrm>
            <a:off x="9620250" y="2917581"/>
            <a:ext cx="1714500" cy="619125"/>
          </a:xfrm>
          <a:prstGeom prst="rect">
            <a:avLst/>
          </a:prstGeom>
          <a:noFill/>
          <a:ln w="0">
            <a:noFill/>
            <a:prstDash val="solid"/>
          </a:ln>
        </p:spPr>
        <p:txBody>
          <a:bodyPr anchor="ctr"/>
          <a:lstStyle/>
          <a:p>
            <a:pPr algn="ctr">
              <a:defRPr sz="1425" b="1">
                <a:solidFill>
                  <a:srgbClr val="FFFFFF"/>
                </a:solidFill>
              </a:defRPr>
            </a:pPr>
            <a:r>
              <a:rPr sz="1425" b="1" dirty="0">
                <a:solidFill>
                  <a:srgbClr val="FFFFFF"/>
                </a:solidFill>
              </a:rPr>
              <a:t>Preserve best-so-far</a:t>
            </a:r>
          </a:p>
        </p:txBody>
      </p:sp>
      <p:sp>
        <p:nvSpPr>
          <p:cNvPr id="25" name="Rounded Rectangle 24">
            <a:extLst>
              <a:ext uri="{FF2B5EF4-FFF2-40B4-BE49-F238E27FC236}">
                <a16:creationId xmlns:a16="http://schemas.microsoft.com/office/drawing/2014/main" id="{70FD707E-2125-492C-89D9-425595F4BEEE}"/>
              </a:ext>
            </a:extLst>
          </p:cNvPr>
          <p:cNvSpPr>
            <a:spLocks noGrp="1"/>
          </p:cNvSpPr>
          <p:nvPr/>
        </p:nvSpPr>
        <p:spPr>
          <a:xfrm>
            <a:off x="2857500" y="4762500"/>
            <a:ext cx="6477000" cy="619125"/>
          </a:xfrm>
          <a:prstGeom prst="roundRect">
            <a:avLst>
              <a:gd name="adj" fmla="val 12308"/>
            </a:avLst>
          </a:prstGeom>
          <a:solidFill>
            <a:srgbClr val="E6F3F2"/>
          </a:solidFill>
          <a:ln w="0">
            <a:solidFill>
              <a:srgbClr val="E6F3F2"/>
            </a:solidFill>
            <a:prstDash val="solid"/>
          </a:ln>
        </p:spPr>
        <p:txBody>
          <a:bodyPr/>
          <a:lstStyle/>
          <a:p>
            <a:endParaRPr lang="en-IQ"/>
          </a:p>
        </p:txBody>
      </p:sp>
      <p:sp>
        <p:nvSpPr>
          <p:cNvPr id="26" name="Rectangle 25">
            <a:extLst>
              <a:ext uri="{FF2B5EF4-FFF2-40B4-BE49-F238E27FC236}">
                <a16:creationId xmlns:a16="http://schemas.microsoft.com/office/drawing/2014/main" id="{33AB0976-3B6C-4A07-AE57-C8495D4311A9}"/>
              </a:ext>
            </a:extLst>
          </p:cNvPr>
          <p:cNvSpPr>
            <a:spLocks noGrp="1"/>
          </p:cNvSpPr>
          <p:nvPr/>
        </p:nvSpPr>
        <p:spPr>
          <a:xfrm>
            <a:off x="3048000" y="4838700"/>
            <a:ext cx="6096000" cy="466725"/>
          </a:xfrm>
          <a:prstGeom prst="rect">
            <a:avLst/>
          </a:prstGeom>
          <a:noFill/>
          <a:ln w="0">
            <a:noFill/>
            <a:prstDash val="solid"/>
          </a:ln>
        </p:spPr>
        <p:txBody>
          <a:bodyPr anchor="ctr"/>
          <a:lstStyle/>
          <a:p>
            <a:pPr algn="ctr">
              <a:defRPr sz="1725" b="1">
                <a:solidFill>
                  <a:srgbClr val="092A3D"/>
                </a:solidFill>
              </a:defRPr>
            </a:pPr>
            <a:r>
              <a:rPr sz="1725" b="1">
                <a:solidFill>
                  <a:srgbClr val="092A3D"/>
                </a:solidFill>
              </a:rPr>
              <a:t>Repeat until evaluations = budget</a:t>
            </a:r>
          </a:p>
        </p:txBody>
      </p:sp>
    </p:spTree>
    <p:extLst>
      <p:ext uri="{BB962C8B-B14F-4D97-AF65-F5344CB8AC3E}">
        <p14:creationId xmlns:p14="http://schemas.microsoft.com/office/powerpoint/2010/main" val="971303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E0D63A18-2EAA-439B-9113-38A7DB97CACE}"/>
              </a:ext>
            </a:extLst>
          </p:cNvPr>
          <p:cNvSpPr>
            <a:spLocks noGrp="1"/>
          </p:cNvSpPr>
          <p:nvPr/>
        </p:nvSpPr>
        <p:spPr>
          <a:xfrm>
            <a:off x="609600" y="285750"/>
            <a:ext cx="64770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REPRODUCIBILITY</a:t>
            </a:r>
          </a:p>
        </p:txBody>
      </p:sp>
      <p:sp>
        <p:nvSpPr>
          <p:cNvPr id="2" name="Rectangle 1">
            <a:extLst>
              <a:ext uri="{FF2B5EF4-FFF2-40B4-BE49-F238E27FC236}">
                <a16:creationId xmlns:a16="http://schemas.microsoft.com/office/drawing/2014/main" id="{2125ECE4-796D-42ED-9545-25BE0FDABAA3}"/>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A seed makes randomness reproducible—not predictable</a:t>
            </a:r>
          </a:p>
        </p:txBody>
      </p:sp>
      <p:sp>
        <p:nvSpPr>
          <p:cNvPr id="3" name="Rectangle 2">
            <a:extLst>
              <a:ext uri="{FF2B5EF4-FFF2-40B4-BE49-F238E27FC236}">
                <a16:creationId xmlns:a16="http://schemas.microsoft.com/office/drawing/2014/main" id="{CDE917CD-C7CC-45B8-AC1D-914D8E15805B}"/>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FEC039C5-81C9-47DA-A012-F5E01297C393}"/>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2</a:t>
            </a:r>
          </a:p>
        </p:txBody>
      </p:sp>
      <p:sp>
        <p:nvSpPr>
          <p:cNvPr id="5" name="Rectangle 4">
            <a:extLst>
              <a:ext uri="{FF2B5EF4-FFF2-40B4-BE49-F238E27FC236}">
                <a16:creationId xmlns:a16="http://schemas.microsoft.com/office/drawing/2014/main" id="{AC6CBB4F-9FC9-48C0-84AD-A69A418A0760}"/>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14</a:t>
            </a:r>
          </a:p>
        </p:txBody>
      </p:sp>
      <p:sp>
        <p:nvSpPr>
          <p:cNvPr id="6" name="Rectangle 5">
            <a:extLst>
              <a:ext uri="{FF2B5EF4-FFF2-40B4-BE49-F238E27FC236}">
                <a16:creationId xmlns:a16="http://schemas.microsoft.com/office/drawing/2014/main" id="{203B8003-B529-4425-B346-E0AC5BF0CDCC}"/>
              </a:ext>
            </a:extLst>
          </p:cNvPr>
          <p:cNvSpPr>
            <a:spLocks noGrp="1"/>
          </p:cNvSpPr>
          <p:nvPr/>
        </p:nvSpPr>
        <p:spPr>
          <a:xfrm>
            <a:off x="1000125" y="1619250"/>
            <a:ext cx="2857500" cy="619125"/>
          </a:xfrm>
          <a:prstGeom prst="rect">
            <a:avLst/>
          </a:prstGeom>
          <a:noFill/>
          <a:ln w="0">
            <a:noFill/>
            <a:prstDash val="solid"/>
          </a:ln>
        </p:spPr>
        <p:txBody>
          <a:bodyPr anchor="ctr"/>
          <a:lstStyle/>
          <a:p>
            <a:pPr algn="ctr">
              <a:defRPr sz="2850" b="1">
                <a:solidFill>
                  <a:srgbClr val="F2A93B"/>
                </a:solidFill>
              </a:defRPr>
            </a:pPr>
            <a:r>
              <a:rPr sz="2850" b="1">
                <a:solidFill>
                  <a:srgbClr val="F2A93B"/>
                </a:solidFill>
              </a:rPr>
              <a:t>seed = 7</a:t>
            </a:r>
          </a:p>
        </p:txBody>
      </p:sp>
      <p:sp>
        <p:nvSpPr>
          <p:cNvPr id="7" name="Straight Connector 6">
            <a:extLst>
              <a:ext uri="{FF2B5EF4-FFF2-40B4-BE49-F238E27FC236}">
                <a16:creationId xmlns:a16="http://schemas.microsoft.com/office/drawing/2014/main" id="{EDC0B031-CE85-4CFA-A54F-C3ED5B520108}"/>
              </a:ext>
            </a:extLst>
          </p:cNvPr>
          <p:cNvSpPr>
            <a:spLocks noGrp="1"/>
          </p:cNvSpPr>
          <p:nvPr/>
        </p:nvSpPr>
        <p:spPr>
          <a:xfrm>
            <a:off x="4048125" y="1924050"/>
            <a:ext cx="1619250" cy="0"/>
          </a:xfrm>
          <a:prstGeom prst="line">
            <a:avLst/>
          </a:prstGeom>
          <a:noFill/>
          <a:ln w="28575">
            <a:solidFill>
              <a:srgbClr val="0B9B91"/>
            </a:solidFill>
            <a:prstDash val="solid"/>
          </a:ln>
        </p:spPr>
        <p:txBody>
          <a:bodyPr/>
          <a:lstStyle/>
          <a:p>
            <a:endParaRPr lang="en-IQ"/>
          </a:p>
        </p:txBody>
      </p:sp>
      <p:sp>
        <p:nvSpPr>
          <p:cNvPr id="8" name="Rectangle 7">
            <a:extLst>
              <a:ext uri="{FF2B5EF4-FFF2-40B4-BE49-F238E27FC236}">
                <a16:creationId xmlns:a16="http://schemas.microsoft.com/office/drawing/2014/main" id="{19D084EE-BABE-4B06-9D48-ED7FA13055B5}"/>
              </a:ext>
            </a:extLst>
          </p:cNvPr>
          <p:cNvSpPr>
            <a:spLocks noGrp="1"/>
          </p:cNvSpPr>
          <p:nvPr/>
        </p:nvSpPr>
        <p:spPr>
          <a:xfrm>
            <a:off x="5953125" y="1619250"/>
            <a:ext cx="4762500" cy="619125"/>
          </a:xfrm>
          <a:prstGeom prst="rect">
            <a:avLst/>
          </a:prstGeom>
          <a:noFill/>
          <a:ln w="0">
            <a:noFill/>
            <a:prstDash val="solid"/>
          </a:ln>
        </p:spPr>
        <p:txBody>
          <a:bodyPr anchor="ctr"/>
          <a:lstStyle/>
          <a:p>
            <a:pPr algn="ctr">
              <a:defRPr sz="2100" b="1">
                <a:solidFill>
                  <a:srgbClr val="092A3D"/>
                </a:solidFill>
              </a:defRPr>
            </a:pPr>
            <a:r>
              <a:rPr sz="2100" b="1">
                <a:solidFill>
                  <a:srgbClr val="092A3D"/>
                </a:solidFill>
              </a:rPr>
              <a:t>same pseudo-random sequence</a:t>
            </a:r>
          </a:p>
        </p:txBody>
      </p:sp>
      <p:sp>
        <p:nvSpPr>
          <p:cNvPr id="9" name="Rounded Rectangle 8">
            <a:extLst>
              <a:ext uri="{FF2B5EF4-FFF2-40B4-BE49-F238E27FC236}">
                <a16:creationId xmlns:a16="http://schemas.microsoft.com/office/drawing/2014/main" id="{FD058C7B-36A6-4910-A7D7-58D1681BE28A}"/>
              </a:ext>
            </a:extLst>
          </p:cNvPr>
          <p:cNvSpPr>
            <a:spLocks noGrp="1"/>
          </p:cNvSpPr>
          <p:nvPr/>
        </p:nvSpPr>
        <p:spPr>
          <a:xfrm>
            <a:off x="1619250" y="3048000"/>
            <a:ext cx="1000125" cy="619125"/>
          </a:xfrm>
          <a:prstGeom prst="roundRect">
            <a:avLst>
              <a:gd name="adj" fmla="val 12308"/>
            </a:avLst>
          </a:prstGeom>
          <a:solidFill>
            <a:srgbClr val="0B9B91"/>
          </a:solidFill>
          <a:ln w="0">
            <a:solidFill>
              <a:srgbClr val="0B9B91"/>
            </a:solidFill>
            <a:prstDash val="solid"/>
          </a:ln>
        </p:spPr>
        <p:txBody>
          <a:bodyPr/>
          <a:lstStyle/>
          <a:p>
            <a:endParaRPr lang="en-IQ"/>
          </a:p>
        </p:txBody>
      </p:sp>
      <p:sp>
        <p:nvSpPr>
          <p:cNvPr id="10" name="Rectangle 9">
            <a:extLst>
              <a:ext uri="{FF2B5EF4-FFF2-40B4-BE49-F238E27FC236}">
                <a16:creationId xmlns:a16="http://schemas.microsoft.com/office/drawing/2014/main" id="{0217BCAD-419A-4366-91CE-C010E9AA3976}"/>
              </a:ext>
            </a:extLst>
          </p:cNvPr>
          <p:cNvSpPr>
            <a:spLocks noGrp="1"/>
          </p:cNvSpPr>
          <p:nvPr/>
        </p:nvSpPr>
        <p:spPr>
          <a:xfrm>
            <a:off x="1809750" y="3124200"/>
            <a:ext cx="619125" cy="466725"/>
          </a:xfrm>
          <a:prstGeom prst="rect">
            <a:avLst/>
          </a:prstGeom>
          <a:noFill/>
          <a:ln w="0">
            <a:noFill/>
            <a:prstDash val="solid"/>
          </a:ln>
        </p:spPr>
        <p:txBody>
          <a:bodyPr anchor="ctr"/>
          <a:lstStyle/>
          <a:p>
            <a:pPr algn="ctr">
              <a:defRPr sz="1800" b="1">
                <a:solidFill>
                  <a:srgbClr val="FFFFFF"/>
                </a:solidFill>
              </a:defRPr>
            </a:pPr>
            <a:r>
              <a:rPr sz="1800" b="1">
                <a:solidFill>
                  <a:srgbClr val="FFFFFF"/>
                </a:solidFill>
              </a:rPr>
              <a:t>2</a:t>
            </a:r>
          </a:p>
        </p:txBody>
      </p:sp>
      <p:sp>
        <p:nvSpPr>
          <p:cNvPr id="11" name="Straight Connector 10">
            <a:extLst>
              <a:ext uri="{FF2B5EF4-FFF2-40B4-BE49-F238E27FC236}">
                <a16:creationId xmlns:a16="http://schemas.microsoft.com/office/drawing/2014/main" id="{3FA2D15A-93DC-4BF9-9A09-9E154F0C063A}"/>
              </a:ext>
            </a:extLst>
          </p:cNvPr>
          <p:cNvSpPr>
            <a:spLocks noGrp="1"/>
          </p:cNvSpPr>
          <p:nvPr/>
        </p:nvSpPr>
        <p:spPr>
          <a:xfrm>
            <a:off x="2667000" y="3352800"/>
            <a:ext cx="571500" cy="0"/>
          </a:xfrm>
          <a:prstGeom prst="line">
            <a:avLst/>
          </a:prstGeom>
          <a:noFill/>
          <a:ln w="28575">
            <a:solidFill>
              <a:srgbClr val="0B9B91"/>
            </a:solidFill>
            <a:prstDash val="solid"/>
          </a:ln>
        </p:spPr>
        <p:txBody>
          <a:bodyPr/>
          <a:lstStyle/>
          <a:p>
            <a:endParaRPr lang="en-IQ"/>
          </a:p>
        </p:txBody>
      </p:sp>
      <p:sp>
        <p:nvSpPr>
          <p:cNvPr id="12" name="Rounded Rectangle 11">
            <a:extLst>
              <a:ext uri="{FF2B5EF4-FFF2-40B4-BE49-F238E27FC236}">
                <a16:creationId xmlns:a16="http://schemas.microsoft.com/office/drawing/2014/main" id="{AA464844-2A4D-4A5A-9120-05223BC5DAC7}"/>
              </a:ext>
            </a:extLst>
          </p:cNvPr>
          <p:cNvSpPr>
            <a:spLocks noGrp="1"/>
          </p:cNvSpPr>
          <p:nvPr/>
        </p:nvSpPr>
        <p:spPr>
          <a:xfrm>
            <a:off x="3333750" y="3048000"/>
            <a:ext cx="1000125" cy="619125"/>
          </a:xfrm>
          <a:prstGeom prst="roundRect">
            <a:avLst>
              <a:gd name="adj" fmla="val 12308"/>
            </a:avLst>
          </a:prstGeom>
          <a:solidFill>
            <a:srgbClr val="FFFFFF"/>
          </a:solidFill>
          <a:ln w="0">
            <a:solidFill>
              <a:srgbClr val="FFFFFF"/>
            </a:solidFill>
            <a:prstDash val="solid"/>
          </a:ln>
        </p:spPr>
        <p:txBody>
          <a:bodyPr/>
          <a:lstStyle/>
          <a:p>
            <a:endParaRPr lang="en-IQ"/>
          </a:p>
        </p:txBody>
      </p:sp>
      <p:sp>
        <p:nvSpPr>
          <p:cNvPr id="13" name="Rectangle 12">
            <a:extLst>
              <a:ext uri="{FF2B5EF4-FFF2-40B4-BE49-F238E27FC236}">
                <a16:creationId xmlns:a16="http://schemas.microsoft.com/office/drawing/2014/main" id="{45DFC2E3-455D-4206-8236-AE3D6665C3BD}"/>
              </a:ext>
            </a:extLst>
          </p:cNvPr>
          <p:cNvSpPr>
            <a:spLocks noGrp="1"/>
          </p:cNvSpPr>
          <p:nvPr/>
        </p:nvSpPr>
        <p:spPr>
          <a:xfrm>
            <a:off x="3524250" y="3124200"/>
            <a:ext cx="619125" cy="466725"/>
          </a:xfrm>
          <a:prstGeom prst="rect">
            <a:avLst/>
          </a:prstGeom>
          <a:noFill/>
          <a:ln w="0">
            <a:noFill/>
            <a:prstDash val="solid"/>
          </a:ln>
        </p:spPr>
        <p:txBody>
          <a:bodyPr anchor="ctr"/>
          <a:lstStyle/>
          <a:p>
            <a:pPr algn="ctr">
              <a:defRPr sz="1800" b="1">
                <a:solidFill>
                  <a:srgbClr val="092A3D"/>
                </a:solidFill>
              </a:defRPr>
            </a:pPr>
            <a:r>
              <a:rPr sz="1800" b="1">
                <a:solidFill>
                  <a:srgbClr val="092A3D"/>
                </a:solidFill>
              </a:rPr>
              <a:t>2</a:t>
            </a:r>
          </a:p>
        </p:txBody>
      </p:sp>
      <p:sp>
        <p:nvSpPr>
          <p:cNvPr id="14" name="Straight Connector 13">
            <a:extLst>
              <a:ext uri="{FF2B5EF4-FFF2-40B4-BE49-F238E27FC236}">
                <a16:creationId xmlns:a16="http://schemas.microsoft.com/office/drawing/2014/main" id="{360DCF61-6A27-4C87-8056-6F40B7B77D79}"/>
              </a:ext>
            </a:extLst>
          </p:cNvPr>
          <p:cNvSpPr>
            <a:spLocks noGrp="1"/>
          </p:cNvSpPr>
          <p:nvPr/>
        </p:nvSpPr>
        <p:spPr>
          <a:xfrm>
            <a:off x="4381500" y="3352800"/>
            <a:ext cx="571500" cy="0"/>
          </a:xfrm>
          <a:prstGeom prst="line">
            <a:avLst/>
          </a:prstGeom>
          <a:noFill/>
          <a:ln w="28575">
            <a:solidFill>
              <a:srgbClr val="0B9B91"/>
            </a:solidFill>
            <a:prstDash val="solid"/>
          </a:ln>
        </p:spPr>
        <p:txBody>
          <a:bodyPr/>
          <a:lstStyle/>
          <a:p>
            <a:endParaRPr lang="en-IQ"/>
          </a:p>
        </p:txBody>
      </p:sp>
      <p:sp>
        <p:nvSpPr>
          <p:cNvPr id="15" name="Rounded Rectangle 14">
            <a:extLst>
              <a:ext uri="{FF2B5EF4-FFF2-40B4-BE49-F238E27FC236}">
                <a16:creationId xmlns:a16="http://schemas.microsoft.com/office/drawing/2014/main" id="{5D36E881-D766-4275-B96D-7C7BD5CEA447}"/>
              </a:ext>
            </a:extLst>
          </p:cNvPr>
          <p:cNvSpPr>
            <a:spLocks noGrp="1"/>
          </p:cNvSpPr>
          <p:nvPr/>
        </p:nvSpPr>
        <p:spPr>
          <a:xfrm>
            <a:off x="5048250" y="3048000"/>
            <a:ext cx="1000125" cy="619125"/>
          </a:xfrm>
          <a:prstGeom prst="roundRect">
            <a:avLst>
              <a:gd name="adj" fmla="val 12308"/>
            </a:avLst>
          </a:prstGeom>
          <a:solidFill>
            <a:srgbClr val="FFFFFF"/>
          </a:solidFill>
          <a:ln w="0">
            <a:solidFill>
              <a:srgbClr val="FFFFFF"/>
            </a:solidFill>
            <a:prstDash val="solid"/>
          </a:ln>
        </p:spPr>
        <p:txBody>
          <a:bodyPr/>
          <a:lstStyle/>
          <a:p>
            <a:endParaRPr lang="en-IQ"/>
          </a:p>
        </p:txBody>
      </p:sp>
      <p:sp>
        <p:nvSpPr>
          <p:cNvPr id="16" name="Rectangle 15">
            <a:extLst>
              <a:ext uri="{FF2B5EF4-FFF2-40B4-BE49-F238E27FC236}">
                <a16:creationId xmlns:a16="http://schemas.microsoft.com/office/drawing/2014/main" id="{6A5ED1F4-559E-4DFA-8C7B-B2C34C93B4D6}"/>
              </a:ext>
            </a:extLst>
          </p:cNvPr>
          <p:cNvSpPr>
            <a:spLocks noGrp="1"/>
          </p:cNvSpPr>
          <p:nvPr/>
        </p:nvSpPr>
        <p:spPr>
          <a:xfrm>
            <a:off x="5238750" y="3124200"/>
            <a:ext cx="619125" cy="466725"/>
          </a:xfrm>
          <a:prstGeom prst="rect">
            <a:avLst/>
          </a:prstGeom>
          <a:noFill/>
          <a:ln w="0">
            <a:noFill/>
            <a:prstDash val="solid"/>
          </a:ln>
        </p:spPr>
        <p:txBody>
          <a:bodyPr anchor="ctr"/>
          <a:lstStyle/>
          <a:p>
            <a:pPr algn="ctr">
              <a:defRPr sz="1800" b="1">
                <a:solidFill>
                  <a:srgbClr val="092A3D"/>
                </a:solidFill>
              </a:defRPr>
            </a:pPr>
            <a:r>
              <a:rPr sz="1800" b="1">
                <a:solidFill>
                  <a:srgbClr val="092A3D"/>
                </a:solidFill>
              </a:rPr>
              <a:t>2</a:t>
            </a:r>
          </a:p>
        </p:txBody>
      </p:sp>
      <p:sp>
        <p:nvSpPr>
          <p:cNvPr id="17" name="Straight Connector 16">
            <a:extLst>
              <a:ext uri="{FF2B5EF4-FFF2-40B4-BE49-F238E27FC236}">
                <a16:creationId xmlns:a16="http://schemas.microsoft.com/office/drawing/2014/main" id="{D9B1C56C-941E-4225-92F5-6BD96C9205F1}"/>
              </a:ext>
            </a:extLst>
          </p:cNvPr>
          <p:cNvSpPr>
            <a:spLocks noGrp="1"/>
          </p:cNvSpPr>
          <p:nvPr/>
        </p:nvSpPr>
        <p:spPr>
          <a:xfrm>
            <a:off x="6096000" y="3352800"/>
            <a:ext cx="571500" cy="0"/>
          </a:xfrm>
          <a:prstGeom prst="line">
            <a:avLst/>
          </a:prstGeom>
          <a:noFill/>
          <a:ln w="28575">
            <a:solidFill>
              <a:srgbClr val="0B9B91"/>
            </a:solidFill>
            <a:prstDash val="solid"/>
          </a:ln>
        </p:spPr>
        <p:txBody>
          <a:bodyPr/>
          <a:lstStyle/>
          <a:p>
            <a:endParaRPr lang="en-IQ"/>
          </a:p>
        </p:txBody>
      </p:sp>
      <p:sp>
        <p:nvSpPr>
          <p:cNvPr id="18" name="Rounded Rectangle 17">
            <a:extLst>
              <a:ext uri="{FF2B5EF4-FFF2-40B4-BE49-F238E27FC236}">
                <a16:creationId xmlns:a16="http://schemas.microsoft.com/office/drawing/2014/main" id="{A85C6302-9869-43CD-B954-6CB40ED6DC8D}"/>
              </a:ext>
            </a:extLst>
          </p:cNvPr>
          <p:cNvSpPr>
            <a:spLocks noGrp="1"/>
          </p:cNvSpPr>
          <p:nvPr/>
        </p:nvSpPr>
        <p:spPr>
          <a:xfrm>
            <a:off x="6762750" y="3048000"/>
            <a:ext cx="1000125" cy="619125"/>
          </a:xfrm>
          <a:prstGeom prst="roundRect">
            <a:avLst>
              <a:gd name="adj" fmla="val 12308"/>
            </a:avLst>
          </a:prstGeom>
          <a:solidFill>
            <a:srgbClr val="FFFFFF"/>
          </a:solidFill>
          <a:ln w="0">
            <a:solidFill>
              <a:srgbClr val="FFFFFF"/>
            </a:solidFill>
            <a:prstDash val="solid"/>
          </a:ln>
        </p:spPr>
        <p:txBody>
          <a:bodyPr/>
          <a:lstStyle/>
          <a:p>
            <a:endParaRPr lang="en-IQ"/>
          </a:p>
        </p:txBody>
      </p:sp>
      <p:sp>
        <p:nvSpPr>
          <p:cNvPr id="19" name="Rectangle 18">
            <a:extLst>
              <a:ext uri="{FF2B5EF4-FFF2-40B4-BE49-F238E27FC236}">
                <a16:creationId xmlns:a16="http://schemas.microsoft.com/office/drawing/2014/main" id="{46C6D4B2-D59F-4FB0-8523-FA515C4D632B}"/>
              </a:ext>
            </a:extLst>
          </p:cNvPr>
          <p:cNvSpPr>
            <a:spLocks noGrp="1"/>
          </p:cNvSpPr>
          <p:nvPr/>
        </p:nvSpPr>
        <p:spPr>
          <a:xfrm>
            <a:off x="6953250" y="3124200"/>
            <a:ext cx="619125" cy="466725"/>
          </a:xfrm>
          <a:prstGeom prst="rect">
            <a:avLst/>
          </a:prstGeom>
          <a:noFill/>
          <a:ln w="0">
            <a:noFill/>
            <a:prstDash val="solid"/>
          </a:ln>
        </p:spPr>
        <p:txBody>
          <a:bodyPr anchor="ctr"/>
          <a:lstStyle/>
          <a:p>
            <a:pPr algn="ctr">
              <a:defRPr sz="1800" b="1">
                <a:solidFill>
                  <a:srgbClr val="092A3D"/>
                </a:solidFill>
              </a:defRPr>
            </a:pPr>
            <a:r>
              <a:rPr sz="1800" b="1">
                <a:solidFill>
                  <a:srgbClr val="092A3D"/>
                </a:solidFill>
              </a:rPr>
              <a:t>0</a:t>
            </a:r>
          </a:p>
        </p:txBody>
      </p:sp>
      <p:sp>
        <p:nvSpPr>
          <p:cNvPr id="20" name="Straight Connector 19">
            <a:extLst>
              <a:ext uri="{FF2B5EF4-FFF2-40B4-BE49-F238E27FC236}">
                <a16:creationId xmlns:a16="http://schemas.microsoft.com/office/drawing/2014/main" id="{3B4E96C8-0A03-4DB6-B91F-57601E536A0D}"/>
              </a:ext>
            </a:extLst>
          </p:cNvPr>
          <p:cNvSpPr>
            <a:spLocks noGrp="1"/>
          </p:cNvSpPr>
          <p:nvPr/>
        </p:nvSpPr>
        <p:spPr>
          <a:xfrm>
            <a:off x="7810500" y="3352800"/>
            <a:ext cx="571500" cy="0"/>
          </a:xfrm>
          <a:prstGeom prst="line">
            <a:avLst/>
          </a:prstGeom>
          <a:noFill/>
          <a:ln w="28575">
            <a:solidFill>
              <a:srgbClr val="0B9B91"/>
            </a:solidFill>
            <a:prstDash val="solid"/>
          </a:ln>
        </p:spPr>
        <p:txBody>
          <a:bodyPr/>
          <a:lstStyle/>
          <a:p>
            <a:endParaRPr lang="en-IQ"/>
          </a:p>
        </p:txBody>
      </p:sp>
      <p:sp>
        <p:nvSpPr>
          <p:cNvPr id="21" name="Rounded Rectangle 20">
            <a:extLst>
              <a:ext uri="{FF2B5EF4-FFF2-40B4-BE49-F238E27FC236}">
                <a16:creationId xmlns:a16="http://schemas.microsoft.com/office/drawing/2014/main" id="{9897FD5D-9B5A-4180-A64D-D2535A61C3A8}"/>
              </a:ext>
            </a:extLst>
          </p:cNvPr>
          <p:cNvSpPr>
            <a:spLocks noGrp="1"/>
          </p:cNvSpPr>
          <p:nvPr/>
        </p:nvSpPr>
        <p:spPr>
          <a:xfrm>
            <a:off x="8477250" y="3048000"/>
            <a:ext cx="1000125" cy="619125"/>
          </a:xfrm>
          <a:prstGeom prst="roundRect">
            <a:avLst>
              <a:gd name="adj" fmla="val 12308"/>
            </a:avLst>
          </a:prstGeom>
          <a:solidFill>
            <a:srgbClr val="FFFFFF"/>
          </a:solidFill>
          <a:ln w="0">
            <a:solidFill>
              <a:srgbClr val="FFFFFF"/>
            </a:solidFill>
            <a:prstDash val="solid"/>
          </a:ln>
        </p:spPr>
        <p:txBody>
          <a:bodyPr/>
          <a:lstStyle/>
          <a:p>
            <a:endParaRPr lang="en-IQ"/>
          </a:p>
        </p:txBody>
      </p:sp>
      <p:sp>
        <p:nvSpPr>
          <p:cNvPr id="22" name="Rectangle 21">
            <a:extLst>
              <a:ext uri="{FF2B5EF4-FFF2-40B4-BE49-F238E27FC236}">
                <a16:creationId xmlns:a16="http://schemas.microsoft.com/office/drawing/2014/main" id="{E57B4ED0-D081-452E-91AC-14A5BAB615A3}"/>
              </a:ext>
            </a:extLst>
          </p:cNvPr>
          <p:cNvSpPr>
            <a:spLocks noGrp="1"/>
          </p:cNvSpPr>
          <p:nvPr/>
        </p:nvSpPr>
        <p:spPr>
          <a:xfrm>
            <a:off x="8667750" y="3124200"/>
            <a:ext cx="619125" cy="466725"/>
          </a:xfrm>
          <a:prstGeom prst="rect">
            <a:avLst/>
          </a:prstGeom>
          <a:noFill/>
          <a:ln w="0">
            <a:noFill/>
            <a:prstDash val="solid"/>
          </a:ln>
        </p:spPr>
        <p:txBody>
          <a:bodyPr anchor="ctr"/>
          <a:lstStyle/>
          <a:p>
            <a:pPr algn="ctr">
              <a:defRPr sz="1800" b="1">
                <a:solidFill>
                  <a:srgbClr val="092A3D"/>
                </a:solidFill>
              </a:defRPr>
            </a:pPr>
            <a:r>
              <a:rPr sz="1800" b="1">
                <a:solidFill>
                  <a:srgbClr val="092A3D"/>
                </a:solidFill>
              </a:rPr>
              <a:t>1</a:t>
            </a:r>
          </a:p>
        </p:txBody>
      </p:sp>
      <p:sp>
        <p:nvSpPr>
          <p:cNvPr id="23" name="Rectangle 22">
            <a:extLst>
              <a:ext uri="{FF2B5EF4-FFF2-40B4-BE49-F238E27FC236}">
                <a16:creationId xmlns:a16="http://schemas.microsoft.com/office/drawing/2014/main" id="{45C35C16-B817-4EB2-86B7-9EA7DD9ECAC7}"/>
              </a:ext>
            </a:extLst>
          </p:cNvPr>
          <p:cNvSpPr>
            <a:spLocks noGrp="1"/>
          </p:cNvSpPr>
          <p:nvPr/>
        </p:nvSpPr>
        <p:spPr>
          <a:xfrm>
            <a:off x="1666875" y="4857750"/>
            <a:ext cx="8858250" cy="476250"/>
          </a:xfrm>
          <a:prstGeom prst="rect">
            <a:avLst/>
          </a:prstGeom>
          <a:noFill/>
          <a:ln w="0">
            <a:noFill/>
            <a:prstDash val="solid"/>
          </a:ln>
        </p:spPr>
        <p:txBody>
          <a:bodyPr anchor="ctr"/>
          <a:lstStyle/>
          <a:p>
            <a:pPr algn="ctr">
              <a:defRPr sz="1725" b="1">
                <a:solidFill>
                  <a:srgbClr val="0B9B91"/>
                </a:solidFill>
              </a:defRPr>
            </a:pPr>
            <a:r>
              <a:rPr sz="1725" b="1">
                <a:solidFill>
                  <a:srgbClr val="0B9B91"/>
                </a:solidFill>
              </a:rPr>
              <a:t>Changing the seed changes the run; repeating the seed reproduces it.</a:t>
            </a:r>
          </a:p>
        </p:txBody>
      </p:sp>
      <p:sp>
        <p:nvSpPr>
          <p:cNvPr id="24" name="Oval 23">
            <a:extLst>
              <a:ext uri="{FF2B5EF4-FFF2-40B4-BE49-F238E27FC236}">
                <a16:creationId xmlns:a16="http://schemas.microsoft.com/office/drawing/2014/main" id="{80123CEF-8F93-48E6-BD5F-2BE22E7AC6C8}"/>
              </a:ext>
            </a:extLst>
          </p:cNvPr>
          <p:cNvSpPr>
            <a:spLocks noGrp="1"/>
          </p:cNvSpPr>
          <p:nvPr/>
        </p:nvSpPr>
        <p:spPr>
          <a:xfrm>
            <a:off x="2857500" y="5572125"/>
            <a:ext cx="114300" cy="114300"/>
          </a:xfrm>
          <a:prstGeom prst="ellipse">
            <a:avLst/>
          </a:prstGeom>
          <a:solidFill>
            <a:srgbClr val="0B9B91"/>
          </a:solidFill>
          <a:ln w="0">
            <a:solidFill>
              <a:srgbClr val="0B9B91"/>
            </a:solidFill>
            <a:prstDash val="solid"/>
          </a:ln>
        </p:spPr>
        <p:txBody>
          <a:bodyPr/>
          <a:lstStyle/>
          <a:p>
            <a:endParaRPr lang="en-IQ"/>
          </a:p>
        </p:txBody>
      </p:sp>
      <p:sp>
        <p:nvSpPr>
          <p:cNvPr id="25" name="Rectangle 24">
            <a:extLst>
              <a:ext uri="{FF2B5EF4-FFF2-40B4-BE49-F238E27FC236}">
                <a16:creationId xmlns:a16="http://schemas.microsoft.com/office/drawing/2014/main" id="{22DF1BEB-7FED-4E4C-B426-40762701D91D}"/>
              </a:ext>
            </a:extLst>
          </p:cNvPr>
          <p:cNvSpPr>
            <a:spLocks noGrp="1"/>
          </p:cNvSpPr>
          <p:nvPr/>
        </p:nvSpPr>
        <p:spPr>
          <a:xfrm>
            <a:off x="3133725" y="5381625"/>
            <a:ext cx="6296025" cy="333375"/>
          </a:xfrm>
          <a:prstGeom prst="rect">
            <a:avLst/>
          </a:prstGeom>
          <a:noFill/>
          <a:ln w="0">
            <a:noFill/>
            <a:prstDash val="solid"/>
          </a:ln>
        </p:spPr>
        <p:txBody>
          <a:bodyPr anchor="ctr"/>
          <a:lstStyle/>
          <a:p>
            <a:pPr algn="l">
              <a:defRPr sz="1350" b="0">
                <a:solidFill>
                  <a:srgbClr val="183544"/>
                </a:solidFill>
              </a:defRPr>
            </a:pPr>
            <a:r>
              <a:rPr sz="1350" b="0">
                <a:solidFill>
                  <a:srgbClr val="183544"/>
                </a:solidFill>
              </a:rPr>
              <a:t>record the seed</a:t>
            </a:r>
          </a:p>
        </p:txBody>
      </p:sp>
      <p:sp>
        <p:nvSpPr>
          <p:cNvPr id="26" name="Oval 25">
            <a:extLst>
              <a:ext uri="{FF2B5EF4-FFF2-40B4-BE49-F238E27FC236}">
                <a16:creationId xmlns:a16="http://schemas.microsoft.com/office/drawing/2014/main" id="{DF7174BF-A5F6-4735-9A61-8372316224A1}"/>
              </a:ext>
            </a:extLst>
          </p:cNvPr>
          <p:cNvSpPr>
            <a:spLocks noGrp="1"/>
          </p:cNvSpPr>
          <p:nvPr/>
        </p:nvSpPr>
        <p:spPr>
          <a:xfrm>
            <a:off x="2857500" y="5905500"/>
            <a:ext cx="114300" cy="114300"/>
          </a:xfrm>
          <a:prstGeom prst="ellipse">
            <a:avLst/>
          </a:prstGeom>
          <a:solidFill>
            <a:srgbClr val="0B9B91"/>
          </a:solidFill>
          <a:ln w="0">
            <a:solidFill>
              <a:srgbClr val="0B9B91"/>
            </a:solidFill>
            <a:prstDash val="solid"/>
          </a:ln>
        </p:spPr>
        <p:txBody>
          <a:bodyPr/>
          <a:lstStyle/>
          <a:p>
            <a:endParaRPr lang="en-IQ"/>
          </a:p>
        </p:txBody>
      </p:sp>
      <p:sp>
        <p:nvSpPr>
          <p:cNvPr id="27" name="Rectangle 26">
            <a:extLst>
              <a:ext uri="{FF2B5EF4-FFF2-40B4-BE49-F238E27FC236}">
                <a16:creationId xmlns:a16="http://schemas.microsoft.com/office/drawing/2014/main" id="{4496A451-1FEF-4685-852A-F978CEB6A449}"/>
              </a:ext>
            </a:extLst>
          </p:cNvPr>
          <p:cNvSpPr>
            <a:spLocks noGrp="1"/>
          </p:cNvSpPr>
          <p:nvPr/>
        </p:nvSpPr>
        <p:spPr>
          <a:xfrm>
            <a:off x="3133725" y="5715000"/>
            <a:ext cx="6296025" cy="333375"/>
          </a:xfrm>
          <a:prstGeom prst="rect">
            <a:avLst/>
          </a:prstGeom>
          <a:noFill/>
          <a:ln w="0">
            <a:noFill/>
            <a:prstDash val="solid"/>
          </a:ln>
        </p:spPr>
        <p:txBody>
          <a:bodyPr anchor="ctr"/>
          <a:lstStyle/>
          <a:p>
            <a:pPr algn="l">
              <a:defRPr sz="1350" b="0">
                <a:solidFill>
                  <a:srgbClr val="183544"/>
                </a:solidFill>
              </a:defRPr>
            </a:pPr>
            <a:r>
              <a:rPr sz="1350" b="0">
                <a:solidFill>
                  <a:srgbClr val="183544"/>
                </a:solidFill>
              </a:rPr>
              <a:t>do not reseed inside the loop</a:t>
            </a:r>
          </a:p>
        </p:txBody>
      </p:sp>
      <p:sp>
        <p:nvSpPr>
          <p:cNvPr id="28" name="Oval 27">
            <a:extLst>
              <a:ext uri="{FF2B5EF4-FFF2-40B4-BE49-F238E27FC236}">
                <a16:creationId xmlns:a16="http://schemas.microsoft.com/office/drawing/2014/main" id="{806C76FC-5071-44EE-A2E8-AB2DDEDEC0D2}"/>
              </a:ext>
            </a:extLst>
          </p:cNvPr>
          <p:cNvSpPr>
            <a:spLocks noGrp="1"/>
          </p:cNvSpPr>
          <p:nvPr/>
        </p:nvSpPr>
        <p:spPr>
          <a:xfrm>
            <a:off x="2857500" y="6238875"/>
            <a:ext cx="114300" cy="114300"/>
          </a:xfrm>
          <a:prstGeom prst="ellipse">
            <a:avLst/>
          </a:prstGeom>
          <a:solidFill>
            <a:srgbClr val="0B9B91"/>
          </a:solidFill>
          <a:ln w="0">
            <a:solidFill>
              <a:srgbClr val="0B9B91"/>
            </a:solidFill>
            <a:prstDash val="solid"/>
          </a:ln>
        </p:spPr>
        <p:txBody>
          <a:bodyPr/>
          <a:lstStyle/>
          <a:p>
            <a:endParaRPr lang="en-IQ"/>
          </a:p>
        </p:txBody>
      </p:sp>
      <p:sp>
        <p:nvSpPr>
          <p:cNvPr id="29" name="Rectangle 28">
            <a:extLst>
              <a:ext uri="{FF2B5EF4-FFF2-40B4-BE49-F238E27FC236}">
                <a16:creationId xmlns:a16="http://schemas.microsoft.com/office/drawing/2014/main" id="{0119418A-E82C-45B3-A295-5A3D5E883FA6}"/>
              </a:ext>
            </a:extLst>
          </p:cNvPr>
          <p:cNvSpPr>
            <a:spLocks noGrp="1"/>
          </p:cNvSpPr>
          <p:nvPr/>
        </p:nvSpPr>
        <p:spPr>
          <a:xfrm>
            <a:off x="3133725" y="6048375"/>
            <a:ext cx="6296025" cy="333375"/>
          </a:xfrm>
          <a:prstGeom prst="rect">
            <a:avLst/>
          </a:prstGeom>
          <a:noFill/>
          <a:ln w="0">
            <a:noFill/>
            <a:prstDash val="solid"/>
          </a:ln>
        </p:spPr>
        <p:txBody>
          <a:bodyPr anchor="ctr"/>
          <a:lstStyle/>
          <a:p>
            <a:pPr algn="l">
              <a:defRPr sz="1350" b="0">
                <a:solidFill>
                  <a:srgbClr val="183544"/>
                </a:solidFill>
              </a:defRPr>
            </a:pPr>
            <a:r>
              <a:rPr sz="1350" b="0">
                <a:solidFill>
                  <a:srgbClr val="183544"/>
                </a:solidFill>
              </a:rPr>
              <a:t>use several seeds for conclusions</a:t>
            </a:r>
          </a:p>
        </p:txBody>
      </p:sp>
    </p:spTree>
    <p:extLst>
      <p:ext uri="{BB962C8B-B14F-4D97-AF65-F5344CB8AC3E}">
        <p14:creationId xmlns:p14="http://schemas.microsoft.com/office/powerpoint/2010/main" val="11650767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FC4D6F5-46DF-4F78-BB9E-A5F6134DE1B9}"/>
              </a:ext>
            </a:extLst>
          </p:cNvPr>
          <p:cNvSpPr>
            <a:spLocks noGrp="1"/>
          </p:cNvSpPr>
          <p:nvPr/>
        </p:nvSpPr>
        <p:spPr>
          <a:xfrm>
            <a:off x="609600" y="285750"/>
            <a:ext cx="64770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JAVA: EVALUATION</a:t>
            </a:r>
          </a:p>
        </p:txBody>
      </p:sp>
      <p:sp>
        <p:nvSpPr>
          <p:cNvPr id="2" name="Rectangle 1">
            <a:extLst>
              <a:ext uri="{FF2B5EF4-FFF2-40B4-BE49-F238E27FC236}">
                <a16:creationId xmlns:a16="http://schemas.microsoft.com/office/drawing/2014/main" id="{009363A7-C844-4AE5-A40E-DF2143870E8B}"/>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The evaluator enforces the actual optimization model</a:t>
            </a:r>
          </a:p>
        </p:txBody>
      </p:sp>
      <p:sp>
        <p:nvSpPr>
          <p:cNvPr id="3" name="Rectangle 2">
            <a:extLst>
              <a:ext uri="{FF2B5EF4-FFF2-40B4-BE49-F238E27FC236}">
                <a16:creationId xmlns:a16="http://schemas.microsoft.com/office/drawing/2014/main" id="{A6CD72EF-D970-424B-BD66-5037EEB11A4D}"/>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354B9FE1-D01D-4C31-8B24-5F636852130D}"/>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2</a:t>
            </a:r>
          </a:p>
        </p:txBody>
      </p:sp>
      <p:sp>
        <p:nvSpPr>
          <p:cNvPr id="5" name="Rectangle 4">
            <a:extLst>
              <a:ext uri="{FF2B5EF4-FFF2-40B4-BE49-F238E27FC236}">
                <a16:creationId xmlns:a16="http://schemas.microsoft.com/office/drawing/2014/main" id="{C4A030BB-E97C-40D9-9AA4-20356947DBE2}"/>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15</a:t>
            </a:r>
          </a:p>
        </p:txBody>
      </p:sp>
      <p:sp>
        <p:nvSpPr>
          <p:cNvPr id="6" name="Rounded Rectangle 5">
            <a:extLst>
              <a:ext uri="{FF2B5EF4-FFF2-40B4-BE49-F238E27FC236}">
                <a16:creationId xmlns:a16="http://schemas.microsoft.com/office/drawing/2014/main" id="{CEBA4AAC-0AFD-4C7F-9786-5EB00F46BC14}"/>
              </a:ext>
            </a:extLst>
          </p:cNvPr>
          <p:cNvSpPr>
            <a:spLocks noGrp="1"/>
          </p:cNvSpPr>
          <p:nvPr/>
        </p:nvSpPr>
        <p:spPr>
          <a:xfrm>
            <a:off x="714375" y="1476375"/>
            <a:ext cx="6858000" cy="4333875"/>
          </a:xfrm>
          <a:prstGeom prst="roundRect">
            <a:avLst>
              <a:gd name="adj" fmla="val 1758"/>
            </a:avLst>
          </a:prstGeom>
          <a:solidFill>
            <a:srgbClr val="071C28"/>
          </a:solidFill>
          <a:ln w="0">
            <a:solidFill>
              <a:srgbClr val="071C28"/>
            </a:solidFill>
            <a:prstDash val="solid"/>
          </a:ln>
        </p:spPr>
        <p:txBody>
          <a:bodyPr/>
          <a:lstStyle/>
          <a:p>
            <a:endParaRPr lang="en-IQ"/>
          </a:p>
        </p:txBody>
      </p:sp>
      <p:sp>
        <p:nvSpPr>
          <p:cNvPr id="7" name="Rectangle 6">
            <a:extLst>
              <a:ext uri="{FF2B5EF4-FFF2-40B4-BE49-F238E27FC236}">
                <a16:creationId xmlns:a16="http://schemas.microsoft.com/office/drawing/2014/main" id="{0A9A80C4-45BD-4CBB-AD1E-DC573135DAF0}"/>
              </a:ext>
            </a:extLst>
          </p:cNvPr>
          <p:cNvSpPr>
            <a:spLocks noGrp="1"/>
          </p:cNvSpPr>
          <p:nvPr/>
        </p:nvSpPr>
        <p:spPr>
          <a:xfrm>
            <a:off x="1000125" y="1714500"/>
            <a:ext cx="6286500" cy="3619500"/>
          </a:xfrm>
          <a:prstGeom prst="rect">
            <a:avLst/>
          </a:prstGeom>
          <a:noFill/>
          <a:ln w="0">
            <a:noFill/>
            <a:prstDash val="solid"/>
          </a:ln>
        </p:spPr>
        <p:txBody>
          <a:bodyPr anchor="ctr"/>
          <a:lstStyle/>
          <a:p>
            <a:pPr algn="l">
              <a:defRPr sz="1425" b="0">
                <a:solidFill>
                  <a:srgbClr val="E4F1F3"/>
                </a:solidFill>
              </a:defRPr>
            </a:pPr>
            <a:r>
              <a:rPr sz="1425" b="0">
                <a:solidFill>
                  <a:srgbClr val="E4F1F3"/>
                </a:solidFill>
              </a:rPr>
              <a:t>static Evaluation evaluate(int[] a) {</a:t>
            </a:r>
          </a:p>
          <a:p>
            <a:pPr algn="l">
              <a:defRPr sz="1425" b="0">
                <a:solidFill>
                  <a:srgbClr val="E4F1F3"/>
                </a:solidFill>
              </a:defRPr>
            </a:pPr>
            <a:r>
              <a:rPr sz="1425" b="0">
                <a:solidFill>
                  <a:srgbClr val="E4F1F3"/>
                </a:solidFill>
              </a:rPr>
              <a:t>  int[] load = new int[4];</a:t>
            </a:r>
          </a:p>
          <a:p>
            <a:pPr algn="l">
              <a:defRPr sz="1425" b="0">
                <a:solidFill>
                  <a:srgbClr val="E4F1F3"/>
                </a:solidFill>
              </a:defRPr>
            </a:pPr>
            <a:r>
              <a:rPr sz="1425" b="0">
                <a:solidFill>
                  <a:srgbClr val="E4F1F3"/>
                </a:solidFill>
              </a:rPr>
              <a:t>  int latency = 0;</a:t>
            </a:r>
          </a:p>
          <a:p>
            <a:pPr algn="l">
              <a:defRPr sz="1425" b="0">
                <a:solidFill>
                  <a:srgbClr val="E4F1F3"/>
                </a:solidFill>
              </a:defRPr>
            </a:pPr>
            <a:r>
              <a:rPr sz="1425" b="0">
                <a:solidFill>
                  <a:srgbClr val="E4F1F3"/>
                </a:solidFill>
              </a:rPr>
              <a:t>  for (int i = 0; i &lt; a.length; i++) {</a:t>
            </a:r>
          </a:p>
          <a:p>
            <a:pPr algn="l">
              <a:defRPr sz="1425" b="0">
                <a:solidFill>
                  <a:srgbClr val="E4F1F3"/>
                </a:solidFill>
              </a:defRPr>
            </a:pPr>
            <a:r>
              <a:rPr sz="1425" b="0">
                <a:solidFill>
                  <a:srgbClr val="E4F1F3"/>
                </a:solidFill>
              </a:rPr>
              <a:t>    load[a[i]] += demand[i];</a:t>
            </a:r>
          </a:p>
          <a:p>
            <a:pPr algn="l">
              <a:defRPr sz="1425" b="0">
                <a:solidFill>
                  <a:srgbClr val="E4F1F3"/>
                </a:solidFill>
              </a:defRPr>
            </a:pPr>
            <a:r>
              <a:rPr sz="1425" b="0">
                <a:solidFill>
                  <a:srgbClr val="E4F1F3"/>
                </a:solidFill>
              </a:rPr>
              <a:t>    latency += delay[i][a[i]];</a:t>
            </a:r>
          </a:p>
          <a:p>
            <a:pPr algn="l">
              <a:defRPr sz="1425" b="0">
                <a:solidFill>
                  <a:srgbClr val="E4F1F3"/>
                </a:solidFill>
              </a:defRPr>
            </a:pPr>
            <a:r>
              <a:rPr sz="1425" b="0">
                <a:solidFill>
                  <a:srgbClr val="E4F1F3"/>
                </a:solidFill>
              </a:rPr>
              <a:t>  }</a:t>
            </a:r>
          </a:p>
          <a:p>
            <a:pPr algn="l">
              <a:defRPr sz="1425" b="0">
                <a:solidFill>
                  <a:srgbClr val="E4F1F3"/>
                </a:solidFill>
              </a:defRPr>
            </a:pPr>
            <a:r>
              <a:rPr sz="1425" b="0">
                <a:solidFill>
                  <a:srgbClr val="E4F1F3"/>
                </a:solidFill>
              </a:rPr>
              <a:t>  for (int n = 0; n &lt; 4; n++)</a:t>
            </a:r>
          </a:p>
          <a:p>
            <a:pPr algn="l">
              <a:defRPr sz="1425" b="0">
                <a:solidFill>
                  <a:srgbClr val="E4F1F3"/>
                </a:solidFill>
              </a:defRPr>
            </a:pPr>
            <a:r>
              <a:rPr sz="1425" b="0">
                <a:solidFill>
                  <a:srgbClr val="E4F1F3"/>
                </a:solidFill>
              </a:rPr>
              <a:t>    if (load[n] &gt; capacity[n]) return INVALID;</a:t>
            </a:r>
          </a:p>
          <a:p>
            <a:pPr algn="l">
              <a:defRPr sz="1425" b="0">
                <a:solidFill>
                  <a:srgbClr val="E4F1F3"/>
                </a:solidFill>
              </a:defRPr>
            </a:pPr>
            <a:r>
              <a:rPr sz="1425" b="0">
                <a:solidFill>
                  <a:srgbClr val="E4F1F3"/>
                </a:solidFill>
              </a:rPr>
              <a:t>  return feasible(latency + 5 * usedServers(a));</a:t>
            </a:r>
          </a:p>
          <a:p>
            <a:pPr algn="l">
              <a:defRPr sz="1425" b="0">
                <a:solidFill>
                  <a:srgbClr val="E4F1F3"/>
                </a:solidFill>
              </a:defRPr>
            </a:pPr>
            <a:r>
              <a:rPr sz="1425" b="0">
                <a:solidFill>
                  <a:srgbClr val="E4F1F3"/>
                </a:solidFill>
              </a:rPr>
              <a:t>}</a:t>
            </a:r>
          </a:p>
        </p:txBody>
      </p:sp>
      <p:sp>
        <p:nvSpPr>
          <p:cNvPr id="8" name="Oval 7">
            <a:extLst>
              <a:ext uri="{FF2B5EF4-FFF2-40B4-BE49-F238E27FC236}">
                <a16:creationId xmlns:a16="http://schemas.microsoft.com/office/drawing/2014/main" id="{DFB55BD0-37C4-47BB-8636-7FD6AF4154BE}"/>
              </a:ext>
            </a:extLst>
          </p:cNvPr>
          <p:cNvSpPr>
            <a:spLocks noGrp="1"/>
          </p:cNvSpPr>
          <p:nvPr/>
        </p:nvSpPr>
        <p:spPr>
          <a:xfrm>
            <a:off x="8143875" y="2000250"/>
            <a:ext cx="114300" cy="114300"/>
          </a:xfrm>
          <a:prstGeom prst="ellipse">
            <a:avLst/>
          </a:prstGeom>
          <a:solidFill>
            <a:srgbClr val="0B9B91"/>
          </a:solidFill>
          <a:ln w="0">
            <a:solidFill>
              <a:srgbClr val="0B9B91"/>
            </a:solidFill>
            <a:prstDash val="solid"/>
          </a:ln>
        </p:spPr>
        <p:txBody>
          <a:bodyPr/>
          <a:lstStyle/>
          <a:p>
            <a:endParaRPr lang="en-IQ"/>
          </a:p>
        </p:txBody>
      </p:sp>
      <p:sp>
        <p:nvSpPr>
          <p:cNvPr id="9" name="Rectangle 8">
            <a:extLst>
              <a:ext uri="{FF2B5EF4-FFF2-40B4-BE49-F238E27FC236}">
                <a16:creationId xmlns:a16="http://schemas.microsoft.com/office/drawing/2014/main" id="{81E1BDC4-B833-4358-AFF2-6420ACCFFCBE}"/>
              </a:ext>
            </a:extLst>
          </p:cNvPr>
          <p:cNvSpPr>
            <a:spLocks noGrp="1"/>
          </p:cNvSpPr>
          <p:nvPr/>
        </p:nvSpPr>
        <p:spPr>
          <a:xfrm>
            <a:off x="8420100" y="1809750"/>
            <a:ext cx="3009900" cy="790575"/>
          </a:xfrm>
          <a:prstGeom prst="rect">
            <a:avLst/>
          </a:prstGeom>
          <a:noFill/>
          <a:ln w="0">
            <a:noFill/>
            <a:prstDash val="solid"/>
          </a:ln>
        </p:spPr>
        <p:txBody>
          <a:bodyPr anchor="ctr"/>
          <a:lstStyle/>
          <a:p>
            <a:pPr algn="l">
              <a:defRPr sz="1425" b="0">
                <a:solidFill>
                  <a:srgbClr val="183544"/>
                </a:solidFill>
              </a:defRPr>
            </a:pPr>
            <a:r>
              <a:rPr sz="1425" b="0">
                <a:solidFill>
                  <a:srgbClr val="183544"/>
                </a:solidFill>
              </a:rPr>
              <a:t>load comes from decisions</a:t>
            </a:r>
          </a:p>
        </p:txBody>
      </p:sp>
      <p:sp>
        <p:nvSpPr>
          <p:cNvPr id="10" name="Oval 9">
            <a:extLst>
              <a:ext uri="{FF2B5EF4-FFF2-40B4-BE49-F238E27FC236}">
                <a16:creationId xmlns:a16="http://schemas.microsoft.com/office/drawing/2014/main" id="{40CFC8B9-A0D3-4BB1-B928-D093FBE07E4B}"/>
              </a:ext>
            </a:extLst>
          </p:cNvPr>
          <p:cNvSpPr>
            <a:spLocks noGrp="1"/>
          </p:cNvSpPr>
          <p:nvPr/>
        </p:nvSpPr>
        <p:spPr>
          <a:xfrm>
            <a:off x="8143875" y="2790825"/>
            <a:ext cx="114300" cy="114300"/>
          </a:xfrm>
          <a:prstGeom prst="ellipse">
            <a:avLst/>
          </a:prstGeom>
          <a:solidFill>
            <a:srgbClr val="0B9B91"/>
          </a:solidFill>
          <a:ln w="0">
            <a:solidFill>
              <a:srgbClr val="0B9B91"/>
            </a:solidFill>
            <a:prstDash val="solid"/>
          </a:ln>
        </p:spPr>
        <p:txBody>
          <a:bodyPr/>
          <a:lstStyle/>
          <a:p>
            <a:endParaRPr lang="en-IQ"/>
          </a:p>
        </p:txBody>
      </p:sp>
      <p:sp>
        <p:nvSpPr>
          <p:cNvPr id="11" name="Rectangle 10">
            <a:extLst>
              <a:ext uri="{FF2B5EF4-FFF2-40B4-BE49-F238E27FC236}">
                <a16:creationId xmlns:a16="http://schemas.microsoft.com/office/drawing/2014/main" id="{E69855F6-A616-432C-9138-0FE458BE823E}"/>
              </a:ext>
            </a:extLst>
          </p:cNvPr>
          <p:cNvSpPr>
            <a:spLocks noGrp="1"/>
          </p:cNvSpPr>
          <p:nvPr/>
        </p:nvSpPr>
        <p:spPr>
          <a:xfrm>
            <a:off x="8420100" y="2600325"/>
            <a:ext cx="3009900" cy="790575"/>
          </a:xfrm>
          <a:prstGeom prst="rect">
            <a:avLst/>
          </a:prstGeom>
          <a:noFill/>
          <a:ln w="0">
            <a:noFill/>
            <a:prstDash val="solid"/>
          </a:ln>
        </p:spPr>
        <p:txBody>
          <a:bodyPr anchor="ctr"/>
          <a:lstStyle/>
          <a:p>
            <a:pPr algn="l">
              <a:defRPr sz="1425" b="0">
                <a:solidFill>
                  <a:srgbClr val="183544"/>
                </a:solidFill>
              </a:defRPr>
            </a:pPr>
            <a:r>
              <a:rPr sz="1425" b="0">
                <a:solidFill>
                  <a:srgbClr val="183544"/>
                </a:solidFill>
              </a:rPr>
              <a:t>latency comes from matrix</a:t>
            </a:r>
          </a:p>
        </p:txBody>
      </p:sp>
      <p:sp>
        <p:nvSpPr>
          <p:cNvPr id="12" name="Oval 11">
            <a:extLst>
              <a:ext uri="{FF2B5EF4-FFF2-40B4-BE49-F238E27FC236}">
                <a16:creationId xmlns:a16="http://schemas.microsoft.com/office/drawing/2014/main" id="{D577E279-0F89-43A6-BAF8-3904F0B41E45}"/>
              </a:ext>
            </a:extLst>
          </p:cNvPr>
          <p:cNvSpPr>
            <a:spLocks noGrp="1"/>
          </p:cNvSpPr>
          <p:nvPr/>
        </p:nvSpPr>
        <p:spPr>
          <a:xfrm>
            <a:off x="8143875" y="3581400"/>
            <a:ext cx="114300" cy="114300"/>
          </a:xfrm>
          <a:prstGeom prst="ellipse">
            <a:avLst/>
          </a:prstGeom>
          <a:solidFill>
            <a:srgbClr val="0B9B91"/>
          </a:solidFill>
          <a:ln w="0">
            <a:solidFill>
              <a:srgbClr val="0B9B91"/>
            </a:solidFill>
            <a:prstDash val="solid"/>
          </a:ln>
        </p:spPr>
        <p:txBody>
          <a:bodyPr/>
          <a:lstStyle/>
          <a:p>
            <a:endParaRPr lang="en-IQ"/>
          </a:p>
        </p:txBody>
      </p:sp>
      <p:sp>
        <p:nvSpPr>
          <p:cNvPr id="13" name="Rectangle 12">
            <a:extLst>
              <a:ext uri="{FF2B5EF4-FFF2-40B4-BE49-F238E27FC236}">
                <a16:creationId xmlns:a16="http://schemas.microsoft.com/office/drawing/2014/main" id="{5C32BC1A-1D5C-4985-9DB4-8D3D1DCC6AB4}"/>
              </a:ext>
            </a:extLst>
          </p:cNvPr>
          <p:cNvSpPr>
            <a:spLocks noGrp="1"/>
          </p:cNvSpPr>
          <p:nvPr/>
        </p:nvSpPr>
        <p:spPr>
          <a:xfrm>
            <a:off x="8420100" y="3390900"/>
            <a:ext cx="3009900" cy="790575"/>
          </a:xfrm>
          <a:prstGeom prst="rect">
            <a:avLst/>
          </a:prstGeom>
          <a:noFill/>
          <a:ln w="0">
            <a:noFill/>
            <a:prstDash val="solid"/>
          </a:ln>
        </p:spPr>
        <p:txBody>
          <a:bodyPr anchor="ctr"/>
          <a:lstStyle/>
          <a:p>
            <a:pPr algn="l">
              <a:defRPr sz="1425" b="0">
                <a:solidFill>
                  <a:srgbClr val="183544"/>
                </a:solidFill>
              </a:defRPr>
            </a:pPr>
            <a:r>
              <a:rPr sz="1425" b="0">
                <a:solidFill>
                  <a:srgbClr val="183544"/>
                </a:solidFill>
              </a:rPr>
              <a:t>capacity decides feasibility</a:t>
            </a:r>
          </a:p>
        </p:txBody>
      </p:sp>
      <p:sp>
        <p:nvSpPr>
          <p:cNvPr id="14" name="Oval 13">
            <a:extLst>
              <a:ext uri="{FF2B5EF4-FFF2-40B4-BE49-F238E27FC236}">
                <a16:creationId xmlns:a16="http://schemas.microsoft.com/office/drawing/2014/main" id="{74DF08E1-8F3E-448C-A998-0563A5A90B26}"/>
              </a:ext>
            </a:extLst>
          </p:cNvPr>
          <p:cNvSpPr>
            <a:spLocks noGrp="1"/>
          </p:cNvSpPr>
          <p:nvPr/>
        </p:nvSpPr>
        <p:spPr>
          <a:xfrm>
            <a:off x="8143875" y="4371975"/>
            <a:ext cx="114300" cy="114300"/>
          </a:xfrm>
          <a:prstGeom prst="ellipse">
            <a:avLst/>
          </a:prstGeom>
          <a:solidFill>
            <a:srgbClr val="0B9B91"/>
          </a:solidFill>
          <a:ln w="0">
            <a:solidFill>
              <a:srgbClr val="0B9B91"/>
            </a:solidFill>
            <a:prstDash val="solid"/>
          </a:ln>
        </p:spPr>
        <p:txBody>
          <a:bodyPr/>
          <a:lstStyle/>
          <a:p>
            <a:endParaRPr lang="en-IQ"/>
          </a:p>
        </p:txBody>
      </p:sp>
      <p:sp>
        <p:nvSpPr>
          <p:cNvPr id="15" name="Rectangle 14">
            <a:extLst>
              <a:ext uri="{FF2B5EF4-FFF2-40B4-BE49-F238E27FC236}">
                <a16:creationId xmlns:a16="http://schemas.microsoft.com/office/drawing/2014/main" id="{5854EB28-9519-4BFD-BB83-9A938DB0005C}"/>
              </a:ext>
            </a:extLst>
          </p:cNvPr>
          <p:cNvSpPr>
            <a:spLocks noGrp="1"/>
          </p:cNvSpPr>
          <p:nvPr/>
        </p:nvSpPr>
        <p:spPr>
          <a:xfrm>
            <a:off x="8420100" y="4181475"/>
            <a:ext cx="3009900" cy="790575"/>
          </a:xfrm>
          <a:prstGeom prst="rect">
            <a:avLst/>
          </a:prstGeom>
          <a:noFill/>
          <a:ln w="0">
            <a:noFill/>
            <a:prstDash val="solid"/>
          </a:ln>
        </p:spPr>
        <p:txBody>
          <a:bodyPr anchor="ctr"/>
          <a:lstStyle/>
          <a:p>
            <a:pPr algn="l">
              <a:defRPr sz="1425" b="0">
                <a:solidFill>
                  <a:srgbClr val="183544"/>
                </a:solidFill>
              </a:defRPr>
            </a:pPr>
            <a:r>
              <a:rPr sz="1425" b="0">
                <a:solidFill>
                  <a:srgbClr val="183544"/>
                </a:solidFill>
              </a:rPr>
              <a:t>objective is returned only when feasible</a:t>
            </a:r>
          </a:p>
        </p:txBody>
      </p:sp>
    </p:spTree>
    <p:extLst>
      <p:ext uri="{BB962C8B-B14F-4D97-AF65-F5344CB8AC3E}">
        <p14:creationId xmlns:p14="http://schemas.microsoft.com/office/powerpoint/2010/main" val="2093842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1BA370F-81B8-4182-9E27-7D5E2A4CAB15}"/>
              </a:ext>
            </a:extLst>
          </p:cNvPr>
          <p:cNvSpPr>
            <a:spLocks noGrp="1"/>
          </p:cNvSpPr>
          <p:nvPr/>
        </p:nvSpPr>
        <p:spPr>
          <a:xfrm>
            <a:off x="609600" y="285750"/>
            <a:ext cx="64770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JAVA: RANDOM SEARCH</a:t>
            </a:r>
          </a:p>
        </p:txBody>
      </p:sp>
      <p:sp>
        <p:nvSpPr>
          <p:cNvPr id="2" name="Rectangle 1">
            <a:extLst>
              <a:ext uri="{FF2B5EF4-FFF2-40B4-BE49-F238E27FC236}">
                <a16:creationId xmlns:a16="http://schemas.microsoft.com/office/drawing/2014/main" id="{45FB637A-B7D1-45D6-A01E-E0C1DC8FA276}"/>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The Java search loop is short because the model is separate</a:t>
            </a:r>
          </a:p>
        </p:txBody>
      </p:sp>
      <p:sp>
        <p:nvSpPr>
          <p:cNvPr id="3" name="Rectangle 2">
            <a:extLst>
              <a:ext uri="{FF2B5EF4-FFF2-40B4-BE49-F238E27FC236}">
                <a16:creationId xmlns:a16="http://schemas.microsoft.com/office/drawing/2014/main" id="{50A0B1B0-5A42-463A-94E1-B2F876087C47}"/>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3788FB76-6BAB-4E23-8E3C-4A230DA4D312}"/>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2</a:t>
            </a:r>
          </a:p>
        </p:txBody>
      </p:sp>
      <p:sp>
        <p:nvSpPr>
          <p:cNvPr id="5" name="Rectangle 4">
            <a:extLst>
              <a:ext uri="{FF2B5EF4-FFF2-40B4-BE49-F238E27FC236}">
                <a16:creationId xmlns:a16="http://schemas.microsoft.com/office/drawing/2014/main" id="{0B85A03B-820C-4F13-A769-850A248EE715}"/>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16</a:t>
            </a:r>
          </a:p>
        </p:txBody>
      </p:sp>
      <p:sp>
        <p:nvSpPr>
          <p:cNvPr id="6" name="Rounded Rectangle 5">
            <a:extLst>
              <a:ext uri="{FF2B5EF4-FFF2-40B4-BE49-F238E27FC236}">
                <a16:creationId xmlns:a16="http://schemas.microsoft.com/office/drawing/2014/main" id="{EA682FB6-9148-45B3-A3FF-E76E9DFCBDE1}"/>
              </a:ext>
            </a:extLst>
          </p:cNvPr>
          <p:cNvSpPr>
            <a:spLocks noGrp="1"/>
          </p:cNvSpPr>
          <p:nvPr/>
        </p:nvSpPr>
        <p:spPr>
          <a:xfrm>
            <a:off x="762000" y="1476375"/>
            <a:ext cx="10668000" cy="4286250"/>
          </a:xfrm>
          <a:prstGeom prst="roundRect">
            <a:avLst>
              <a:gd name="adj" fmla="val 1778"/>
            </a:avLst>
          </a:prstGeom>
          <a:solidFill>
            <a:srgbClr val="071C28"/>
          </a:solidFill>
          <a:ln w="0">
            <a:solidFill>
              <a:srgbClr val="071C28"/>
            </a:solidFill>
            <a:prstDash val="solid"/>
          </a:ln>
        </p:spPr>
        <p:txBody>
          <a:bodyPr/>
          <a:lstStyle/>
          <a:p>
            <a:endParaRPr lang="en-IQ"/>
          </a:p>
        </p:txBody>
      </p:sp>
      <p:sp>
        <p:nvSpPr>
          <p:cNvPr id="7" name="Rectangle 6">
            <a:extLst>
              <a:ext uri="{FF2B5EF4-FFF2-40B4-BE49-F238E27FC236}">
                <a16:creationId xmlns:a16="http://schemas.microsoft.com/office/drawing/2014/main" id="{C9284D24-00B5-4CE5-B0C1-E3FCE7F06AE6}"/>
              </a:ext>
            </a:extLst>
          </p:cNvPr>
          <p:cNvSpPr>
            <a:spLocks noGrp="1"/>
          </p:cNvSpPr>
          <p:nvPr/>
        </p:nvSpPr>
        <p:spPr>
          <a:xfrm>
            <a:off x="1285875" y="1714500"/>
            <a:ext cx="9620250" cy="3714750"/>
          </a:xfrm>
          <a:prstGeom prst="rect">
            <a:avLst/>
          </a:prstGeom>
          <a:noFill/>
          <a:ln w="0">
            <a:noFill/>
            <a:prstDash val="solid"/>
          </a:ln>
        </p:spPr>
        <p:txBody>
          <a:bodyPr anchor="ctr"/>
          <a:lstStyle/>
          <a:p>
            <a:pPr algn="l">
              <a:defRPr sz="1575" b="0">
                <a:solidFill>
                  <a:srgbClr val="E4F1F3"/>
                </a:solidFill>
              </a:defRPr>
            </a:pPr>
            <a:r>
              <a:rPr sz="1575" b="0">
                <a:solidFill>
                  <a:srgbClr val="E4F1F3"/>
                </a:solidFill>
              </a:rPr>
              <a:t>Random rng = new Random(seed);</a:t>
            </a:r>
          </a:p>
          <a:p>
            <a:pPr algn="l">
              <a:defRPr sz="1575" b="0">
                <a:solidFill>
                  <a:srgbClr val="E4F1F3"/>
                </a:solidFill>
              </a:defRPr>
            </a:pPr>
            <a:r>
              <a:rPr sz="1575" b="0">
                <a:solidFill>
                  <a:srgbClr val="E4F1F3"/>
                </a:solidFill>
              </a:rPr>
              <a:t>int best = Integer.MAX_VALUE;</a:t>
            </a:r>
          </a:p>
          <a:p>
            <a:pPr algn="l">
              <a:defRPr sz="1575" b="0">
                <a:solidFill>
                  <a:srgbClr val="E4F1F3"/>
                </a:solidFill>
              </a:defRPr>
            </a:pPr>
            <a:r>
              <a:rPr sz="1575" b="0">
                <a:solidFill>
                  <a:srgbClr val="E4F1F3"/>
                </a:solidFill>
              </a:rPr>
              <a:t>int[] bestAssignment = null;</a:t>
            </a:r>
          </a:p>
          <a:p>
            <a:endParaRPr sz="1575" b="0">
              <a:solidFill>
                <a:srgbClr val="E4F1F3"/>
              </a:solidFill>
            </a:endParaRPr>
          </a:p>
          <a:p>
            <a:pPr algn="l">
              <a:defRPr sz="1575" b="0">
                <a:solidFill>
                  <a:srgbClr val="E4F1F3"/>
                </a:solidFill>
              </a:defRPr>
            </a:pPr>
            <a:r>
              <a:rPr sz="1575" b="0">
                <a:solidFill>
                  <a:srgbClr val="E4F1F3"/>
                </a:solidFill>
              </a:rPr>
              <a:t>for (int e = 1; e &lt;= budget; e++) {</a:t>
            </a:r>
          </a:p>
          <a:p>
            <a:pPr algn="l">
              <a:defRPr sz="1575" b="0">
                <a:solidFill>
                  <a:srgbClr val="E4F1F3"/>
                </a:solidFill>
              </a:defRPr>
            </a:pPr>
            <a:r>
              <a:rPr sz="1575" b="0">
                <a:solidFill>
                  <a:srgbClr val="E4F1F3"/>
                </a:solidFill>
              </a:rPr>
              <a:t>    int[] candidate = randomAssignment(rng);</a:t>
            </a:r>
          </a:p>
          <a:p>
            <a:pPr algn="l">
              <a:defRPr sz="1575" b="0">
                <a:solidFill>
                  <a:srgbClr val="E4F1F3"/>
                </a:solidFill>
              </a:defRPr>
            </a:pPr>
            <a:r>
              <a:rPr sz="1575" b="0">
                <a:solidFill>
                  <a:srgbClr val="E4F1F3"/>
                </a:solidFill>
              </a:rPr>
              <a:t>    Evaluation result = evaluate(candidate);</a:t>
            </a:r>
          </a:p>
          <a:p>
            <a:pPr algn="l">
              <a:defRPr sz="1575" b="0">
                <a:solidFill>
                  <a:srgbClr val="E4F1F3"/>
                </a:solidFill>
              </a:defRPr>
            </a:pPr>
            <a:r>
              <a:rPr sz="1575" b="0">
                <a:solidFill>
                  <a:srgbClr val="E4F1F3"/>
                </a:solidFill>
              </a:rPr>
              <a:t>    if (result.feasible() &amp;&amp; result.objective() &lt; best) {</a:t>
            </a:r>
          </a:p>
          <a:p>
            <a:pPr algn="l">
              <a:defRPr sz="1575" b="0">
                <a:solidFill>
                  <a:srgbClr val="E4F1F3"/>
                </a:solidFill>
              </a:defRPr>
            </a:pPr>
            <a:r>
              <a:rPr sz="1575" b="0">
                <a:solidFill>
                  <a:srgbClr val="E4F1F3"/>
                </a:solidFill>
              </a:rPr>
              <a:t>        best = result.objective();</a:t>
            </a:r>
          </a:p>
          <a:p>
            <a:pPr algn="l">
              <a:defRPr sz="1575" b="0">
                <a:solidFill>
                  <a:srgbClr val="E4F1F3"/>
                </a:solidFill>
              </a:defRPr>
            </a:pPr>
            <a:r>
              <a:rPr sz="1575" b="0">
                <a:solidFill>
                  <a:srgbClr val="E4F1F3"/>
                </a:solidFill>
              </a:rPr>
              <a:t>        bestAssignment = candidate.clone();</a:t>
            </a:r>
          </a:p>
          <a:p>
            <a:pPr algn="l">
              <a:defRPr sz="1575" b="0">
                <a:solidFill>
                  <a:srgbClr val="E4F1F3"/>
                </a:solidFill>
              </a:defRPr>
            </a:pPr>
            <a:r>
              <a:rPr sz="1575" b="0">
                <a:solidFill>
                  <a:srgbClr val="E4F1F3"/>
                </a:solidFill>
              </a:rPr>
              <a:t>    }</a:t>
            </a:r>
          </a:p>
          <a:p>
            <a:pPr algn="l">
              <a:defRPr sz="1575" b="0">
                <a:solidFill>
                  <a:srgbClr val="E4F1F3"/>
                </a:solidFill>
              </a:defRPr>
            </a:pPr>
            <a:r>
              <a:rPr sz="1575" b="0">
                <a:solidFill>
                  <a:srgbClr val="E4F1F3"/>
                </a:solidFill>
              </a:rPr>
              <a:t>}</a:t>
            </a:r>
          </a:p>
          <a:p>
            <a:pPr algn="l">
              <a:defRPr sz="1575" b="0">
                <a:solidFill>
                  <a:srgbClr val="E4F1F3"/>
                </a:solidFill>
              </a:defRPr>
            </a:pPr>
            <a:r>
              <a:rPr sz="1575" b="0">
                <a:solidFill>
                  <a:srgbClr val="E4F1F3"/>
                </a:solidFill>
              </a:rPr>
              <a:t>return new Result(best, bestAssignment);</a:t>
            </a:r>
          </a:p>
        </p:txBody>
      </p:sp>
    </p:spTree>
    <p:extLst>
      <p:ext uri="{BB962C8B-B14F-4D97-AF65-F5344CB8AC3E}">
        <p14:creationId xmlns:p14="http://schemas.microsoft.com/office/powerpoint/2010/main" val="16149166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78" name="Rectangle 77">
            <a:extLst>
              <a:ext uri="{FF2B5EF4-FFF2-40B4-BE49-F238E27FC236}">
                <a16:creationId xmlns:a16="http://schemas.microsoft.com/office/drawing/2014/main" id="{38D34378-BF44-4E02-B038-19798434A982}"/>
              </a:ext>
            </a:extLst>
          </p:cNvPr>
          <p:cNvSpPr>
            <a:spLocks noGrp="1"/>
          </p:cNvSpPr>
          <p:nvPr/>
        </p:nvSpPr>
        <p:spPr>
          <a:xfrm>
            <a:off x="609600" y="285750"/>
            <a:ext cx="64770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HAND TRACE • PART 1</a:t>
            </a:r>
          </a:p>
        </p:txBody>
      </p:sp>
      <p:sp>
        <p:nvSpPr>
          <p:cNvPr id="2" name="Rectangle 1">
            <a:extLst>
              <a:ext uri="{FF2B5EF4-FFF2-40B4-BE49-F238E27FC236}">
                <a16:creationId xmlns:a16="http://schemas.microsoft.com/office/drawing/2014/main" id="{175C86BD-AA60-46CA-93C8-FB4A1D405769}"/>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The first six samples from seed 7 are all infeasible</a:t>
            </a:r>
          </a:p>
        </p:txBody>
      </p:sp>
      <p:sp>
        <p:nvSpPr>
          <p:cNvPr id="3" name="Rectangle 2">
            <a:extLst>
              <a:ext uri="{FF2B5EF4-FFF2-40B4-BE49-F238E27FC236}">
                <a16:creationId xmlns:a16="http://schemas.microsoft.com/office/drawing/2014/main" id="{1898D023-D516-41F1-B3C2-25F01251C970}"/>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182DB09B-7D5C-44C6-A5C0-ADB1F79E7463}"/>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2</a:t>
            </a:r>
          </a:p>
        </p:txBody>
      </p:sp>
      <p:sp>
        <p:nvSpPr>
          <p:cNvPr id="5" name="Rectangle 4">
            <a:extLst>
              <a:ext uri="{FF2B5EF4-FFF2-40B4-BE49-F238E27FC236}">
                <a16:creationId xmlns:a16="http://schemas.microsoft.com/office/drawing/2014/main" id="{55CBBE4F-FAB3-4735-9E3F-CB24D6C86FA2}"/>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17</a:t>
            </a:r>
          </a:p>
        </p:txBody>
      </p:sp>
      <p:sp>
        <p:nvSpPr>
          <p:cNvPr id="6" name="Rectangle 5">
            <a:extLst>
              <a:ext uri="{FF2B5EF4-FFF2-40B4-BE49-F238E27FC236}">
                <a16:creationId xmlns:a16="http://schemas.microsoft.com/office/drawing/2014/main" id="{4C9288ED-0CB0-4DDD-893B-2EE143706473}"/>
              </a:ext>
            </a:extLst>
          </p:cNvPr>
          <p:cNvSpPr>
            <a:spLocks noGrp="1"/>
          </p:cNvSpPr>
          <p:nvPr/>
        </p:nvSpPr>
        <p:spPr>
          <a:xfrm>
            <a:off x="666750" y="1571625"/>
            <a:ext cx="857250" cy="533400"/>
          </a:xfrm>
          <a:prstGeom prst="rect">
            <a:avLst/>
          </a:prstGeom>
          <a:solidFill>
            <a:srgbClr val="092A3D"/>
          </a:solidFill>
          <a:ln w="0">
            <a:solidFill>
              <a:srgbClr val="092A3D"/>
            </a:solidFill>
            <a:prstDash val="solid"/>
          </a:ln>
        </p:spPr>
        <p:txBody>
          <a:bodyPr/>
          <a:lstStyle/>
          <a:p>
            <a:endParaRPr lang="en-IQ"/>
          </a:p>
        </p:txBody>
      </p:sp>
      <p:sp>
        <p:nvSpPr>
          <p:cNvPr id="7" name="Rectangle 6">
            <a:extLst>
              <a:ext uri="{FF2B5EF4-FFF2-40B4-BE49-F238E27FC236}">
                <a16:creationId xmlns:a16="http://schemas.microsoft.com/office/drawing/2014/main" id="{54017902-1FFD-42CA-B497-BCB37E55D1AA}"/>
              </a:ext>
            </a:extLst>
          </p:cNvPr>
          <p:cNvSpPr>
            <a:spLocks noGrp="1"/>
          </p:cNvSpPr>
          <p:nvPr/>
        </p:nvSpPr>
        <p:spPr>
          <a:xfrm>
            <a:off x="733425" y="1628775"/>
            <a:ext cx="723900" cy="419100"/>
          </a:xfrm>
          <a:prstGeom prst="rect">
            <a:avLst/>
          </a:prstGeom>
          <a:noFill/>
          <a:ln w="0">
            <a:noFill/>
            <a:prstDash val="solid"/>
          </a:ln>
        </p:spPr>
        <p:txBody>
          <a:bodyPr anchor="ctr"/>
          <a:lstStyle/>
          <a:p>
            <a:pPr algn="ctr">
              <a:defRPr sz="1275" b="1">
                <a:solidFill>
                  <a:srgbClr val="FFFFFF"/>
                </a:solidFill>
              </a:defRPr>
            </a:pPr>
            <a:r>
              <a:rPr sz="1275" b="1">
                <a:solidFill>
                  <a:srgbClr val="FFFFFF"/>
                </a:solidFill>
              </a:rPr>
              <a:t>Eval.</a:t>
            </a:r>
          </a:p>
        </p:txBody>
      </p:sp>
      <p:sp>
        <p:nvSpPr>
          <p:cNvPr id="8" name="Rectangle 7">
            <a:extLst>
              <a:ext uri="{FF2B5EF4-FFF2-40B4-BE49-F238E27FC236}">
                <a16:creationId xmlns:a16="http://schemas.microsoft.com/office/drawing/2014/main" id="{6B114AA9-9EE3-4570-A065-92B9241ADB87}"/>
              </a:ext>
            </a:extLst>
          </p:cNvPr>
          <p:cNvSpPr>
            <a:spLocks noGrp="1"/>
          </p:cNvSpPr>
          <p:nvPr/>
        </p:nvSpPr>
        <p:spPr>
          <a:xfrm>
            <a:off x="1524000" y="1571625"/>
            <a:ext cx="4953000" cy="533400"/>
          </a:xfrm>
          <a:prstGeom prst="rect">
            <a:avLst/>
          </a:prstGeom>
          <a:solidFill>
            <a:srgbClr val="092A3D"/>
          </a:solidFill>
          <a:ln w="0">
            <a:solidFill>
              <a:srgbClr val="092A3D"/>
            </a:solidFill>
            <a:prstDash val="solid"/>
          </a:ln>
        </p:spPr>
        <p:txBody>
          <a:bodyPr/>
          <a:lstStyle/>
          <a:p>
            <a:endParaRPr lang="en-IQ"/>
          </a:p>
        </p:txBody>
      </p:sp>
      <p:sp>
        <p:nvSpPr>
          <p:cNvPr id="9" name="Rectangle 8">
            <a:extLst>
              <a:ext uri="{FF2B5EF4-FFF2-40B4-BE49-F238E27FC236}">
                <a16:creationId xmlns:a16="http://schemas.microsoft.com/office/drawing/2014/main" id="{944F8400-48BD-4880-A112-216F76B7196F}"/>
              </a:ext>
            </a:extLst>
          </p:cNvPr>
          <p:cNvSpPr>
            <a:spLocks noGrp="1"/>
          </p:cNvSpPr>
          <p:nvPr/>
        </p:nvSpPr>
        <p:spPr>
          <a:xfrm>
            <a:off x="1590675" y="1628775"/>
            <a:ext cx="4819650" cy="419100"/>
          </a:xfrm>
          <a:prstGeom prst="rect">
            <a:avLst/>
          </a:prstGeom>
          <a:noFill/>
          <a:ln w="0">
            <a:noFill/>
            <a:prstDash val="solid"/>
          </a:ln>
        </p:spPr>
        <p:txBody>
          <a:bodyPr anchor="ctr"/>
          <a:lstStyle/>
          <a:p>
            <a:pPr algn="ctr">
              <a:defRPr sz="1275" b="1">
                <a:solidFill>
                  <a:srgbClr val="FFFFFF"/>
                </a:solidFill>
              </a:defRPr>
            </a:pPr>
            <a:r>
              <a:rPr sz="1275" b="1">
                <a:solidFill>
                  <a:srgbClr val="FFFFFF"/>
                </a:solidFill>
              </a:rPr>
              <a:t>Candidate assignment</a:t>
            </a:r>
          </a:p>
        </p:txBody>
      </p:sp>
      <p:sp>
        <p:nvSpPr>
          <p:cNvPr id="10" name="Rectangle 9">
            <a:extLst>
              <a:ext uri="{FF2B5EF4-FFF2-40B4-BE49-F238E27FC236}">
                <a16:creationId xmlns:a16="http://schemas.microsoft.com/office/drawing/2014/main" id="{327E8D4F-A081-4D41-8D79-B84477DFEEDD}"/>
              </a:ext>
            </a:extLst>
          </p:cNvPr>
          <p:cNvSpPr>
            <a:spLocks noGrp="1"/>
          </p:cNvSpPr>
          <p:nvPr/>
        </p:nvSpPr>
        <p:spPr>
          <a:xfrm>
            <a:off x="6477000" y="1571625"/>
            <a:ext cx="1428750" cy="533400"/>
          </a:xfrm>
          <a:prstGeom prst="rect">
            <a:avLst/>
          </a:prstGeom>
          <a:solidFill>
            <a:srgbClr val="092A3D"/>
          </a:solidFill>
          <a:ln w="0">
            <a:solidFill>
              <a:srgbClr val="092A3D"/>
            </a:solidFill>
            <a:prstDash val="solid"/>
          </a:ln>
        </p:spPr>
        <p:txBody>
          <a:bodyPr/>
          <a:lstStyle/>
          <a:p>
            <a:endParaRPr lang="en-IQ"/>
          </a:p>
        </p:txBody>
      </p:sp>
      <p:sp>
        <p:nvSpPr>
          <p:cNvPr id="11" name="Rectangle 10">
            <a:extLst>
              <a:ext uri="{FF2B5EF4-FFF2-40B4-BE49-F238E27FC236}">
                <a16:creationId xmlns:a16="http://schemas.microsoft.com/office/drawing/2014/main" id="{6FA97915-978B-4E25-85E1-213A2BF2D0E5}"/>
              </a:ext>
            </a:extLst>
          </p:cNvPr>
          <p:cNvSpPr>
            <a:spLocks noGrp="1"/>
          </p:cNvSpPr>
          <p:nvPr/>
        </p:nvSpPr>
        <p:spPr>
          <a:xfrm>
            <a:off x="6543675" y="1628775"/>
            <a:ext cx="1295400" cy="419100"/>
          </a:xfrm>
          <a:prstGeom prst="rect">
            <a:avLst/>
          </a:prstGeom>
          <a:noFill/>
          <a:ln w="0">
            <a:noFill/>
            <a:prstDash val="solid"/>
          </a:ln>
        </p:spPr>
        <p:txBody>
          <a:bodyPr anchor="ctr"/>
          <a:lstStyle/>
          <a:p>
            <a:pPr algn="ctr">
              <a:defRPr sz="1275" b="1">
                <a:solidFill>
                  <a:srgbClr val="FFFFFF"/>
                </a:solidFill>
              </a:defRPr>
            </a:pPr>
            <a:r>
              <a:rPr sz="1275" b="1">
                <a:solidFill>
                  <a:srgbClr val="FFFFFF"/>
                </a:solidFill>
              </a:rPr>
              <a:t>Feasible?</a:t>
            </a:r>
          </a:p>
        </p:txBody>
      </p:sp>
      <p:sp>
        <p:nvSpPr>
          <p:cNvPr id="12" name="Rectangle 11">
            <a:extLst>
              <a:ext uri="{FF2B5EF4-FFF2-40B4-BE49-F238E27FC236}">
                <a16:creationId xmlns:a16="http://schemas.microsoft.com/office/drawing/2014/main" id="{29D1B0C3-4187-4549-B713-B5B1FA9260C7}"/>
              </a:ext>
            </a:extLst>
          </p:cNvPr>
          <p:cNvSpPr>
            <a:spLocks noGrp="1"/>
          </p:cNvSpPr>
          <p:nvPr/>
        </p:nvSpPr>
        <p:spPr>
          <a:xfrm>
            <a:off x="7905750" y="1571625"/>
            <a:ext cx="1714500" cy="533400"/>
          </a:xfrm>
          <a:prstGeom prst="rect">
            <a:avLst/>
          </a:prstGeom>
          <a:solidFill>
            <a:srgbClr val="092A3D"/>
          </a:solidFill>
          <a:ln w="0">
            <a:solidFill>
              <a:srgbClr val="092A3D"/>
            </a:solidFill>
            <a:prstDash val="solid"/>
          </a:ln>
        </p:spPr>
        <p:txBody>
          <a:bodyPr/>
          <a:lstStyle/>
          <a:p>
            <a:endParaRPr lang="en-IQ"/>
          </a:p>
        </p:txBody>
      </p:sp>
      <p:sp>
        <p:nvSpPr>
          <p:cNvPr id="13" name="Rectangle 12">
            <a:extLst>
              <a:ext uri="{FF2B5EF4-FFF2-40B4-BE49-F238E27FC236}">
                <a16:creationId xmlns:a16="http://schemas.microsoft.com/office/drawing/2014/main" id="{224F612B-8E53-44E4-AD28-8C0F671F1AA2}"/>
              </a:ext>
            </a:extLst>
          </p:cNvPr>
          <p:cNvSpPr>
            <a:spLocks noGrp="1"/>
          </p:cNvSpPr>
          <p:nvPr/>
        </p:nvSpPr>
        <p:spPr>
          <a:xfrm>
            <a:off x="7972425" y="1628775"/>
            <a:ext cx="1581150" cy="419100"/>
          </a:xfrm>
          <a:prstGeom prst="rect">
            <a:avLst/>
          </a:prstGeom>
          <a:noFill/>
          <a:ln w="0">
            <a:noFill/>
            <a:prstDash val="solid"/>
          </a:ln>
        </p:spPr>
        <p:txBody>
          <a:bodyPr anchor="ctr"/>
          <a:lstStyle/>
          <a:p>
            <a:pPr algn="ctr">
              <a:defRPr sz="1275" b="1">
                <a:solidFill>
                  <a:srgbClr val="FFFFFF"/>
                </a:solidFill>
              </a:defRPr>
            </a:pPr>
            <a:r>
              <a:rPr sz="1275" b="1">
                <a:solidFill>
                  <a:srgbClr val="FFFFFF"/>
                </a:solidFill>
              </a:rPr>
              <a:t>Objective</a:t>
            </a:r>
          </a:p>
        </p:txBody>
      </p:sp>
      <p:sp>
        <p:nvSpPr>
          <p:cNvPr id="14" name="Rectangle 13">
            <a:extLst>
              <a:ext uri="{FF2B5EF4-FFF2-40B4-BE49-F238E27FC236}">
                <a16:creationId xmlns:a16="http://schemas.microsoft.com/office/drawing/2014/main" id="{9F67A11F-88B7-485B-9C7A-141672621CD7}"/>
              </a:ext>
            </a:extLst>
          </p:cNvPr>
          <p:cNvSpPr>
            <a:spLocks noGrp="1"/>
          </p:cNvSpPr>
          <p:nvPr/>
        </p:nvSpPr>
        <p:spPr>
          <a:xfrm>
            <a:off x="9620250" y="1571625"/>
            <a:ext cx="1905000" cy="533400"/>
          </a:xfrm>
          <a:prstGeom prst="rect">
            <a:avLst/>
          </a:prstGeom>
          <a:solidFill>
            <a:srgbClr val="092A3D"/>
          </a:solidFill>
          <a:ln w="0">
            <a:solidFill>
              <a:srgbClr val="092A3D"/>
            </a:solidFill>
            <a:prstDash val="solid"/>
          </a:ln>
        </p:spPr>
        <p:txBody>
          <a:bodyPr/>
          <a:lstStyle/>
          <a:p>
            <a:endParaRPr lang="en-IQ"/>
          </a:p>
        </p:txBody>
      </p:sp>
      <p:sp>
        <p:nvSpPr>
          <p:cNvPr id="15" name="Rectangle 14">
            <a:extLst>
              <a:ext uri="{FF2B5EF4-FFF2-40B4-BE49-F238E27FC236}">
                <a16:creationId xmlns:a16="http://schemas.microsoft.com/office/drawing/2014/main" id="{8619D48C-E6AC-44B0-966F-BE4F4E2BD437}"/>
              </a:ext>
            </a:extLst>
          </p:cNvPr>
          <p:cNvSpPr>
            <a:spLocks noGrp="1"/>
          </p:cNvSpPr>
          <p:nvPr/>
        </p:nvSpPr>
        <p:spPr>
          <a:xfrm>
            <a:off x="9686925" y="1628775"/>
            <a:ext cx="1771650" cy="419100"/>
          </a:xfrm>
          <a:prstGeom prst="rect">
            <a:avLst/>
          </a:prstGeom>
          <a:noFill/>
          <a:ln w="0">
            <a:noFill/>
            <a:prstDash val="solid"/>
          </a:ln>
        </p:spPr>
        <p:txBody>
          <a:bodyPr anchor="ctr"/>
          <a:lstStyle/>
          <a:p>
            <a:pPr algn="ctr">
              <a:defRPr sz="1275" b="1">
                <a:solidFill>
                  <a:srgbClr val="FFFFFF"/>
                </a:solidFill>
              </a:defRPr>
            </a:pPr>
            <a:r>
              <a:rPr sz="1275" b="1">
                <a:solidFill>
                  <a:srgbClr val="FFFFFF"/>
                </a:solidFill>
              </a:rPr>
              <a:t>Best-so-far</a:t>
            </a:r>
          </a:p>
        </p:txBody>
      </p:sp>
      <p:sp>
        <p:nvSpPr>
          <p:cNvPr id="16" name="Rectangle 15">
            <a:extLst>
              <a:ext uri="{FF2B5EF4-FFF2-40B4-BE49-F238E27FC236}">
                <a16:creationId xmlns:a16="http://schemas.microsoft.com/office/drawing/2014/main" id="{D848D8FE-3F4A-4811-A08E-0C0ECD0243A3}"/>
              </a:ext>
            </a:extLst>
          </p:cNvPr>
          <p:cNvSpPr>
            <a:spLocks noGrp="1"/>
          </p:cNvSpPr>
          <p:nvPr/>
        </p:nvSpPr>
        <p:spPr>
          <a:xfrm>
            <a:off x="666750" y="2105025"/>
            <a:ext cx="857250" cy="590550"/>
          </a:xfrm>
          <a:prstGeom prst="rect">
            <a:avLst/>
          </a:prstGeom>
          <a:solidFill>
            <a:srgbClr val="E9EEEC"/>
          </a:solidFill>
          <a:ln w="9525">
            <a:solidFill>
              <a:srgbClr val="CED9DB"/>
            </a:solidFill>
            <a:prstDash val="solid"/>
          </a:ln>
        </p:spPr>
        <p:txBody>
          <a:bodyPr/>
          <a:lstStyle/>
          <a:p>
            <a:endParaRPr lang="en-IQ"/>
          </a:p>
        </p:txBody>
      </p:sp>
      <p:sp>
        <p:nvSpPr>
          <p:cNvPr id="17" name="Rectangle 16">
            <a:extLst>
              <a:ext uri="{FF2B5EF4-FFF2-40B4-BE49-F238E27FC236}">
                <a16:creationId xmlns:a16="http://schemas.microsoft.com/office/drawing/2014/main" id="{7CC747C7-0C17-49AF-8393-1E40B0188E2C}"/>
              </a:ext>
            </a:extLst>
          </p:cNvPr>
          <p:cNvSpPr>
            <a:spLocks noGrp="1"/>
          </p:cNvSpPr>
          <p:nvPr/>
        </p:nvSpPr>
        <p:spPr>
          <a:xfrm>
            <a:off x="733425" y="2143125"/>
            <a:ext cx="723900" cy="514350"/>
          </a:xfrm>
          <a:prstGeom prst="rect">
            <a:avLst/>
          </a:prstGeom>
          <a:noFill/>
          <a:ln w="0">
            <a:noFill/>
            <a:prstDash val="solid"/>
          </a:ln>
        </p:spPr>
        <p:txBody>
          <a:bodyPr anchor="ctr"/>
          <a:lstStyle/>
          <a:p>
            <a:pPr algn="ctr">
              <a:defRPr sz="1275" b="1">
                <a:solidFill>
                  <a:srgbClr val="0B9B91"/>
                </a:solidFill>
              </a:defRPr>
            </a:pPr>
            <a:r>
              <a:rPr sz="1275" b="1">
                <a:solidFill>
                  <a:srgbClr val="0B9B91"/>
                </a:solidFill>
              </a:rPr>
              <a:t>1</a:t>
            </a:r>
          </a:p>
        </p:txBody>
      </p:sp>
      <p:sp>
        <p:nvSpPr>
          <p:cNvPr id="18" name="Rectangle 17">
            <a:extLst>
              <a:ext uri="{FF2B5EF4-FFF2-40B4-BE49-F238E27FC236}">
                <a16:creationId xmlns:a16="http://schemas.microsoft.com/office/drawing/2014/main" id="{CCAD160A-D74E-4BC2-88EC-4DABB9518337}"/>
              </a:ext>
            </a:extLst>
          </p:cNvPr>
          <p:cNvSpPr>
            <a:spLocks noGrp="1"/>
          </p:cNvSpPr>
          <p:nvPr/>
        </p:nvSpPr>
        <p:spPr>
          <a:xfrm>
            <a:off x="1524000" y="2105025"/>
            <a:ext cx="4953000" cy="590550"/>
          </a:xfrm>
          <a:prstGeom prst="rect">
            <a:avLst/>
          </a:prstGeom>
          <a:solidFill>
            <a:srgbClr val="E9EEEC"/>
          </a:solidFill>
          <a:ln w="9525">
            <a:solidFill>
              <a:srgbClr val="CED9DB"/>
            </a:solidFill>
            <a:prstDash val="solid"/>
          </a:ln>
        </p:spPr>
        <p:txBody>
          <a:bodyPr/>
          <a:lstStyle/>
          <a:p>
            <a:endParaRPr lang="en-IQ"/>
          </a:p>
        </p:txBody>
      </p:sp>
      <p:sp>
        <p:nvSpPr>
          <p:cNvPr id="19" name="Rectangle 18">
            <a:extLst>
              <a:ext uri="{FF2B5EF4-FFF2-40B4-BE49-F238E27FC236}">
                <a16:creationId xmlns:a16="http://schemas.microsoft.com/office/drawing/2014/main" id="{089EA642-3B78-4D4F-906F-FDC453357AE5}"/>
              </a:ext>
            </a:extLst>
          </p:cNvPr>
          <p:cNvSpPr>
            <a:spLocks noGrp="1"/>
          </p:cNvSpPr>
          <p:nvPr/>
        </p:nvSpPr>
        <p:spPr>
          <a:xfrm>
            <a:off x="1590675" y="2143125"/>
            <a:ext cx="4819650" cy="514350"/>
          </a:xfrm>
          <a:prstGeom prst="rect">
            <a:avLst/>
          </a:prstGeom>
          <a:noFill/>
          <a:ln w="0">
            <a:noFill/>
            <a:prstDash val="solid"/>
          </a:ln>
        </p:spPr>
        <p:txBody>
          <a:bodyPr anchor="ctr"/>
          <a:lstStyle/>
          <a:p>
            <a:pPr algn="ctr">
              <a:defRPr sz="1275" b="0">
                <a:solidFill>
                  <a:srgbClr val="183544"/>
                </a:solidFill>
              </a:defRPr>
            </a:pPr>
            <a:r>
              <a:rPr sz="1275" b="0">
                <a:solidFill>
                  <a:srgbClr val="183544"/>
                </a:solidFill>
              </a:rPr>
              <a:t>[2,2,2,0,1,1,3,2]</a:t>
            </a:r>
          </a:p>
        </p:txBody>
      </p:sp>
      <p:sp>
        <p:nvSpPr>
          <p:cNvPr id="20" name="Rectangle 19">
            <a:extLst>
              <a:ext uri="{FF2B5EF4-FFF2-40B4-BE49-F238E27FC236}">
                <a16:creationId xmlns:a16="http://schemas.microsoft.com/office/drawing/2014/main" id="{1FE3ABD4-B8FE-4717-A190-1F2352C8BB3F}"/>
              </a:ext>
            </a:extLst>
          </p:cNvPr>
          <p:cNvSpPr>
            <a:spLocks noGrp="1"/>
          </p:cNvSpPr>
          <p:nvPr/>
        </p:nvSpPr>
        <p:spPr>
          <a:xfrm>
            <a:off x="6477000" y="2105025"/>
            <a:ext cx="1428750" cy="590550"/>
          </a:xfrm>
          <a:prstGeom prst="rect">
            <a:avLst/>
          </a:prstGeom>
          <a:solidFill>
            <a:srgbClr val="E9EEEC"/>
          </a:solidFill>
          <a:ln w="9525">
            <a:solidFill>
              <a:srgbClr val="CED9DB"/>
            </a:solidFill>
            <a:prstDash val="solid"/>
          </a:ln>
        </p:spPr>
        <p:txBody>
          <a:bodyPr/>
          <a:lstStyle/>
          <a:p>
            <a:endParaRPr lang="en-IQ"/>
          </a:p>
        </p:txBody>
      </p:sp>
      <p:sp>
        <p:nvSpPr>
          <p:cNvPr id="21" name="Rectangle 20">
            <a:extLst>
              <a:ext uri="{FF2B5EF4-FFF2-40B4-BE49-F238E27FC236}">
                <a16:creationId xmlns:a16="http://schemas.microsoft.com/office/drawing/2014/main" id="{A69066B1-E5E8-4FE2-A1D6-6D4E2F2020A3}"/>
              </a:ext>
            </a:extLst>
          </p:cNvPr>
          <p:cNvSpPr>
            <a:spLocks noGrp="1"/>
          </p:cNvSpPr>
          <p:nvPr/>
        </p:nvSpPr>
        <p:spPr>
          <a:xfrm>
            <a:off x="6543675" y="2143125"/>
            <a:ext cx="1295400" cy="514350"/>
          </a:xfrm>
          <a:prstGeom prst="rect">
            <a:avLst/>
          </a:prstGeom>
          <a:noFill/>
          <a:ln w="0">
            <a:noFill/>
            <a:prstDash val="solid"/>
          </a:ln>
        </p:spPr>
        <p:txBody>
          <a:bodyPr anchor="ctr"/>
          <a:lstStyle/>
          <a:p>
            <a:pPr algn="ctr">
              <a:defRPr sz="1275" b="0">
                <a:solidFill>
                  <a:srgbClr val="183544"/>
                </a:solidFill>
              </a:defRPr>
            </a:pPr>
            <a:r>
              <a:rPr sz="1275" b="0">
                <a:solidFill>
                  <a:srgbClr val="183544"/>
                </a:solidFill>
              </a:rPr>
              <a:t>no</a:t>
            </a:r>
          </a:p>
        </p:txBody>
      </p:sp>
      <p:sp>
        <p:nvSpPr>
          <p:cNvPr id="22" name="Rectangle 21">
            <a:extLst>
              <a:ext uri="{FF2B5EF4-FFF2-40B4-BE49-F238E27FC236}">
                <a16:creationId xmlns:a16="http://schemas.microsoft.com/office/drawing/2014/main" id="{76F75283-7649-4D1A-9E48-67ED4A33103D}"/>
              </a:ext>
            </a:extLst>
          </p:cNvPr>
          <p:cNvSpPr>
            <a:spLocks noGrp="1"/>
          </p:cNvSpPr>
          <p:nvPr/>
        </p:nvSpPr>
        <p:spPr>
          <a:xfrm>
            <a:off x="7905750" y="2105025"/>
            <a:ext cx="1714500" cy="590550"/>
          </a:xfrm>
          <a:prstGeom prst="rect">
            <a:avLst/>
          </a:prstGeom>
          <a:solidFill>
            <a:srgbClr val="E9EEEC"/>
          </a:solidFill>
          <a:ln w="9525">
            <a:solidFill>
              <a:srgbClr val="CED9DB"/>
            </a:solidFill>
            <a:prstDash val="solid"/>
          </a:ln>
        </p:spPr>
        <p:txBody>
          <a:bodyPr/>
          <a:lstStyle/>
          <a:p>
            <a:endParaRPr lang="en-IQ"/>
          </a:p>
        </p:txBody>
      </p:sp>
      <p:sp>
        <p:nvSpPr>
          <p:cNvPr id="23" name="Rectangle 22">
            <a:extLst>
              <a:ext uri="{FF2B5EF4-FFF2-40B4-BE49-F238E27FC236}">
                <a16:creationId xmlns:a16="http://schemas.microsoft.com/office/drawing/2014/main" id="{E3CE375E-5080-4EC1-9AE6-7DF19D297902}"/>
              </a:ext>
            </a:extLst>
          </p:cNvPr>
          <p:cNvSpPr>
            <a:spLocks noGrp="1"/>
          </p:cNvSpPr>
          <p:nvPr/>
        </p:nvSpPr>
        <p:spPr>
          <a:xfrm>
            <a:off x="7972425" y="2143125"/>
            <a:ext cx="1581150" cy="514350"/>
          </a:xfrm>
          <a:prstGeom prst="rect">
            <a:avLst/>
          </a:prstGeom>
          <a:noFill/>
          <a:ln w="0">
            <a:noFill/>
            <a:prstDash val="solid"/>
          </a:ln>
        </p:spPr>
        <p:txBody>
          <a:bodyPr anchor="ctr"/>
          <a:lstStyle/>
          <a:p>
            <a:pPr algn="ctr">
              <a:defRPr sz="1275" b="0">
                <a:solidFill>
                  <a:srgbClr val="183544"/>
                </a:solidFill>
              </a:defRPr>
            </a:pPr>
            <a:r>
              <a:rPr sz="1275" b="0">
                <a:solidFill>
                  <a:srgbClr val="183544"/>
                </a:solidFill>
              </a:rPr>
              <a:t>—</a:t>
            </a:r>
          </a:p>
        </p:txBody>
      </p:sp>
      <p:sp>
        <p:nvSpPr>
          <p:cNvPr id="24" name="Rectangle 23">
            <a:extLst>
              <a:ext uri="{FF2B5EF4-FFF2-40B4-BE49-F238E27FC236}">
                <a16:creationId xmlns:a16="http://schemas.microsoft.com/office/drawing/2014/main" id="{E3AE201F-D9B9-4322-A0D1-ECEEFB4B038A}"/>
              </a:ext>
            </a:extLst>
          </p:cNvPr>
          <p:cNvSpPr>
            <a:spLocks noGrp="1"/>
          </p:cNvSpPr>
          <p:nvPr/>
        </p:nvSpPr>
        <p:spPr>
          <a:xfrm>
            <a:off x="9620250" y="2105025"/>
            <a:ext cx="1905000" cy="590550"/>
          </a:xfrm>
          <a:prstGeom prst="rect">
            <a:avLst/>
          </a:prstGeom>
          <a:solidFill>
            <a:srgbClr val="E9EEEC"/>
          </a:solidFill>
          <a:ln w="9525">
            <a:solidFill>
              <a:srgbClr val="CED9DB"/>
            </a:solidFill>
            <a:prstDash val="solid"/>
          </a:ln>
        </p:spPr>
        <p:txBody>
          <a:bodyPr/>
          <a:lstStyle/>
          <a:p>
            <a:endParaRPr lang="en-IQ"/>
          </a:p>
        </p:txBody>
      </p:sp>
      <p:sp>
        <p:nvSpPr>
          <p:cNvPr id="25" name="Rectangle 24">
            <a:extLst>
              <a:ext uri="{FF2B5EF4-FFF2-40B4-BE49-F238E27FC236}">
                <a16:creationId xmlns:a16="http://schemas.microsoft.com/office/drawing/2014/main" id="{EA0C1BF6-A965-4466-8887-D155BB3AAA24}"/>
              </a:ext>
            </a:extLst>
          </p:cNvPr>
          <p:cNvSpPr>
            <a:spLocks noGrp="1"/>
          </p:cNvSpPr>
          <p:nvPr/>
        </p:nvSpPr>
        <p:spPr>
          <a:xfrm>
            <a:off x="9686925" y="2143125"/>
            <a:ext cx="1771650" cy="514350"/>
          </a:xfrm>
          <a:prstGeom prst="rect">
            <a:avLst/>
          </a:prstGeom>
          <a:noFill/>
          <a:ln w="0">
            <a:noFill/>
            <a:prstDash val="solid"/>
          </a:ln>
        </p:spPr>
        <p:txBody>
          <a:bodyPr anchor="ctr"/>
          <a:lstStyle/>
          <a:p>
            <a:pPr algn="ctr">
              <a:defRPr sz="1275" b="0">
                <a:solidFill>
                  <a:srgbClr val="183544"/>
                </a:solidFill>
              </a:defRPr>
            </a:pPr>
            <a:r>
              <a:rPr sz="1275" b="0">
                <a:solidFill>
                  <a:srgbClr val="183544"/>
                </a:solidFill>
              </a:rPr>
              <a:t>—</a:t>
            </a:r>
          </a:p>
        </p:txBody>
      </p:sp>
      <p:sp>
        <p:nvSpPr>
          <p:cNvPr id="26" name="Rectangle 25">
            <a:extLst>
              <a:ext uri="{FF2B5EF4-FFF2-40B4-BE49-F238E27FC236}">
                <a16:creationId xmlns:a16="http://schemas.microsoft.com/office/drawing/2014/main" id="{0932109D-E85E-4672-ACF4-38DD21C6E5AD}"/>
              </a:ext>
            </a:extLst>
          </p:cNvPr>
          <p:cNvSpPr>
            <a:spLocks noGrp="1"/>
          </p:cNvSpPr>
          <p:nvPr/>
        </p:nvSpPr>
        <p:spPr>
          <a:xfrm>
            <a:off x="666750" y="2695575"/>
            <a:ext cx="857250" cy="590550"/>
          </a:xfrm>
          <a:prstGeom prst="rect">
            <a:avLst/>
          </a:prstGeom>
          <a:solidFill>
            <a:srgbClr val="FFFFFF"/>
          </a:solidFill>
          <a:ln w="9525">
            <a:solidFill>
              <a:srgbClr val="CED9DB"/>
            </a:solidFill>
            <a:prstDash val="solid"/>
          </a:ln>
        </p:spPr>
        <p:txBody>
          <a:bodyPr/>
          <a:lstStyle/>
          <a:p>
            <a:endParaRPr lang="en-IQ"/>
          </a:p>
        </p:txBody>
      </p:sp>
      <p:sp>
        <p:nvSpPr>
          <p:cNvPr id="27" name="Rectangle 26">
            <a:extLst>
              <a:ext uri="{FF2B5EF4-FFF2-40B4-BE49-F238E27FC236}">
                <a16:creationId xmlns:a16="http://schemas.microsoft.com/office/drawing/2014/main" id="{A6455AB1-DF3F-4450-801F-D8BBFFFD2FA2}"/>
              </a:ext>
            </a:extLst>
          </p:cNvPr>
          <p:cNvSpPr>
            <a:spLocks noGrp="1"/>
          </p:cNvSpPr>
          <p:nvPr/>
        </p:nvSpPr>
        <p:spPr>
          <a:xfrm>
            <a:off x="733425" y="2733675"/>
            <a:ext cx="723900" cy="514350"/>
          </a:xfrm>
          <a:prstGeom prst="rect">
            <a:avLst/>
          </a:prstGeom>
          <a:noFill/>
          <a:ln w="0">
            <a:noFill/>
            <a:prstDash val="solid"/>
          </a:ln>
        </p:spPr>
        <p:txBody>
          <a:bodyPr anchor="ctr"/>
          <a:lstStyle/>
          <a:p>
            <a:pPr algn="ctr">
              <a:defRPr sz="1275" b="1">
                <a:solidFill>
                  <a:srgbClr val="0B9B91"/>
                </a:solidFill>
              </a:defRPr>
            </a:pPr>
            <a:r>
              <a:rPr sz="1275" b="1">
                <a:solidFill>
                  <a:srgbClr val="0B9B91"/>
                </a:solidFill>
              </a:rPr>
              <a:t>2</a:t>
            </a:r>
          </a:p>
        </p:txBody>
      </p:sp>
      <p:sp>
        <p:nvSpPr>
          <p:cNvPr id="28" name="Rectangle 27">
            <a:extLst>
              <a:ext uri="{FF2B5EF4-FFF2-40B4-BE49-F238E27FC236}">
                <a16:creationId xmlns:a16="http://schemas.microsoft.com/office/drawing/2014/main" id="{2AB34CF8-3F39-4FEC-99B6-E9B227B0A3DD}"/>
              </a:ext>
            </a:extLst>
          </p:cNvPr>
          <p:cNvSpPr>
            <a:spLocks noGrp="1"/>
          </p:cNvSpPr>
          <p:nvPr/>
        </p:nvSpPr>
        <p:spPr>
          <a:xfrm>
            <a:off x="1524000" y="2695575"/>
            <a:ext cx="4953000" cy="590550"/>
          </a:xfrm>
          <a:prstGeom prst="rect">
            <a:avLst/>
          </a:prstGeom>
          <a:solidFill>
            <a:srgbClr val="FFFFFF"/>
          </a:solidFill>
          <a:ln w="9525">
            <a:solidFill>
              <a:srgbClr val="CED9DB"/>
            </a:solidFill>
            <a:prstDash val="solid"/>
          </a:ln>
        </p:spPr>
        <p:txBody>
          <a:bodyPr/>
          <a:lstStyle/>
          <a:p>
            <a:endParaRPr lang="en-IQ"/>
          </a:p>
        </p:txBody>
      </p:sp>
      <p:sp>
        <p:nvSpPr>
          <p:cNvPr id="29" name="Rectangle 28">
            <a:extLst>
              <a:ext uri="{FF2B5EF4-FFF2-40B4-BE49-F238E27FC236}">
                <a16:creationId xmlns:a16="http://schemas.microsoft.com/office/drawing/2014/main" id="{414C65C9-1C76-4ECB-AEFF-D0C4964DD9EA}"/>
              </a:ext>
            </a:extLst>
          </p:cNvPr>
          <p:cNvSpPr>
            <a:spLocks noGrp="1"/>
          </p:cNvSpPr>
          <p:nvPr/>
        </p:nvSpPr>
        <p:spPr>
          <a:xfrm>
            <a:off x="1590675" y="2733675"/>
            <a:ext cx="4819650" cy="514350"/>
          </a:xfrm>
          <a:prstGeom prst="rect">
            <a:avLst/>
          </a:prstGeom>
          <a:noFill/>
          <a:ln w="0">
            <a:noFill/>
            <a:prstDash val="solid"/>
          </a:ln>
        </p:spPr>
        <p:txBody>
          <a:bodyPr anchor="ctr"/>
          <a:lstStyle/>
          <a:p>
            <a:pPr algn="ctr">
              <a:defRPr sz="1275" b="0">
                <a:solidFill>
                  <a:srgbClr val="183544"/>
                </a:solidFill>
              </a:defRPr>
            </a:pPr>
            <a:r>
              <a:rPr sz="1275" b="0">
                <a:solidFill>
                  <a:srgbClr val="183544"/>
                </a:solidFill>
              </a:rPr>
              <a:t>[2,2,1,3,0,1,3,2]</a:t>
            </a:r>
          </a:p>
        </p:txBody>
      </p:sp>
      <p:sp>
        <p:nvSpPr>
          <p:cNvPr id="30" name="Rectangle 29">
            <a:extLst>
              <a:ext uri="{FF2B5EF4-FFF2-40B4-BE49-F238E27FC236}">
                <a16:creationId xmlns:a16="http://schemas.microsoft.com/office/drawing/2014/main" id="{B33DFDB7-24A9-4139-B82D-82216A7BAAD7}"/>
              </a:ext>
            </a:extLst>
          </p:cNvPr>
          <p:cNvSpPr>
            <a:spLocks noGrp="1"/>
          </p:cNvSpPr>
          <p:nvPr/>
        </p:nvSpPr>
        <p:spPr>
          <a:xfrm>
            <a:off x="6477000" y="2695575"/>
            <a:ext cx="1428750" cy="590550"/>
          </a:xfrm>
          <a:prstGeom prst="rect">
            <a:avLst/>
          </a:prstGeom>
          <a:solidFill>
            <a:srgbClr val="FFFFFF"/>
          </a:solidFill>
          <a:ln w="9525">
            <a:solidFill>
              <a:srgbClr val="CED9DB"/>
            </a:solidFill>
            <a:prstDash val="solid"/>
          </a:ln>
        </p:spPr>
        <p:txBody>
          <a:bodyPr/>
          <a:lstStyle/>
          <a:p>
            <a:endParaRPr lang="en-IQ"/>
          </a:p>
        </p:txBody>
      </p:sp>
      <p:sp>
        <p:nvSpPr>
          <p:cNvPr id="31" name="Rectangle 30">
            <a:extLst>
              <a:ext uri="{FF2B5EF4-FFF2-40B4-BE49-F238E27FC236}">
                <a16:creationId xmlns:a16="http://schemas.microsoft.com/office/drawing/2014/main" id="{EA084985-DAE1-4DAB-9C28-169A839E8C4D}"/>
              </a:ext>
            </a:extLst>
          </p:cNvPr>
          <p:cNvSpPr>
            <a:spLocks noGrp="1"/>
          </p:cNvSpPr>
          <p:nvPr/>
        </p:nvSpPr>
        <p:spPr>
          <a:xfrm>
            <a:off x="6543675" y="2733675"/>
            <a:ext cx="1295400" cy="514350"/>
          </a:xfrm>
          <a:prstGeom prst="rect">
            <a:avLst/>
          </a:prstGeom>
          <a:noFill/>
          <a:ln w="0">
            <a:noFill/>
            <a:prstDash val="solid"/>
          </a:ln>
        </p:spPr>
        <p:txBody>
          <a:bodyPr anchor="ctr"/>
          <a:lstStyle/>
          <a:p>
            <a:pPr algn="ctr">
              <a:defRPr sz="1275" b="0">
                <a:solidFill>
                  <a:srgbClr val="183544"/>
                </a:solidFill>
              </a:defRPr>
            </a:pPr>
            <a:r>
              <a:rPr sz="1275" b="0">
                <a:solidFill>
                  <a:srgbClr val="183544"/>
                </a:solidFill>
              </a:rPr>
              <a:t>no</a:t>
            </a:r>
          </a:p>
        </p:txBody>
      </p:sp>
      <p:sp>
        <p:nvSpPr>
          <p:cNvPr id="32" name="Rectangle 31">
            <a:extLst>
              <a:ext uri="{FF2B5EF4-FFF2-40B4-BE49-F238E27FC236}">
                <a16:creationId xmlns:a16="http://schemas.microsoft.com/office/drawing/2014/main" id="{2C130787-B5D9-4EE3-9313-9F3078C094EE}"/>
              </a:ext>
            </a:extLst>
          </p:cNvPr>
          <p:cNvSpPr>
            <a:spLocks noGrp="1"/>
          </p:cNvSpPr>
          <p:nvPr/>
        </p:nvSpPr>
        <p:spPr>
          <a:xfrm>
            <a:off x="7905750" y="2695575"/>
            <a:ext cx="1714500" cy="590550"/>
          </a:xfrm>
          <a:prstGeom prst="rect">
            <a:avLst/>
          </a:prstGeom>
          <a:solidFill>
            <a:srgbClr val="FFFFFF"/>
          </a:solidFill>
          <a:ln w="9525">
            <a:solidFill>
              <a:srgbClr val="CED9DB"/>
            </a:solidFill>
            <a:prstDash val="solid"/>
          </a:ln>
        </p:spPr>
        <p:txBody>
          <a:bodyPr/>
          <a:lstStyle/>
          <a:p>
            <a:endParaRPr lang="en-IQ"/>
          </a:p>
        </p:txBody>
      </p:sp>
      <p:sp>
        <p:nvSpPr>
          <p:cNvPr id="33" name="Rectangle 32">
            <a:extLst>
              <a:ext uri="{FF2B5EF4-FFF2-40B4-BE49-F238E27FC236}">
                <a16:creationId xmlns:a16="http://schemas.microsoft.com/office/drawing/2014/main" id="{9040E9BA-9AF4-444C-90C6-1A510F5F225A}"/>
              </a:ext>
            </a:extLst>
          </p:cNvPr>
          <p:cNvSpPr>
            <a:spLocks noGrp="1"/>
          </p:cNvSpPr>
          <p:nvPr/>
        </p:nvSpPr>
        <p:spPr>
          <a:xfrm>
            <a:off x="7972425" y="2733675"/>
            <a:ext cx="1581150" cy="514350"/>
          </a:xfrm>
          <a:prstGeom prst="rect">
            <a:avLst/>
          </a:prstGeom>
          <a:noFill/>
          <a:ln w="0">
            <a:noFill/>
            <a:prstDash val="solid"/>
          </a:ln>
        </p:spPr>
        <p:txBody>
          <a:bodyPr anchor="ctr"/>
          <a:lstStyle/>
          <a:p>
            <a:pPr algn="ctr">
              <a:defRPr sz="1275" b="0">
                <a:solidFill>
                  <a:srgbClr val="183544"/>
                </a:solidFill>
              </a:defRPr>
            </a:pPr>
            <a:r>
              <a:rPr sz="1275" b="0">
                <a:solidFill>
                  <a:srgbClr val="183544"/>
                </a:solidFill>
              </a:rPr>
              <a:t>—</a:t>
            </a:r>
          </a:p>
        </p:txBody>
      </p:sp>
      <p:sp>
        <p:nvSpPr>
          <p:cNvPr id="34" name="Rectangle 33">
            <a:extLst>
              <a:ext uri="{FF2B5EF4-FFF2-40B4-BE49-F238E27FC236}">
                <a16:creationId xmlns:a16="http://schemas.microsoft.com/office/drawing/2014/main" id="{E96EC88F-D5AB-4B39-AFFC-999E0B248087}"/>
              </a:ext>
            </a:extLst>
          </p:cNvPr>
          <p:cNvSpPr>
            <a:spLocks noGrp="1"/>
          </p:cNvSpPr>
          <p:nvPr/>
        </p:nvSpPr>
        <p:spPr>
          <a:xfrm>
            <a:off x="9620250" y="2695575"/>
            <a:ext cx="1905000" cy="590550"/>
          </a:xfrm>
          <a:prstGeom prst="rect">
            <a:avLst/>
          </a:prstGeom>
          <a:solidFill>
            <a:srgbClr val="FFFFFF"/>
          </a:solidFill>
          <a:ln w="9525">
            <a:solidFill>
              <a:srgbClr val="CED9DB"/>
            </a:solidFill>
            <a:prstDash val="solid"/>
          </a:ln>
        </p:spPr>
        <p:txBody>
          <a:bodyPr/>
          <a:lstStyle/>
          <a:p>
            <a:endParaRPr lang="en-IQ"/>
          </a:p>
        </p:txBody>
      </p:sp>
      <p:sp>
        <p:nvSpPr>
          <p:cNvPr id="35" name="Rectangle 34">
            <a:extLst>
              <a:ext uri="{FF2B5EF4-FFF2-40B4-BE49-F238E27FC236}">
                <a16:creationId xmlns:a16="http://schemas.microsoft.com/office/drawing/2014/main" id="{9C9CEAF5-409F-4721-8259-115BC290A865}"/>
              </a:ext>
            </a:extLst>
          </p:cNvPr>
          <p:cNvSpPr>
            <a:spLocks noGrp="1"/>
          </p:cNvSpPr>
          <p:nvPr/>
        </p:nvSpPr>
        <p:spPr>
          <a:xfrm>
            <a:off x="9686925" y="2733675"/>
            <a:ext cx="1771650" cy="514350"/>
          </a:xfrm>
          <a:prstGeom prst="rect">
            <a:avLst/>
          </a:prstGeom>
          <a:noFill/>
          <a:ln w="0">
            <a:noFill/>
            <a:prstDash val="solid"/>
          </a:ln>
        </p:spPr>
        <p:txBody>
          <a:bodyPr anchor="ctr"/>
          <a:lstStyle/>
          <a:p>
            <a:pPr algn="ctr">
              <a:defRPr sz="1275" b="0">
                <a:solidFill>
                  <a:srgbClr val="183544"/>
                </a:solidFill>
              </a:defRPr>
            </a:pPr>
            <a:r>
              <a:rPr sz="1275" b="0">
                <a:solidFill>
                  <a:srgbClr val="183544"/>
                </a:solidFill>
              </a:rPr>
              <a:t>—</a:t>
            </a:r>
          </a:p>
        </p:txBody>
      </p:sp>
      <p:sp>
        <p:nvSpPr>
          <p:cNvPr id="36" name="Rectangle 35">
            <a:extLst>
              <a:ext uri="{FF2B5EF4-FFF2-40B4-BE49-F238E27FC236}">
                <a16:creationId xmlns:a16="http://schemas.microsoft.com/office/drawing/2014/main" id="{A24F7BA9-D94A-4633-A4AD-E931083C68D4}"/>
              </a:ext>
            </a:extLst>
          </p:cNvPr>
          <p:cNvSpPr>
            <a:spLocks noGrp="1"/>
          </p:cNvSpPr>
          <p:nvPr/>
        </p:nvSpPr>
        <p:spPr>
          <a:xfrm>
            <a:off x="666750" y="3286125"/>
            <a:ext cx="857250" cy="590550"/>
          </a:xfrm>
          <a:prstGeom prst="rect">
            <a:avLst/>
          </a:prstGeom>
          <a:solidFill>
            <a:srgbClr val="E9EEEC"/>
          </a:solidFill>
          <a:ln w="9525">
            <a:solidFill>
              <a:srgbClr val="CED9DB"/>
            </a:solidFill>
            <a:prstDash val="solid"/>
          </a:ln>
        </p:spPr>
        <p:txBody>
          <a:bodyPr/>
          <a:lstStyle/>
          <a:p>
            <a:endParaRPr lang="en-IQ"/>
          </a:p>
        </p:txBody>
      </p:sp>
      <p:sp>
        <p:nvSpPr>
          <p:cNvPr id="37" name="Rectangle 36">
            <a:extLst>
              <a:ext uri="{FF2B5EF4-FFF2-40B4-BE49-F238E27FC236}">
                <a16:creationId xmlns:a16="http://schemas.microsoft.com/office/drawing/2014/main" id="{F5CFD65F-8831-440B-93E5-D18910F9559B}"/>
              </a:ext>
            </a:extLst>
          </p:cNvPr>
          <p:cNvSpPr>
            <a:spLocks noGrp="1"/>
          </p:cNvSpPr>
          <p:nvPr/>
        </p:nvSpPr>
        <p:spPr>
          <a:xfrm>
            <a:off x="733425" y="3324225"/>
            <a:ext cx="723900" cy="514350"/>
          </a:xfrm>
          <a:prstGeom prst="rect">
            <a:avLst/>
          </a:prstGeom>
          <a:noFill/>
          <a:ln w="0">
            <a:noFill/>
            <a:prstDash val="solid"/>
          </a:ln>
        </p:spPr>
        <p:txBody>
          <a:bodyPr anchor="ctr"/>
          <a:lstStyle/>
          <a:p>
            <a:pPr algn="ctr">
              <a:defRPr sz="1275" b="1">
                <a:solidFill>
                  <a:srgbClr val="0B9B91"/>
                </a:solidFill>
              </a:defRPr>
            </a:pPr>
            <a:r>
              <a:rPr sz="1275" b="1">
                <a:solidFill>
                  <a:srgbClr val="0B9B91"/>
                </a:solidFill>
              </a:rPr>
              <a:t>3</a:t>
            </a:r>
          </a:p>
        </p:txBody>
      </p:sp>
      <p:sp>
        <p:nvSpPr>
          <p:cNvPr id="38" name="Rectangle 37">
            <a:extLst>
              <a:ext uri="{FF2B5EF4-FFF2-40B4-BE49-F238E27FC236}">
                <a16:creationId xmlns:a16="http://schemas.microsoft.com/office/drawing/2014/main" id="{CB216452-6D31-42FD-83AA-EA563F10A1A6}"/>
              </a:ext>
            </a:extLst>
          </p:cNvPr>
          <p:cNvSpPr>
            <a:spLocks noGrp="1"/>
          </p:cNvSpPr>
          <p:nvPr/>
        </p:nvSpPr>
        <p:spPr>
          <a:xfrm>
            <a:off x="1524000" y="3286125"/>
            <a:ext cx="4953000" cy="590550"/>
          </a:xfrm>
          <a:prstGeom prst="rect">
            <a:avLst/>
          </a:prstGeom>
          <a:solidFill>
            <a:srgbClr val="E9EEEC"/>
          </a:solidFill>
          <a:ln w="9525">
            <a:solidFill>
              <a:srgbClr val="CED9DB"/>
            </a:solidFill>
            <a:prstDash val="solid"/>
          </a:ln>
        </p:spPr>
        <p:txBody>
          <a:bodyPr/>
          <a:lstStyle/>
          <a:p>
            <a:endParaRPr lang="en-IQ"/>
          </a:p>
        </p:txBody>
      </p:sp>
      <p:sp>
        <p:nvSpPr>
          <p:cNvPr id="39" name="Rectangle 38">
            <a:extLst>
              <a:ext uri="{FF2B5EF4-FFF2-40B4-BE49-F238E27FC236}">
                <a16:creationId xmlns:a16="http://schemas.microsoft.com/office/drawing/2014/main" id="{C05B08CD-9744-48C7-A289-FB8831AA90A0}"/>
              </a:ext>
            </a:extLst>
          </p:cNvPr>
          <p:cNvSpPr>
            <a:spLocks noGrp="1"/>
          </p:cNvSpPr>
          <p:nvPr/>
        </p:nvSpPr>
        <p:spPr>
          <a:xfrm>
            <a:off x="1590675" y="3324225"/>
            <a:ext cx="4819650" cy="514350"/>
          </a:xfrm>
          <a:prstGeom prst="rect">
            <a:avLst/>
          </a:prstGeom>
          <a:noFill/>
          <a:ln w="0">
            <a:noFill/>
            <a:prstDash val="solid"/>
          </a:ln>
        </p:spPr>
        <p:txBody>
          <a:bodyPr anchor="ctr"/>
          <a:lstStyle/>
          <a:p>
            <a:pPr algn="ctr">
              <a:defRPr sz="1275" b="0">
                <a:solidFill>
                  <a:srgbClr val="183544"/>
                </a:solidFill>
              </a:defRPr>
            </a:pPr>
            <a:r>
              <a:rPr sz="1275" b="0">
                <a:solidFill>
                  <a:srgbClr val="183544"/>
                </a:solidFill>
              </a:rPr>
              <a:t>[0,2,3,0,2,0,3,2]</a:t>
            </a:r>
          </a:p>
        </p:txBody>
      </p:sp>
      <p:sp>
        <p:nvSpPr>
          <p:cNvPr id="40" name="Rectangle 39">
            <a:extLst>
              <a:ext uri="{FF2B5EF4-FFF2-40B4-BE49-F238E27FC236}">
                <a16:creationId xmlns:a16="http://schemas.microsoft.com/office/drawing/2014/main" id="{775FFF9B-7166-4CB2-A36B-2B6DEAF72162}"/>
              </a:ext>
            </a:extLst>
          </p:cNvPr>
          <p:cNvSpPr>
            <a:spLocks noGrp="1"/>
          </p:cNvSpPr>
          <p:nvPr/>
        </p:nvSpPr>
        <p:spPr>
          <a:xfrm>
            <a:off x="6477000" y="3286125"/>
            <a:ext cx="1428750" cy="590550"/>
          </a:xfrm>
          <a:prstGeom prst="rect">
            <a:avLst/>
          </a:prstGeom>
          <a:solidFill>
            <a:srgbClr val="E9EEEC"/>
          </a:solidFill>
          <a:ln w="9525">
            <a:solidFill>
              <a:srgbClr val="CED9DB"/>
            </a:solidFill>
            <a:prstDash val="solid"/>
          </a:ln>
        </p:spPr>
        <p:txBody>
          <a:bodyPr/>
          <a:lstStyle/>
          <a:p>
            <a:endParaRPr lang="en-IQ"/>
          </a:p>
        </p:txBody>
      </p:sp>
      <p:sp>
        <p:nvSpPr>
          <p:cNvPr id="41" name="Rectangle 40">
            <a:extLst>
              <a:ext uri="{FF2B5EF4-FFF2-40B4-BE49-F238E27FC236}">
                <a16:creationId xmlns:a16="http://schemas.microsoft.com/office/drawing/2014/main" id="{17A9F26D-18C9-433E-A9EC-761F524DFC86}"/>
              </a:ext>
            </a:extLst>
          </p:cNvPr>
          <p:cNvSpPr>
            <a:spLocks noGrp="1"/>
          </p:cNvSpPr>
          <p:nvPr/>
        </p:nvSpPr>
        <p:spPr>
          <a:xfrm>
            <a:off x="6543675" y="3324225"/>
            <a:ext cx="1295400" cy="514350"/>
          </a:xfrm>
          <a:prstGeom prst="rect">
            <a:avLst/>
          </a:prstGeom>
          <a:noFill/>
          <a:ln w="0">
            <a:noFill/>
            <a:prstDash val="solid"/>
          </a:ln>
        </p:spPr>
        <p:txBody>
          <a:bodyPr anchor="ctr"/>
          <a:lstStyle/>
          <a:p>
            <a:pPr algn="ctr">
              <a:defRPr sz="1275" b="0">
                <a:solidFill>
                  <a:srgbClr val="183544"/>
                </a:solidFill>
              </a:defRPr>
            </a:pPr>
            <a:r>
              <a:rPr sz="1275" b="0">
                <a:solidFill>
                  <a:srgbClr val="183544"/>
                </a:solidFill>
              </a:rPr>
              <a:t>no</a:t>
            </a:r>
          </a:p>
        </p:txBody>
      </p:sp>
      <p:sp>
        <p:nvSpPr>
          <p:cNvPr id="42" name="Rectangle 41">
            <a:extLst>
              <a:ext uri="{FF2B5EF4-FFF2-40B4-BE49-F238E27FC236}">
                <a16:creationId xmlns:a16="http://schemas.microsoft.com/office/drawing/2014/main" id="{8E9EBE37-92F1-49BB-B4D2-E0D65C40338F}"/>
              </a:ext>
            </a:extLst>
          </p:cNvPr>
          <p:cNvSpPr>
            <a:spLocks noGrp="1"/>
          </p:cNvSpPr>
          <p:nvPr/>
        </p:nvSpPr>
        <p:spPr>
          <a:xfrm>
            <a:off x="7905750" y="3286125"/>
            <a:ext cx="1714500" cy="590550"/>
          </a:xfrm>
          <a:prstGeom prst="rect">
            <a:avLst/>
          </a:prstGeom>
          <a:solidFill>
            <a:srgbClr val="E9EEEC"/>
          </a:solidFill>
          <a:ln w="9525">
            <a:solidFill>
              <a:srgbClr val="CED9DB"/>
            </a:solidFill>
            <a:prstDash val="solid"/>
          </a:ln>
        </p:spPr>
        <p:txBody>
          <a:bodyPr/>
          <a:lstStyle/>
          <a:p>
            <a:endParaRPr lang="en-IQ"/>
          </a:p>
        </p:txBody>
      </p:sp>
      <p:sp>
        <p:nvSpPr>
          <p:cNvPr id="43" name="Rectangle 42">
            <a:extLst>
              <a:ext uri="{FF2B5EF4-FFF2-40B4-BE49-F238E27FC236}">
                <a16:creationId xmlns:a16="http://schemas.microsoft.com/office/drawing/2014/main" id="{C4946C76-2C63-4DAD-9A47-9379B463485E}"/>
              </a:ext>
            </a:extLst>
          </p:cNvPr>
          <p:cNvSpPr>
            <a:spLocks noGrp="1"/>
          </p:cNvSpPr>
          <p:nvPr/>
        </p:nvSpPr>
        <p:spPr>
          <a:xfrm>
            <a:off x="7972425" y="3324225"/>
            <a:ext cx="1581150" cy="514350"/>
          </a:xfrm>
          <a:prstGeom prst="rect">
            <a:avLst/>
          </a:prstGeom>
          <a:noFill/>
          <a:ln w="0">
            <a:noFill/>
            <a:prstDash val="solid"/>
          </a:ln>
        </p:spPr>
        <p:txBody>
          <a:bodyPr anchor="ctr"/>
          <a:lstStyle/>
          <a:p>
            <a:pPr algn="ctr">
              <a:defRPr sz="1275" b="0">
                <a:solidFill>
                  <a:srgbClr val="183544"/>
                </a:solidFill>
              </a:defRPr>
            </a:pPr>
            <a:r>
              <a:rPr sz="1275" b="0">
                <a:solidFill>
                  <a:srgbClr val="183544"/>
                </a:solidFill>
              </a:rPr>
              <a:t>—</a:t>
            </a:r>
          </a:p>
        </p:txBody>
      </p:sp>
      <p:sp>
        <p:nvSpPr>
          <p:cNvPr id="44" name="Rectangle 43">
            <a:extLst>
              <a:ext uri="{FF2B5EF4-FFF2-40B4-BE49-F238E27FC236}">
                <a16:creationId xmlns:a16="http://schemas.microsoft.com/office/drawing/2014/main" id="{66C6DF43-70F1-4D9E-9E2B-4DC9752B6FA3}"/>
              </a:ext>
            </a:extLst>
          </p:cNvPr>
          <p:cNvSpPr>
            <a:spLocks noGrp="1"/>
          </p:cNvSpPr>
          <p:nvPr/>
        </p:nvSpPr>
        <p:spPr>
          <a:xfrm>
            <a:off x="9620250" y="3286125"/>
            <a:ext cx="1905000" cy="590550"/>
          </a:xfrm>
          <a:prstGeom prst="rect">
            <a:avLst/>
          </a:prstGeom>
          <a:solidFill>
            <a:srgbClr val="E9EEEC"/>
          </a:solidFill>
          <a:ln w="9525">
            <a:solidFill>
              <a:srgbClr val="CED9DB"/>
            </a:solidFill>
            <a:prstDash val="solid"/>
          </a:ln>
        </p:spPr>
        <p:txBody>
          <a:bodyPr/>
          <a:lstStyle/>
          <a:p>
            <a:endParaRPr lang="en-IQ"/>
          </a:p>
        </p:txBody>
      </p:sp>
      <p:sp>
        <p:nvSpPr>
          <p:cNvPr id="45" name="Rectangle 44">
            <a:extLst>
              <a:ext uri="{FF2B5EF4-FFF2-40B4-BE49-F238E27FC236}">
                <a16:creationId xmlns:a16="http://schemas.microsoft.com/office/drawing/2014/main" id="{D68E78F1-2490-46E2-A08E-9B5AC65AFF35}"/>
              </a:ext>
            </a:extLst>
          </p:cNvPr>
          <p:cNvSpPr>
            <a:spLocks noGrp="1"/>
          </p:cNvSpPr>
          <p:nvPr/>
        </p:nvSpPr>
        <p:spPr>
          <a:xfrm>
            <a:off x="9686925" y="3324225"/>
            <a:ext cx="1771650" cy="514350"/>
          </a:xfrm>
          <a:prstGeom prst="rect">
            <a:avLst/>
          </a:prstGeom>
          <a:noFill/>
          <a:ln w="0">
            <a:noFill/>
            <a:prstDash val="solid"/>
          </a:ln>
        </p:spPr>
        <p:txBody>
          <a:bodyPr anchor="ctr"/>
          <a:lstStyle/>
          <a:p>
            <a:pPr algn="ctr">
              <a:defRPr sz="1275" b="0">
                <a:solidFill>
                  <a:srgbClr val="183544"/>
                </a:solidFill>
              </a:defRPr>
            </a:pPr>
            <a:r>
              <a:rPr sz="1275" b="0">
                <a:solidFill>
                  <a:srgbClr val="183544"/>
                </a:solidFill>
              </a:rPr>
              <a:t>—</a:t>
            </a:r>
          </a:p>
        </p:txBody>
      </p:sp>
      <p:sp>
        <p:nvSpPr>
          <p:cNvPr id="46" name="Rectangle 45">
            <a:extLst>
              <a:ext uri="{FF2B5EF4-FFF2-40B4-BE49-F238E27FC236}">
                <a16:creationId xmlns:a16="http://schemas.microsoft.com/office/drawing/2014/main" id="{967FE543-F2F0-488B-B8BB-70EFE4A87505}"/>
              </a:ext>
            </a:extLst>
          </p:cNvPr>
          <p:cNvSpPr>
            <a:spLocks noGrp="1"/>
          </p:cNvSpPr>
          <p:nvPr/>
        </p:nvSpPr>
        <p:spPr>
          <a:xfrm>
            <a:off x="666750" y="3876675"/>
            <a:ext cx="857250" cy="590550"/>
          </a:xfrm>
          <a:prstGeom prst="rect">
            <a:avLst/>
          </a:prstGeom>
          <a:solidFill>
            <a:srgbClr val="FFFFFF"/>
          </a:solidFill>
          <a:ln w="9525">
            <a:solidFill>
              <a:srgbClr val="CED9DB"/>
            </a:solidFill>
            <a:prstDash val="solid"/>
          </a:ln>
        </p:spPr>
        <p:txBody>
          <a:bodyPr/>
          <a:lstStyle/>
          <a:p>
            <a:endParaRPr lang="en-IQ"/>
          </a:p>
        </p:txBody>
      </p:sp>
      <p:sp>
        <p:nvSpPr>
          <p:cNvPr id="47" name="Rectangle 46">
            <a:extLst>
              <a:ext uri="{FF2B5EF4-FFF2-40B4-BE49-F238E27FC236}">
                <a16:creationId xmlns:a16="http://schemas.microsoft.com/office/drawing/2014/main" id="{3DB5BC0B-D691-44FA-AC59-783A908AD4D4}"/>
              </a:ext>
            </a:extLst>
          </p:cNvPr>
          <p:cNvSpPr>
            <a:spLocks noGrp="1"/>
          </p:cNvSpPr>
          <p:nvPr/>
        </p:nvSpPr>
        <p:spPr>
          <a:xfrm>
            <a:off x="733425" y="3914775"/>
            <a:ext cx="723900" cy="514350"/>
          </a:xfrm>
          <a:prstGeom prst="rect">
            <a:avLst/>
          </a:prstGeom>
          <a:noFill/>
          <a:ln w="0">
            <a:noFill/>
            <a:prstDash val="solid"/>
          </a:ln>
        </p:spPr>
        <p:txBody>
          <a:bodyPr anchor="ctr"/>
          <a:lstStyle/>
          <a:p>
            <a:pPr algn="ctr">
              <a:defRPr sz="1275" b="1">
                <a:solidFill>
                  <a:srgbClr val="0B9B91"/>
                </a:solidFill>
              </a:defRPr>
            </a:pPr>
            <a:r>
              <a:rPr sz="1275" b="1">
                <a:solidFill>
                  <a:srgbClr val="0B9B91"/>
                </a:solidFill>
              </a:rPr>
              <a:t>4</a:t>
            </a:r>
          </a:p>
        </p:txBody>
      </p:sp>
      <p:sp>
        <p:nvSpPr>
          <p:cNvPr id="48" name="Rectangle 47">
            <a:extLst>
              <a:ext uri="{FF2B5EF4-FFF2-40B4-BE49-F238E27FC236}">
                <a16:creationId xmlns:a16="http://schemas.microsoft.com/office/drawing/2014/main" id="{766AD332-5F89-427A-87BB-CAE185D1700E}"/>
              </a:ext>
            </a:extLst>
          </p:cNvPr>
          <p:cNvSpPr>
            <a:spLocks noGrp="1"/>
          </p:cNvSpPr>
          <p:nvPr/>
        </p:nvSpPr>
        <p:spPr>
          <a:xfrm>
            <a:off x="1524000" y="3876675"/>
            <a:ext cx="4953000" cy="590550"/>
          </a:xfrm>
          <a:prstGeom prst="rect">
            <a:avLst/>
          </a:prstGeom>
          <a:solidFill>
            <a:srgbClr val="FFFFFF"/>
          </a:solidFill>
          <a:ln w="9525">
            <a:solidFill>
              <a:srgbClr val="CED9DB"/>
            </a:solidFill>
            <a:prstDash val="solid"/>
          </a:ln>
        </p:spPr>
        <p:txBody>
          <a:bodyPr/>
          <a:lstStyle/>
          <a:p>
            <a:endParaRPr lang="en-IQ"/>
          </a:p>
        </p:txBody>
      </p:sp>
      <p:sp>
        <p:nvSpPr>
          <p:cNvPr id="49" name="Rectangle 48">
            <a:extLst>
              <a:ext uri="{FF2B5EF4-FFF2-40B4-BE49-F238E27FC236}">
                <a16:creationId xmlns:a16="http://schemas.microsoft.com/office/drawing/2014/main" id="{EB2168C2-F881-4942-9BA3-A8F51A100984}"/>
              </a:ext>
            </a:extLst>
          </p:cNvPr>
          <p:cNvSpPr>
            <a:spLocks noGrp="1"/>
          </p:cNvSpPr>
          <p:nvPr/>
        </p:nvSpPr>
        <p:spPr>
          <a:xfrm>
            <a:off x="1590675" y="3914775"/>
            <a:ext cx="4819650" cy="514350"/>
          </a:xfrm>
          <a:prstGeom prst="rect">
            <a:avLst/>
          </a:prstGeom>
          <a:noFill/>
          <a:ln w="0">
            <a:noFill/>
            <a:prstDash val="solid"/>
          </a:ln>
        </p:spPr>
        <p:txBody>
          <a:bodyPr anchor="ctr"/>
          <a:lstStyle/>
          <a:p>
            <a:pPr algn="ctr">
              <a:defRPr sz="1275" b="0">
                <a:solidFill>
                  <a:srgbClr val="183544"/>
                </a:solidFill>
              </a:defRPr>
            </a:pPr>
            <a:r>
              <a:rPr sz="1275" b="0">
                <a:solidFill>
                  <a:srgbClr val="183544"/>
                </a:solidFill>
              </a:rPr>
              <a:t>[2,2,1,2,1,2,1,2]</a:t>
            </a:r>
          </a:p>
        </p:txBody>
      </p:sp>
      <p:sp>
        <p:nvSpPr>
          <p:cNvPr id="50" name="Rectangle 49">
            <a:extLst>
              <a:ext uri="{FF2B5EF4-FFF2-40B4-BE49-F238E27FC236}">
                <a16:creationId xmlns:a16="http://schemas.microsoft.com/office/drawing/2014/main" id="{B990AD6C-B73C-4455-AC1D-93C74F3AED14}"/>
              </a:ext>
            </a:extLst>
          </p:cNvPr>
          <p:cNvSpPr>
            <a:spLocks noGrp="1"/>
          </p:cNvSpPr>
          <p:nvPr/>
        </p:nvSpPr>
        <p:spPr>
          <a:xfrm>
            <a:off x="6477000" y="3876675"/>
            <a:ext cx="1428750" cy="590550"/>
          </a:xfrm>
          <a:prstGeom prst="rect">
            <a:avLst/>
          </a:prstGeom>
          <a:solidFill>
            <a:srgbClr val="FFFFFF"/>
          </a:solidFill>
          <a:ln w="9525">
            <a:solidFill>
              <a:srgbClr val="CED9DB"/>
            </a:solidFill>
            <a:prstDash val="solid"/>
          </a:ln>
        </p:spPr>
        <p:txBody>
          <a:bodyPr/>
          <a:lstStyle/>
          <a:p>
            <a:endParaRPr lang="en-IQ"/>
          </a:p>
        </p:txBody>
      </p:sp>
      <p:sp>
        <p:nvSpPr>
          <p:cNvPr id="51" name="Rectangle 50">
            <a:extLst>
              <a:ext uri="{FF2B5EF4-FFF2-40B4-BE49-F238E27FC236}">
                <a16:creationId xmlns:a16="http://schemas.microsoft.com/office/drawing/2014/main" id="{83CC31AD-DDD7-48A3-9232-CA55D0CC154A}"/>
              </a:ext>
            </a:extLst>
          </p:cNvPr>
          <p:cNvSpPr>
            <a:spLocks noGrp="1"/>
          </p:cNvSpPr>
          <p:nvPr/>
        </p:nvSpPr>
        <p:spPr>
          <a:xfrm>
            <a:off x="6543675" y="3914775"/>
            <a:ext cx="1295400" cy="514350"/>
          </a:xfrm>
          <a:prstGeom prst="rect">
            <a:avLst/>
          </a:prstGeom>
          <a:noFill/>
          <a:ln w="0">
            <a:noFill/>
            <a:prstDash val="solid"/>
          </a:ln>
        </p:spPr>
        <p:txBody>
          <a:bodyPr anchor="ctr"/>
          <a:lstStyle/>
          <a:p>
            <a:pPr algn="ctr">
              <a:defRPr sz="1275" b="0">
                <a:solidFill>
                  <a:srgbClr val="183544"/>
                </a:solidFill>
              </a:defRPr>
            </a:pPr>
            <a:r>
              <a:rPr sz="1275" b="0">
                <a:solidFill>
                  <a:srgbClr val="183544"/>
                </a:solidFill>
              </a:rPr>
              <a:t>no</a:t>
            </a:r>
          </a:p>
        </p:txBody>
      </p:sp>
      <p:sp>
        <p:nvSpPr>
          <p:cNvPr id="52" name="Rectangle 51">
            <a:extLst>
              <a:ext uri="{FF2B5EF4-FFF2-40B4-BE49-F238E27FC236}">
                <a16:creationId xmlns:a16="http://schemas.microsoft.com/office/drawing/2014/main" id="{BF828941-4D66-45F6-92F3-901456002172}"/>
              </a:ext>
            </a:extLst>
          </p:cNvPr>
          <p:cNvSpPr>
            <a:spLocks noGrp="1"/>
          </p:cNvSpPr>
          <p:nvPr/>
        </p:nvSpPr>
        <p:spPr>
          <a:xfrm>
            <a:off x="7905750" y="3876675"/>
            <a:ext cx="1714500" cy="590550"/>
          </a:xfrm>
          <a:prstGeom prst="rect">
            <a:avLst/>
          </a:prstGeom>
          <a:solidFill>
            <a:srgbClr val="FFFFFF"/>
          </a:solidFill>
          <a:ln w="9525">
            <a:solidFill>
              <a:srgbClr val="CED9DB"/>
            </a:solidFill>
            <a:prstDash val="solid"/>
          </a:ln>
        </p:spPr>
        <p:txBody>
          <a:bodyPr/>
          <a:lstStyle/>
          <a:p>
            <a:endParaRPr lang="en-IQ"/>
          </a:p>
        </p:txBody>
      </p:sp>
      <p:sp>
        <p:nvSpPr>
          <p:cNvPr id="53" name="Rectangle 52">
            <a:extLst>
              <a:ext uri="{FF2B5EF4-FFF2-40B4-BE49-F238E27FC236}">
                <a16:creationId xmlns:a16="http://schemas.microsoft.com/office/drawing/2014/main" id="{9BD771A4-8409-4086-9FE4-DD59D7BA5613}"/>
              </a:ext>
            </a:extLst>
          </p:cNvPr>
          <p:cNvSpPr>
            <a:spLocks noGrp="1"/>
          </p:cNvSpPr>
          <p:nvPr/>
        </p:nvSpPr>
        <p:spPr>
          <a:xfrm>
            <a:off x="7972425" y="3914775"/>
            <a:ext cx="1581150" cy="514350"/>
          </a:xfrm>
          <a:prstGeom prst="rect">
            <a:avLst/>
          </a:prstGeom>
          <a:noFill/>
          <a:ln w="0">
            <a:noFill/>
            <a:prstDash val="solid"/>
          </a:ln>
        </p:spPr>
        <p:txBody>
          <a:bodyPr anchor="ctr"/>
          <a:lstStyle/>
          <a:p>
            <a:pPr algn="ctr">
              <a:defRPr sz="1275" b="0">
                <a:solidFill>
                  <a:srgbClr val="183544"/>
                </a:solidFill>
              </a:defRPr>
            </a:pPr>
            <a:r>
              <a:rPr sz="1275" b="0">
                <a:solidFill>
                  <a:srgbClr val="183544"/>
                </a:solidFill>
              </a:rPr>
              <a:t>—</a:t>
            </a:r>
          </a:p>
        </p:txBody>
      </p:sp>
      <p:sp>
        <p:nvSpPr>
          <p:cNvPr id="54" name="Rectangle 53">
            <a:extLst>
              <a:ext uri="{FF2B5EF4-FFF2-40B4-BE49-F238E27FC236}">
                <a16:creationId xmlns:a16="http://schemas.microsoft.com/office/drawing/2014/main" id="{F2089700-D9C5-4319-A1B5-AEE6153F88E3}"/>
              </a:ext>
            </a:extLst>
          </p:cNvPr>
          <p:cNvSpPr>
            <a:spLocks noGrp="1"/>
          </p:cNvSpPr>
          <p:nvPr/>
        </p:nvSpPr>
        <p:spPr>
          <a:xfrm>
            <a:off x="9620250" y="3876675"/>
            <a:ext cx="1905000" cy="590550"/>
          </a:xfrm>
          <a:prstGeom prst="rect">
            <a:avLst/>
          </a:prstGeom>
          <a:solidFill>
            <a:srgbClr val="FFFFFF"/>
          </a:solidFill>
          <a:ln w="9525">
            <a:solidFill>
              <a:srgbClr val="CED9DB"/>
            </a:solidFill>
            <a:prstDash val="solid"/>
          </a:ln>
        </p:spPr>
        <p:txBody>
          <a:bodyPr/>
          <a:lstStyle/>
          <a:p>
            <a:endParaRPr lang="en-IQ"/>
          </a:p>
        </p:txBody>
      </p:sp>
      <p:sp>
        <p:nvSpPr>
          <p:cNvPr id="55" name="Rectangle 54">
            <a:extLst>
              <a:ext uri="{FF2B5EF4-FFF2-40B4-BE49-F238E27FC236}">
                <a16:creationId xmlns:a16="http://schemas.microsoft.com/office/drawing/2014/main" id="{9CB4C576-9D0F-4C07-89E6-3F2CC49611DE}"/>
              </a:ext>
            </a:extLst>
          </p:cNvPr>
          <p:cNvSpPr>
            <a:spLocks noGrp="1"/>
          </p:cNvSpPr>
          <p:nvPr/>
        </p:nvSpPr>
        <p:spPr>
          <a:xfrm>
            <a:off x="9686925" y="3914775"/>
            <a:ext cx="1771650" cy="514350"/>
          </a:xfrm>
          <a:prstGeom prst="rect">
            <a:avLst/>
          </a:prstGeom>
          <a:noFill/>
          <a:ln w="0">
            <a:noFill/>
            <a:prstDash val="solid"/>
          </a:ln>
        </p:spPr>
        <p:txBody>
          <a:bodyPr anchor="ctr"/>
          <a:lstStyle/>
          <a:p>
            <a:pPr algn="ctr">
              <a:defRPr sz="1275" b="0">
                <a:solidFill>
                  <a:srgbClr val="183544"/>
                </a:solidFill>
              </a:defRPr>
            </a:pPr>
            <a:r>
              <a:rPr sz="1275" b="0">
                <a:solidFill>
                  <a:srgbClr val="183544"/>
                </a:solidFill>
              </a:rPr>
              <a:t>—</a:t>
            </a:r>
          </a:p>
        </p:txBody>
      </p:sp>
      <p:sp>
        <p:nvSpPr>
          <p:cNvPr id="56" name="Rectangle 55">
            <a:extLst>
              <a:ext uri="{FF2B5EF4-FFF2-40B4-BE49-F238E27FC236}">
                <a16:creationId xmlns:a16="http://schemas.microsoft.com/office/drawing/2014/main" id="{40DDD5E1-E11E-4D36-BDD0-94D5C5FDA26F}"/>
              </a:ext>
            </a:extLst>
          </p:cNvPr>
          <p:cNvSpPr>
            <a:spLocks noGrp="1"/>
          </p:cNvSpPr>
          <p:nvPr/>
        </p:nvSpPr>
        <p:spPr>
          <a:xfrm>
            <a:off x="666750" y="4467225"/>
            <a:ext cx="857250" cy="590550"/>
          </a:xfrm>
          <a:prstGeom prst="rect">
            <a:avLst/>
          </a:prstGeom>
          <a:solidFill>
            <a:srgbClr val="E9EEEC"/>
          </a:solidFill>
          <a:ln w="9525">
            <a:solidFill>
              <a:srgbClr val="CED9DB"/>
            </a:solidFill>
            <a:prstDash val="solid"/>
          </a:ln>
        </p:spPr>
        <p:txBody>
          <a:bodyPr/>
          <a:lstStyle/>
          <a:p>
            <a:endParaRPr lang="en-IQ"/>
          </a:p>
        </p:txBody>
      </p:sp>
      <p:sp>
        <p:nvSpPr>
          <p:cNvPr id="57" name="Rectangle 56">
            <a:extLst>
              <a:ext uri="{FF2B5EF4-FFF2-40B4-BE49-F238E27FC236}">
                <a16:creationId xmlns:a16="http://schemas.microsoft.com/office/drawing/2014/main" id="{FE758B40-E482-44DD-997A-0F24B0FCAF0A}"/>
              </a:ext>
            </a:extLst>
          </p:cNvPr>
          <p:cNvSpPr>
            <a:spLocks noGrp="1"/>
          </p:cNvSpPr>
          <p:nvPr/>
        </p:nvSpPr>
        <p:spPr>
          <a:xfrm>
            <a:off x="733425" y="4505325"/>
            <a:ext cx="723900" cy="514350"/>
          </a:xfrm>
          <a:prstGeom prst="rect">
            <a:avLst/>
          </a:prstGeom>
          <a:noFill/>
          <a:ln w="0">
            <a:noFill/>
            <a:prstDash val="solid"/>
          </a:ln>
        </p:spPr>
        <p:txBody>
          <a:bodyPr anchor="ctr"/>
          <a:lstStyle/>
          <a:p>
            <a:pPr algn="ctr">
              <a:defRPr sz="1275" b="1">
                <a:solidFill>
                  <a:srgbClr val="0B9B91"/>
                </a:solidFill>
              </a:defRPr>
            </a:pPr>
            <a:r>
              <a:rPr sz="1275" b="1">
                <a:solidFill>
                  <a:srgbClr val="0B9B91"/>
                </a:solidFill>
              </a:rPr>
              <a:t>5</a:t>
            </a:r>
          </a:p>
        </p:txBody>
      </p:sp>
      <p:sp>
        <p:nvSpPr>
          <p:cNvPr id="58" name="Rectangle 57">
            <a:extLst>
              <a:ext uri="{FF2B5EF4-FFF2-40B4-BE49-F238E27FC236}">
                <a16:creationId xmlns:a16="http://schemas.microsoft.com/office/drawing/2014/main" id="{98834084-1893-434E-8FBC-AC781313FB62}"/>
              </a:ext>
            </a:extLst>
          </p:cNvPr>
          <p:cNvSpPr>
            <a:spLocks noGrp="1"/>
          </p:cNvSpPr>
          <p:nvPr/>
        </p:nvSpPr>
        <p:spPr>
          <a:xfrm>
            <a:off x="1524000" y="4467225"/>
            <a:ext cx="4953000" cy="590550"/>
          </a:xfrm>
          <a:prstGeom prst="rect">
            <a:avLst/>
          </a:prstGeom>
          <a:solidFill>
            <a:srgbClr val="E9EEEC"/>
          </a:solidFill>
          <a:ln w="9525">
            <a:solidFill>
              <a:srgbClr val="CED9DB"/>
            </a:solidFill>
            <a:prstDash val="solid"/>
          </a:ln>
        </p:spPr>
        <p:txBody>
          <a:bodyPr/>
          <a:lstStyle/>
          <a:p>
            <a:endParaRPr lang="en-IQ"/>
          </a:p>
        </p:txBody>
      </p:sp>
      <p:sp>
        <p:nvSpPr>
          <p:cNvPr id="59" name="Rectangle 58">
            <a:extLst>
              <a:ext uri="{FF2B5EF4-FFF2-40B4-BE49-F238E27FC236}">
                <a16:creationId xmlns:a16="http://schemas.microsoft.com/office/drawing/2014/main" id="{E804FE1F-C659-4506-8C3F-E8E6E2B93E57}"/>
              </a:ext>
            </a:extLst>
          </p:cNvPr>
          <p:cNvSpPr>
            <a:spLocks noGrp="1"/>
          </p:cNvSpPr>
          <p:nvPr/>
        </p:nvSpPr>
        <p:spPr>
          <a:xfrm>
            <a:off x="1590675" y="4505325"/>
            <a:ext cx="4819650" cy="514350"/>
          </a:xfrm>
          <a:prstGeom prst="rect">
            <a:avLst/>
          </a:prstGeom>
          <a:noFill/>
          <a:ln w="0">
            <a:noFill/>
            <a:prstDash val="solid"/>
          </a:ln>
        </p:spPr>
        <p:txBody>
          <a:bodyPr anchor="ctr"/>
          <a:lstStyle/>
          <a:p>
            <a:pPr algn="ctr">
              <a:defRPr sz="1275" b="0">
                <a:solidFill>
                  <a:srgbClr val="183544"/>
                </a:solidFill>
              </a:defRPr>
            </a:pPr>
            <a:r>
              <a:rPr sz="1275" b="0">
                <a:solidFill>
                  <a:srgbClr val="183544"/>
                </a:solidFill>
              </a:rPr>
              <a:t>[3,2,0,2,1,3,3,2]</a:t>
            </a:r>
          </a:p>
        </p:txBody>
      </p:sp>
      <p:sp>
        <p:nvSpPr>
          <p:cNvPr id="60" name="Rectangle 59">
            <a:extLst>
              <a:ext uri="{FF2B5EF4-FFF2-40B4-BE49-F238E27FC236}">
                <a16:creationId xmlns:a16="http://schemas.microsoft.com/office/drawing/2014/main" id="{3E7B702B-7366-404B-8DAE-AB6DFF6809C3}"/>
              </a:ext>
            </a:extLst>
          </p:cNvPr>
          <p:cNvSpPr>
            <a:spLocks noGrp="1"/>
          </p:cNvSpPr>
          <p:nvPr/>
        </p:nvSpPr>
        <p:spPr>
          <a:xfrm>
            <a:off x="6477000" y="4467225"/>
            <a:ext cx="1428750" cy="590550"/>
          </a:xfrm>
          <a:prstGeom prst="rect">
            <a:avLst/>
          </a:prstGeom>
          <a:solidFill>
            <a:srgbClr val="E9EEEC"/>
          </a:solidFill>
          <a:ln w="9525">
            <a:solidFill>
              <a:srgbClr val="CED9DB"/>
            </a:solidFill>
            <a:prstDash val="solid"/>
          </a:ln>
        </p:spPr>
        <p:txBody>
          <a:bodyPr/>
          <a:lstStyle/>
          <a:p>
            <a:endParaRPr lang="en-IQ"/>
          </a:p>
        </p:txBody>
      </p:sp>
      <p:sp>
        <p:nvSpPr>
          <p:cNvPr id="61" name="Rectangle 60">
            <a:extLst>
              <a:ext uri="{FF2B5EF4-FFF2-40B4-BE49-F238E27FC236}">
                <a16:creationId xmlns:a16="http://schemas.microsoft.com/office/drawing/2014/main" id="{F85A6446-434A-4AC1-956A-535C8A240FB0}"/>
              </a:ext>
            </a:extLst>
          </p:cNvPr>
          <p:cNvSpPr>
            <a:spLocks noGrp="1"/>
          </p:cNvSpPr>
          <p:nvPr/>
        </p:nvSpPr>
        <p:spPr>
          <a:xfrm>
            <a:off x="6543675" y="4505325"/>
            <a:ext cx="1295400" cy="514350"/>
          </a:xfrm>
          <a:prstGeom prst="rect">
            <a:avLst/>
          </a:prstGeom>
          <a:noFill/>
          <a:ln w="0">
            <a:noFill/>
            <a:prstDash val="solid"/>
          </a:ln>
        </p:spPr>
        <p:txBody>
          <a:bodyPr anchor="ctr"/>
          <a:lstStyle/>
          <a:p>
            <a:pPr algn="ctr">
              <a:defRPr sz="1275" b="0">
                <a:solidFill>
                  <a:srgbClr val="183544"/>
                </a:solidFill>
              </a:defRPr>
            </a:pPr>
            <a:r>
              <a:rPr sz="1275" b="0">
                <a:solidFill>
                  <a:srgbClr val="183544"/>
                </a:solidFill>
              </a:rPr>
              <a:t>no</a:t>
            </a:r>
          </a:p>
        </p:txBody>
      </p:sp>
      <p:sp>
        <p:nvSpPr>
          <p:cNvPr id="62" name="Rectangle 61">
            <a:extLst>
              <a:ext uri="{FF2B5EF4-FFF2-40B4-BE49-F238E27FC236}">
                <a16:creationId xmlns:a16="http://schemas.microsoft.com/office/drawing/2014/main" id="{F4CF3E74-A40C-476D-88C6-1557503FA111}"/>
              </a:ext>
            </a:extLst>
          </p:cNvPr>
          <p:cNvSpPr>
            <a:spLocks noGrp="1"/>
          </p:cNvSpPr>
          <p:nvPr/>
        </p:nvSpPr>
        <p:spPr>
          <a:xfrm>
            <a:off x="7905750" y="4467225"/>
            <a:ext cx="1714500" cy="590550"/>
          </a:xfrm>
          <a:prstGeom prst="rect">
            <a:avLst/>
          </a:prstGeom>
          <a:solidFill>
            <a:srgbClr val="E9EEEC"/>
          </a:solidFill>
          <a:ln w="9525">
            <a:solidFill>
              <a:srgbClr val="CED9DB"/>
            </a:solidFill>
            <a:prstDash val="solid"/>
          </a:ln>
        </p:spPr>
        <p:txBody>
          <a:bodyPr/>
          <a:lstStyle/>
          <a:p>
            <a:endParaRPr lang="en-IQ"/>
          </a:p>
        </p:txBody>
      </p:sp>
      <p:sp>
        <p:nvSpPr>
          <p:cNvPr id="63" name="Rectangle 62">
            <a:extLst>
              <a:ext uri="{FF2B5EF4-FFF2-40B4-BE49-F238E27FC236}">
                <a16:creationId xmlns:a16="http://schemas.microsoft.com/office/drawing/2014/main" id="{17A0EF0C-B3AF-457B-81B1-828A056DE0C0}"/>
              </a:ext>
            </a:extLst>
          </p:cNvPr>
          <p:cNvSpPr>
            <a:spLocks noGrp="1"/>
          </p:cNvSpPr>
          <p:nvPr/>
        </p:nvSpPr>
        <p:spPr>
          <a:xfrm>
            <a:off x="7972425" y="4505325"/>
            <a:ext cx="1581150" cy="514350"/>
          </a:xfrm>
          <a:prstGeom prst="rect">
            <a:avLst/>
          </a:prstGeom>
          <a:noFill/>
          <a:ln w="0">
            <a:noFill/>
            <a:prstDash val="solid"/>
          </a:ln>
        </p:spPr>
        <p:txBody>
          <a:bodyPr anchor="ctr"/>
          <a:lstStyle/>
          <a:p>
            <a:pPr algn="ctr">
              <a:defRPr sz="1275" b="0">
                <a:solidFill>
                  <a:srgbClr val="183544"/>
                </a:solidFill>
              </a:defRPr>
            </a:pPr>
            <a:r>
              <a:rPr sz="1275" b="0">
                <a:solidFill>
                  <a:srgbClr val="183544"/>
                </a:solidFill>
              </a:rPr>
              <a:t>—</a:t>
            </a:r>
          </a:p>
        </p:txBody>
      </p:sp>
      <p:sp>
        <p:nvSpPr>
          <p:cNvPr id="64" name="Rectangle 63">
            <a:extLst>
              <a:ext uri="{FF2B5EF4-FFF2-40B4-BE49-F238E27FC236}">
                <a16:creationId xmlns:a16="http://schemas.microsoft.com/office/drawing/2014/main" id="{7AB85D15-443E-40A4-9232-C2582B56EFED}"/>
              </a:ext>
            </a:extLst>
          </p:cNvPr>
          <p:cNvSpPr>
            <a:spLocks noGrp="1"/>
          </p:cNvSpPr>
          <p:nvPr/>
        </p:nvSpPr>
        <p:spPr>
          <a:xfrm>
            <a:off x="9620250" y="4467225"/>
            <a:ext cx="1905000" cy="590550"/>
          </a:xfrm>
          <a:prstGeom prst="rect">
            <a:avLst/>
          </a:prstGeom>
          <a:solidFill>
            <a:srgbClr val="E9EEEC"/>
          </a:solidFill>
          <a:ln w="9525">
            <a:solidFill>
              <a:srgbClr val="CED9DB"/>
            </a:solidFill>
            <a:prstDash val="solid"/>
          </a:ln>
        </p:spPr>
        <p:txBody>
          <a:bodyPr/>
          <a:lstStyle/>
          <a:p>
            <a:endParaRPr lang="en-IQ"/>
          </a:p>
        </p:txBody>
      </p:sp>
      <p:sp>
        <p:nvSpPr>
          <p:cNvPr id="65" name="Rectangle 64">
            <a:extLst>
              <a:ext uri="{FF2B5EF4-FFF2-40B4-BE49-F238E27FC236}">
                <a16:creationId xmlns:a16="http://schemas.microsoft.com/office/drawing/2014/main" id="{1FF0E7B9-27C0-491F-A217-A903C3292203}"/>
              </a:ext>
            </a:extLst>
          </p:cNvPr>
          <p:cNvSpPr>
            <a:spLocks noGrp="1"/>
          </p:cNvSpPr>
          <p:nvPr/>
        </p:nvSpPr>
        <p:spPr>
          <a:xfrm>
            <a:off x="9686925" y="4505325"/>
            <a:ext cx="1771650" cy="514350"/>
          </a:xfrm>
          <a:prstGeom prst="rect">
            <a:avLst/>
          </a:prstGeom>
          <a:noFill/>
          <a:ln w="0">
            <a:noFill/>
            <a:prstDash val="solid"/>
          </a:ln>
        </p:spPr>
        <p:txBody>
          <a:bodyPr anchor="ctr"/>
          <a:lstStyle/>
          <a:p>
            <a:pPr algn="ctr">
              <a:defRPr sz="1275" b="0">
                <a:solidFill>
                  <a:srgbClr val="183544"/>
                </a:solidFill>
              </a:defRPr>
            </a:pPr>
            <a:r>
              <a:rPr sz="1275" b="0">
                <a:solidFill>
                  <a:srgbClr val="183544"/>
                </a:solidFill>
              </a:rPr>
              <a:t>—</a:t>
            </a:r>
          </a:p>
        </p:txBody>
      </p:sp>
      <p:sp>
        <p:nvSpPr>
          <p:cNvPr id="66" name="Rectangle 65">
            <a:extLst>
              <a:ext uri="{FF2B5EF4-FFF2-40B4-BE49-F238E27FC236}">
                <a16:creationId xmlns:a16="http://schemas.microsoft.com/office/drawing/2014/main" id="{C0FBE935-D6C7-41A4-9F61-030ED37F4392}"/>
              </a:ext>
            </a:extLst>
          </p:cNvPr>
          <p:cNvSpPr>
            <a:spLocks noGrp="1"/>
          </p:cNvSpPr>
          <p:nvPr/>
        </p:nvSpPr>
        <p:spPr>
          <a:xfrm>
            <a:off x="666750" y="5057775"/>
            <a:ext cx="857250" cy="590550"/>
          </a:xfrm>
          <a:prstGeom prst="rect">
            <a:avLst/>
          </a:prstGeom>
          <a:solidFill>
            <a:srgbClr val="FFFFFF"/>
          </a:solidFill>
          <a:ln w="9525">
            <a:solidFill>
              <a:srgbClr val="CED9DB"/>
            </a:solidFill>
            <a:prstDash val="solid"/>
          </a:ln>
        </p:spPr>
        <p:txBody>
          <a:bodyPr/>
          <a:lstStyle/>
          <a:p>
            <a:endParaRPr lang="en-IQ"/>
          </a:p>
        </p:txBody>
      </p:sp>
      <p:sp>
        <p:nvSpPr>
          <p:cNvPr id="67" name="Rectangle 66">
            <a:extLst>
              <a:ext uri="{FF2B5EF4-FFF2-40B4-BE49-F238E27FC236}">
                <a16:creationId xmlns:a16="http://schemas.microsoft.com/office/drawing/2014/main" id="{8DC597A2-0A97-4CF1-9FCE-1B3B05BEF709}"/>
              </a:ext>
            </a:extLst>
          </p:cNvPr>
          <p:cNvSpPr>
            <a:spLocks noGrp="1"/>
          </p:cNvSpPr>
          <p:nvPr/>
        </p:nvSpPr>
        <p:spPr>
          <a:xfrm>
            <a:off x="733425" y="5095875"/>
            <a:ext cx="723900" cy="514350"/>
          </a:xfrm>
          <a:prstGeom prst="rect">
            <a:avLst/>
          </a:prstGeom>
          <a:noFill/>
          <a:ln w="0">
            <a:noFill/>
            <a:prstDash val="solid"/>
          </a:ln>
        </p:spPr>
        <p:txBody>
          <a:bodyPr anchor="ctr"/>
          <a:lstStyle/>
          <a:p>
            <a:pPr algn="ctr">
              <a:defRPr sz="1275" b="1">
                <a:solidFill>
                  <a:srgbClr val="0B9B91"/>
                </a:solidFill>
              </a:defRPr>
            </a:pPr>
            <a:r>
              <a:rPr sz="1275" b="1">
                <a:solidFill>
                  <a:srgbClr val="0B9B91"/>
                </a:solidFill>
              </a:rPr>
              <a:t>6</a:t>
            </a:r>
          </a:p>
        </p:txBody>
      </p:sp>
      <p:sp>
        <p:nvSpPr>
          <p:cNvPr id="68" name="Rectangle 67">
            <a:extLst>
              <a:ext uri="{FF2B5EF4-FFF2-40B4-BE49-F238E27FC236}">
                <a16:creationId xmlns:a16="http://schemas.microsoft.com/office/drawing/2014/main" id="{4A94164D-FBF2-4B19-8BCE-E3DE39829123}"/>
              </a:ext>
            </a:extLst>
          </p:cNvPr>
          <p:cNvSpPr>
            <a:spLocks noGrp="1"/>
          </p:cNvSpPr>
          <p:nvPr/>
        </p:nvSpPr>
        <p:spPr>
          <a:xfrm>
            <a:off x="1524000" y="5057775"/>
            <a:ext cx="4953000" cy="590550"/>
          </a:xfrm>
          <a:prstGeom prst="rect">
            <a:avLst/>
          </a:prstGeom>
          <a:solidFill>
            <a:srgbClr val="FFFFFF"/>
          </a:solidFill>
          <a:ln w="9525">
            <a:solidFill>
              <a:srgbClr val="CED9DB"/>
            </a:solidFill>
            <a:prstDash val="solid"/>
          </a:ln>
        </p:spPr>
        <p:txBody>
          <a:bodyPr/>
          <a:lstStyle/>
          <a:p>
            <a:endParaRPr lang="en-IQ"/>
          </a:p>
        </p:txBody>
      </p:sp>
      <p:sp>
        <p:nvSpPr>
          <p:cNvPr id="69" name="Rectangle 68">
            <a:extLst>
              <a:ext uri="{FF2B5EF4-FFF2-40B4-BE49-F238E27FC236}">
                <a16:creationId xmlns:a16="http://schemas.microsoft.com/office/drawing/2014/main" id="{9B62D184-84E7-4B40-A58F-F0FB229793B8}"/>
              </a:ext>
            </a:extLst>
          </p:cNvPr>
          <p:cNvSpPr>
            <a:spLocks noGrp="1"/>
          </p:cNvSpPr>
          <p:nvPr/>
        </p:nvSpPr>
        <p:spPr>
          <a:xfrm>
            <a:off x="1590675" y="5095875"/>
            <a:ext cx="4819650" cy="514350"/>
          </a:xfrm>
          <a:prstGeom prst="rect">
            <a:avLst/>
          </a:prstGeom>
          <a:noFill/>
          <a:ln w="0">
            <a:noFill/>
            <a:prstDash val="solid"/>
          </a:ln>
        </p:spPr>
        <p:txBody>
          <a:bodyPr anchor="ctr"/>
          <a:lstStyle/>
          <a:p>
            <a:pPr algn="ctr">
              <a:defRPr sz="1275" b="0">
                <a:solidFill>
                  <a:srgbClr val="183544"/>
                </a:solidFill>
              </a:defRPr>
            </a:pPr>
            <a:r>
              <a:rPr sz="1275" b="0">
                <a:solidFill>
                  <a:srgbClr val="183544"/>
                </a:solidFill>
              </a:rPr>
              <a:t>[0,3,1,1,2,2,0,3]</a:t>
            </a:r>
          </a:p>
        </p:txBody>
      </p:sp>
      <p:sp>
        <p:nvSpPr>
          <p:cNvPr id="70" name="Rectangle 69">
            <a:extLst>
              <a:ext uri="{FF2B5EF4-FFF2-40B4-BE49-F238E27FC236}">
                <a16:creationId xmlns:a16="http://schemas.microsoft.com/office/drawing/2014/main" id="{06363BC0-58B6-4B07-A712-35534ED36072}"/>
              </a:ext>
            </a:extLst>
          </p:cNvPr>
          <p:cNvSpPr>
            <a:spLocks noGrp="1"/>
          </p:cNvSpPr>
          <p:nvPr/>
        </p:nvSpPr>
        <p:spPr>
          <a:xfrm>
            <a:off x="6477000" y="5057775"/>
            <a:ext cx="1428750" cy="590550"/>
          </a:xfrm>
          <a:prstGeom prst="rect">
            <a:avLst/>
          </a:prstGeom>
          <a:solidFill>
            <a:srgbClr val="FFFFFF"/>
          </a:solidFill>
          <a:ln w="9525">
            <a:solidFill>
              <a:srgbClr val="CED9DB"/>
            </a:solidFill>
            <a:prstDash val="solid"/>
          </a:ln>
        </p:spPr>
        <p:txBody>
          <a:bodyPr/>
          <a:lstStyle/>
          <a:p>
            <a:endParaRPr lang="en-IQ"/>
          </a:p>
        </p:txBody>
      </p:sp>
      <p:sp>
        <p:nvSpPr>
          <p:cNvPr id="71" name="Rectangle 70">
            <a:extLst>
              <a:ext uri="{FF2B5EF4-FFF2-40B4-BE49-F238E27FC236}">
                <a16:creationId xmlns:a16="http://schemas.microsoft.com/office/drawing/2014/main" id="{E3DFDF3B-B3BB-4483-A244-441AB5895FCD}"/>
              </a:ext>
            </a:extLst>
          </p:cNvPr>
          <p:cNvSpPr>
            <a:spLocks noGrp="1"/>
          </p:cNvSpPr>
          <p:nvPr/>
        </p:nvSpPr>
        <p:spPr>
          <a:xfrm>
            <a:off x="6543675" y="5095875"/>
            <a:ext cx="1295400" cy="514350"/>
          </a:xfrm>
          <a:prstGeom prst="rect">
            <a:avLst/>
          </a:prstGeom>
          <a:noFill/>
          <a:ln w="0">
            <a:noFill/>
            <a:prstDash val="solid"/>
          </a:ln>
        </p:spPr>
        <p:txBody>
          <a:bodyPr anchor="ctr"/>
          <a:lstStyle/>
          <a:p>
            <a:pPr algn="ctr">
              <a:defRPr sz="1275" b="0">
                <a:solidFill>
                  <a:srgbClr val="183544"/>
                </a:solidFill>
              </a:defRPr>
            </a:pPr>
            <a:r>
              <a:rPr sz="1275" b="0">
                <a:solidFill>
                  <a:srgbClr val="183544"/>
                </a:solidFill>
              </a:rPr>
              <a:t>no</a:t>
            </a:r>
          </a:p>
        </p:txBody>
      </p:sp>
      <p:sp>
        <p:nvSpPr>
          <p:cNvPr id="72" name="Rectangle 71">
            <a:extLst>
              <a:ext uri="{FF2B5EF4-FFF2-40B4-BE49-F238E27FC236}">
                <a16:creationId xmlns:a16="http://schemas.microsoft.com/office/drawing/2014/main" id="{D85194DF-9687-4E07-B8D9-D6549F7F6174}"/>
              </a:ext>
            </a:extLst>
          </p:cNvPr>
          <p:cNvSpPr>
            <a:spLocks noGrp="1"/>
          </p:cNvSpPr>
          <p:nvPr/>
        </p:nvSpPr>
        <p:spPr>
          <a:xfrm>
            <a:off x="7905750" y="5057775"/>
            <a:ext cx="1714500" cy="590550"/>
          </a:xfrm>
          <a:prstGeom prst="rect">
            <a:avLst/>
          </a:prstGeom>
          <a:solidFill>
            <a:srgbClr val="FFFFFF"/>
          </a:solidFill>
          <a:ln w="9525">
            <a:solidFill>
              <a:srgbClr val="CED9DB"/>
            </a:solidFill>
            <a:prstDash val="solid"/>
          </a:ln>
        </p:spPr>
        <p:txBody>
          <a:bodyPr/>
          <a:lstStyle/>
          <a:p>
            <a:endParaRPr lang="en-IQ"/>
          </a:p>
        </p:txBody>
      </p:sp>
      <p:sp>
        <p:nvSpPr>
          <p:cNvPr id="73" name="Rectangle 72">
            <a:extLst>
              <a:ext uri="{FF2B5EF4-FFF2-40B4-BE49-F238E27FC236}">
                <a16:creationId xmlns:a16="http://schemas.microsoft.com/office/drawing/2014/main" id="{06D54C85-FC82-4994-9114-1B41EE3190F2}"/>
              </a:ext>
            </a:extLst>
          </p:cNvPr>
          <p:cNvSpPr>
            <a:spLocks noGrp="1"/>
          </p:cNvSpPr>
          <p:nvPr/>
        </p:nvSpPr>
        <p:spPr>
          <a:xfrm>
            <a:off x="7972425" y="5095875"/>
            <a:ext cx="1581150" cy="514350"/>
          </a:xfrm>
          <a:prstGeom prst="rect">
            <a:avLst/>
          </a:prstGeom>
          <a:noFill/>
          <a:ln w="0">
            <a:noFill/>
            <a:prstDash val="solid"/>
          </a:ln>
        </p:spPr>
        <p:txBody>
          <a:bodyPr anchor="ctr"/>
          <a:lstStyle/>
          <a:p>
            <a:pPr algn="ctr">
              <a:defRPr sz="1275" b="0">
                <a:solidFill>
                  <a:srgbClr val="183544"/>
                </a:solidFill>
              </a:defRPr>
            </a:pPr>
            <a:r>
              <a:rPr sz="1275" b="0">
                <a:solidFill>
                  <a:srgbClr val="183544"/>
                </a:solidFill>
              </a:rPr>
              <a:t>—</a:t>
            </a:r>
          </a:p>
        </p:txBody>
      </p:sp>
      <p:sp>
        <p:nvSpPr>
          <p:cNvPr id="74" name="Rectangle 73">
            <a:extLst>
              <a:ext uri="{FF2B5EF4-FFF2-40B4-BE49-F238E27FC236}">
                <a16:creationId xmlns:a16="http://schemas.microsoft.com/office/drawing/2014/main" id="{606483BC-623E-459A-BB84-88122A2F7DBD}"/>
              </a:ext>
            </a:extLst>
          </p:cNvPr>
          <p:cNvSpPr>
            <a:spLocks noGrp="1"/>
          </p:cNvSpPr>
          <p:nvPr/>
        </p:nvSpPr>
        <p:spPr>
          <a:xfrm>
            <a:off x="9620250" y="5057775"/>
            <a:ext cx="1905000" cy="590550"/>
          </a:xfrm>
          <a:prstGeom prst="rect">
            <a:avLst/>
          </a:prstGeom>
          <a:solidFill>
            <a:srgbClr val="FFFFFF"/>
          </a:solidFill>
          <a:ln w="9525">
            <a:solidFill>
              <a:srgbClr val="CED9DB"/>
            </a:solidFill>
            <a:prstDash val="solid"/>
          </a:ln>
        </p:spPr>
        <p:txBody>
          <a:bodyPr/>
          <a:lstStyle/>
          <a:p>
            <a:endParaRPr lang="en-IQ"/>
          </a:p>
        </p:txBody>
      </p:sp>
      <p:sp>
        <p:nvSpPr>
          <p:cNvPr id="75" name="Rectangle 74">
            <a:extLst>
              <a:ext uri="{FF2B5EF4-FFF2-40B4-BE49-F238E27FC236}">
                <a16:creationId xmlns:a16="http://schemas.microsoft.com/office/drawing/2014/main" id="{44DA18F8-1A7C-4D1A-ACBB-D037D703C119}"/>
              </a:ext>
            </a:extLst>
          </p:cNvPr>
          <p:cNvSpPr>
            <a:spLocks noGrp="1"/>
          </p:cNvSpPr>
          <p:nvPr/>
        </p:nvSpPr>
        <p:spPr>
          <a:xfrm>
            <a:off x="9686925" y="5095875"/>
            <a:ext cx="1771650" cy="514350"/>
          </a:xfrm>
          <a:prstGeom prst="rect">
            <a:avLst/>
          </a:prstGeom>
          <a:noFill/>
          <a:ln w="0">
            <a:noFill/>
            <a:prstDash val="solid"/>
          </a:ln>
        </p:spPr>
        <p:txBody>
          <a:bodyPr anchor="ctr"/>
          <a:lstStyle/>
          <a:p>
            <a:pPr algn="ctr">
              <a:defRPr sz="1275" b="0">
                <a:solidFill>
                  <a:srgbClr val="183544"/>
                </a:solidFill>
              </a:defRPr>
            </a:pPr>
            <a:r>
              <a:rPr sz="1275" b="0">
                <a:solidFill>
                  <a:srgbClr val="183544"/>
                </a:solidFill>
              </a:rPr>
              <a:t>—</a:t>
            </a:r>
          </a:p>
        </p:txBody>
      </p:sp>
      <p:sp>
        <p:nvSpPr>
          <p:cNvPr id="76" name="Rounded Rectangle 75">
            <a:extLst>
              <a:ext uri="{FF2B5EF4-FFF2-40B4-BE49-F238E27FC236}">
                <a16:creationId xmlns:a16="http://schemas.microsoft.com/office/drawing/2014/main" id="{C2B92CE3-882E-41DC-872E-88FD9A9CF085}"/>
              </a:ext>
            </a:extLst>
          </p:cNvPr>
          <p:cNvSpPr>
            <a:spLocks noGrp="1"/>
          </p:cNvSpPr>
          <p:nvPr/>
        </p:nvSpPr>
        <p:spPr>
          <a:xfrm>
            <a:off x="1809750" y="5619750"/>
            <a:ext cx="8572500" cy="552450"/>
          </a:xfrm>
          <a:prstGeom prst="roundRect">
            <a:avLst>
              <a:gd name="adj" fmla="val 13793"/>
            </a:avLst>
          </a:prstGeom>
          <a:solidFill>
            <a:srgbClr val="F9E8E6"/>
          </a:solidFill>
          <a:ln w="0">
            <a:solidFill>
              <a:srgbClr val="F9E8E6"/>
            </a:solidFill>
            <a:prstDash val="solid"/>
          </a:ln>
        </p:spPr>
        <p:txBody>
          <a:bodyPr/>
          <a:lstStyle/>
          <a:p>
            <a:endParaRPr lang="en-IQ"/>
          </a:p>
        </p:txBody>
      </p:sp>
      <p:sp>
        <p:nvSpPr>
          <p:cNvPr id="77" name="Rectangle 76">
            <a:extLst>
              <a:ext uri="{FF2B5EF4-FFF2-40B4-BE49-F238E27FC236}">
                <a16:creationId xmlns:a16="http://schemas.microsoft.com/office/drawing/2014/main" id="{35FE251A-E54B-4675-A50F-536B80276E91}"/>
              </a:ext>
            </a:extLst>
          </p:cNvPr>
          <p:cNvSpPr>
            <a:spLocks noGrp="1"/>
          </p:cNvSpPr>
          <p:nvPr/>
        </p:nvSpPr>
        <p:spPr>
          <a:xfrm>
            <a:off x="2000250" y="5695950"/>
            <a:ext cx="8191500" cy="400050"/>
          </a:xfrm>
          <a:prstGeom prst="rect">
            <a:avLst/>
          </a:prstGeom>
          <a:noFill/>
          <a:ln w="0">
            <a:noFill/>
            <a:prstDash val="solid"/>
          </a:ln>
        </p:spPr>
        <p:txBody>
          <a:bodyPr anchor="ctr"/>
          <a:lstStyle/>
          <a:p>
            <a:pPr algn="ctr">
              <a:defRPr sz="1500" b="1">
                <a:solidFill>
                  <a:srgbClr val="D95D5D"/>
                </a:solidFill>
              </a:defRPr>
            </a:pPr>
            <a:r>
              <a:rPr sz="1500" b="1">
                <a:solidFill>
                  <a:srgbClr val="D95D5D"/>
                </a:solidFill>
              </a:rPr>
              <a:t>No feasible solution after six evaluations is a valid experimental outcome.</a:t>
            </a:r>
          </a:p>
        </p:txBody>
      </p:sp>
    </p:spTree>
    <p:extLst>
      <p:ext uri="{BB962C8B-B14F-4D97-AF65-F5344CB8AC3E}">
        <p14:creationId xmlns:p14="http://schemas.microsoft.com/office/powerpoint/2010/main" val="1679662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60" name="Rectangle 59">
            <a:extLst>
              <a:ext uri="{FF2B5EF4-FFF2-40B4-BE49-F238E27FC236}">
                <a16:creationId xmlns:a16="http://schemas.microsoft.com/office/drawing/2014/main" id="{0211648B-85C8-4474-AB32-39649A77BC00}"/>
              </a:ext>
            </a:extLst>
          </p:cNvPr>
          <p:cNvSpPr>
            <a:spLocks noGrp="1"/>
          </p:cNvSpPr>
          <p:nvPr/>
        </p:nvSpPr>
        <p:spPr>
          <a:xfrm>
            <a:off x="609600" y="285750"/>
            <a:ext cx="64770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HAND TRACE • PART 2</a:t>
            </a:r>
          </a:p>
        </p:txBody>
      </p:sp>
      <p:sp>
        <p:nvSpPr>
          <p:cNvPr id="2" name="Rectangle 1">
            <a:extLst>
              <a:ext uri="{FF2B5EF4-FFF2-40B4-BE49-F238E27FC236}">
                <a16:creationId xmlns:a16="http://schemas.microsoft.com/office/drawing/2014/main" id="{0F537536-7889-465D-AE45-CF36154F3068}"/>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Evaluation 10 improves the first feasible solution</a:t>
            </a:r>
          </a:p>
        </p:txBody>
      </p:sp>
      <p:sp>
        <p:nvSpPr>
          <p:cNvPr id="3" name="Rectangle 2">
            <a:extLst>
              <a:ext uri="{FF2B5EF4-FFF2-40B4-BE49-F238E27FC236}">
                <a16:creationId xmlns:a16="http://schemas.microsoft.com/office/drawing/2014/main" id="{F97D41BC-5713-4680-8664-49BDB28BCE8B}"/>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720EF4F6-D895-4999-8884-0AC4511411D9}"/>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2</a:t>
            </a:r>
          </a:p>
        </p:txBody>
      </p:sp>
      <p:sp>
        <p:nvSpPr>
          <p:cNvPr id="5" name="Rectangle 4">
            <a:extLst>
              <a:ext uri="{FF2B5EF4-FFF2-40B4-BE49-F238E27FC236}">
                <a16:creationId xmlns:a16="http://schemas.microsoft.com/office/drawing/2014/main" id="{286A0052-BAD3-4DAA-89AF-9AB1E9FA247C}"/>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18</a:t>
            </a:r>
          </a:p>
        </p:txBody>
      </p:sp>
      <p:sp>
        <p:nvSpPr>
          <p:cNvPr id="6" name="Rectangle 5">
            <a:extLst>
              <a:ext uri="{FF2B5EF4-FFF2-40B4-BE49-F238E27FC236}">
                <a16:creationId xmlns:a16="http://schemas.microsoft.com/office/drawing/2014/main" id="{0E9F6DA8-F0FB-4D9D-BC83-5603FA0F72B8}"/>
              </a:ext>
            </a:extLst>
          </p:cNvPr>
          <p:cNvSpPr>
            <a:spLocks noGrp="1"/>
          </p:cNvSpPr>
          <p:nvPr/>
        </p:nvSpPr>
        <p:spPr>
          <a:xfrm>
            <a:off x="666750" y="1809750"/>
            <a:ext cx="857250" cy="533400"/>
          </a:xfrm>
          <a:prstGeom prst="rect">
            <a:avLst/>
          </a:prstGeom>
          <a:solidFill>
            <a:srgbClr val="092A3D"/>
          </a:solidFill>
          <a:ln w="0">
            <a:solidFill>
              <a:srgbClr val="092A3D"/>
            </a:solidFill>
            <a:prstDash val="solid"/>
          </a:ln>
        </p:spPr>
        <p:txBody>
          <a:bodyPr/>
          <a:lstStyle/>
          <a:p>
            <a:endParaRPr lang="en-IQ"/>
          </a:p>
        </p:txBody>
      </p:sp>
      <p:sp>
        <p:nvSpPr>
          <p:cNvPr id="7" name="Rectangle 6">
            <a:extLst>
              <a:ext uri="{FF2B5EF4-FFF2-40B4-BE49-F238E27FC236}">
                <a16:creationId xmlns:a16="http://schemas.microsoft.com/office/drawing/2014/main" id="{79E5B3EB-192D-4DCC-A9BF-1D0AF829B644}"/>
              </a:ext>
            </a:extLst>
          </p:cNvPr>
          <p:cNvSpPr>
            <a:spLocks noGrp="1"/>
          </p:cNvSpPr>
          <p:nvPr/>
        </p:nvSpPr>
        <p:spPr>
          <a:xfrm>
            <a:off x="733425" y="1866900"/>
            <a:ext cx="723900" cy="419100"/>
          </a:xfrm>
          <a:prstGeom prst="rect">
            <a:avLst/>
          </a:prstGeom>
          <a:noFill/>
          <a:ln w="0">
            <a:noFill/>
            <a:prstDash val="solid"/>
          </a:ln>
        </p:spPr>
        <p:txBody>
          <a:bodyPr anchor="ctr"/>
          <a:lstStyle/>
          <a:p>
            <a:pPr algn="ctr">
              <a:defRPr sz="1350" b="1">
                <a:solidFill>
                  <a:srgbClr val="FFFFFF"/>
                </a:solidFill>
              </a:defRPr>
            </a:pPr>
            <a:r>
              <a:rPr sz="1350" b="1">
                <a:solidFill>
                  <a:srgbClr val="FFFFFF"/>
                </a:solidFill>
              </a:rPr>
              <a:t>Eval.</a:t>
            </a:r>
          </a:p>
        </p:txBody>
      </p:sp>
      <p:sp>
        <p:nvSpPr>
          <p:cNvPr id="8" name="Rectangle 7">
            <a:extLst>
              <a:ext uri="{FF2B5EF4-FFF2-40B4-BE49-F238E27FC236}">
                <a16:creationId xmlns:a16="http://schemas.microsoft.com/office/drawing/2014/main" id="{A21CFAF5-F13D-4BFF-9D56-45EABB6279D3}"/>
              </a:ext>
            </a:extLst>
          </p:cNvPr>
          <p:cNvSpPr>
            <a:spLocks noGrp="1"/>
          </p:cNvSpPr>
          <p:nvPr/>
        </p:nvSpPr>
        <p:spPr>
          <a:xfrm>
            <a:off x="1524000" y="1809750"/>
            <a:ext cx="4953000" cy="533400"/>
          </a:xfrm>
          <a:prstGeom prst="rect">
            <a:avLst/>
          </a:prstGeom>
          <a:solidFill>
            <a:srgbClr val="092A3D"/>
          </a:solidFill>
          <a:ln w="0">
            <a:solidFill>
              <a:srgbClr val="092A3D"/>
            </a:solidFill>
            <a:prstDash val="solid"/>
          </a:ln>
        </p:spPr>
        <p:txBody>
          <a:bodyPr/>
          <a:lstStyle/>
          <a:p>
            <a:endParaRPr lang="en-IQ"/>
          </a:p>
        </p:txBody>
      </p:sp>
      <p:sp>
        <p:nvSpPr>
          <p:cNvPr id="9" name="Rectangle 8">
            <a:extLst>
              <a:ext uri="{FF2B5EF4-FFF2-40B4-BE49-F238E27FC236}">
                <a16:creationId xmlns:a16="http://schemas.microsoft.com/office/drawing/2014/main" id="{39322C5A-6E89-41FC-839D-1D03F018EDAF}"/>
              </a:ext>
            </a:extLst>
          </p:cNvPr>
          <p:cNvSpPr>
            <a:spLocks noGrp="1"/>
          </p:cNvSpPr>
          <p:nvPr/>
        </p:nvSpPr>
        <p:spPr>
          <a:xfrm>
            <a:off x="1590675" y="1866900"/>
            <a:ext cx="4819650" cy="419100"/>
          </a:xfrm>
          <a:prstGeom prst="rect">
            <a:avLst/>
          </a:prstGeom>
          <a:noFill/>
          <a:ln w="0">
            <a:noFill/>
            <a:prstDash val="solid"/>
          </a:ln>
        </p:spPr>
        <p:txBody>
          <a:bodyPr anchor="ctr"/>
          <a:lstStyle/>
          <a:p>
            <a:pPr algn="ctr">
              <a:defRPr sz="1350" b="1">
                <a:solidFill>
                  <a:srgbClr val="FFFFFF"/>
                </a:solidFill>
              </a:defRPr>
            </a:pPr>
            <a:r>
              <a:rPr sz="1350" b="1">
                <a:solidFill>
                  <a:srgbClr val="FFFFFF"/>
                </a:solidFill>
              </a:rPr>
              <a:t>Candidate assignment</a:t>
            </a:r>
          </a:p>
        </p:txBody>
      </p:sp>
      <p:sp>
        <p:nvSpPr>
          <p:cNvPr id="10" name="Rectangle 9">
            <a:extLst>
              <a:ext uri="{FF2B5EF4-FFF2-40B4-BE49-F238E27FC236}">
                <a16:creationId xmlns:a16="http://schemas.microsoft.com/office/drawing/2014/main" id="{C7AC9409-A53B-4FB0-A8E8-F611AE59EFB0}"/>
              </a:ext>
            </a:extLst>
          </p:cNvPr>
          <p:cNvSpPr>
            <a:spLocks noGrp="1"/>
          </p:cNvSpPr>
          <p:nvPr/>
        </p:nvSpPr>
        <p:spPr>
          <a:xfrm>
            <a:off x="6477000" y="1809750"/>
            <a:ext cx="1428750" cy="533400"/>
          </a:xfrm>
          <a:prstGeom prst="rect">
            <a:avLst/>
          </a:prstGeom>
          <a:solidFill>
            <a:srgbClr val="092A3D"/>
          </a:solidFill>
          <a:ln w="0">
            <a:solidFill>
              <a:srgbClr val="092A3D"/>
            </a:solidFill>
            <a:prstDash val="solid"/>
          </a:ln>
        </p:spPr>
        <p:txBody>
          <a:bodyPr/>
          <a:lstStyle/>
          <a:p>
            <a:endParaRPr lang="en-IQ"/>
          </a:p>
        </p:txBody>
      </p:sp>
      <p:sp>
        <p:nvSpPr>
          <p:cNvPr id="11" name="Rectangle 10">
            <a:extLst>
              <a:ext uri="{FF2B5EF4-FFF2-40B4-BE49-F238E27FC236}">
                <a16:creationId xmlns:a16="http://schemas.microsoft.com/office/drawing/2014/main" id="{A6A9087C-D297-4DB4-9C05-402FD57928ED}"/>
              </a:ext>
            </a:extLst>
          </p:cNvPr>
          <p:cNvSpPr>
            <a:spLocks noGrp="1"/>
          </p:cNvSpPr>
          <p:nvPr/>
        </p:nvSpPr>
        <p:spPr>
          <a:xfrm>
            <a:off x="6543675" y="1866900"/>
            <a:ext cx="1295400" cy="419100"/>
          </a:xfrm>
          <a:prstGeom prst="rect">
            <a:avLst/>
          </a:prstGeom>
          <a:noFill/>
          <a:ln w="0">
            <a:noFill/>
            <a:prstDash val="solid"/>
          </a:ln>
        </p:spPr>
        <p:txBody>
          <a:bodyPr anchor="ctr"/>
          <a:lstStyle/>
          <a:p>
            <a:pPr algn="ctr">
              <a:defRPr sz="1350" b="1">
                <a:solidFill>
                  <a:srgbClr val="FFFFFF"/>
                </a:solidFill>
              </a:defRPr>
            </a:pPr>
            <a:r>
              <a:rPr sz="1350" b="1">
                <a:solidFill>
                  <a:srgbClr val="FFFFFF"/>
                </a:solidFill>
              </a:rPr>
              <a:t>Feasible?</a:t>
            </a:r>
          </a:p>
        </p:txBody>
      </p:sp>
      <p:sp>
        <p:nvSpPr>
          <p:cNvPr id="12" name="Rectangle 11">
            <a:extLst>
              <a:ext uri="{FF2B5EF4-FFF2-40B4-BE49-F238E27FC236}">
                <a16:creationId xmlns:a16="http://schemas.microsoft.com/office/drawing/2014/main" id="{5531E307-1652-4220-B437-29B04F989441}"/>
              </a:ext>
            </a:extLst>
          </p:cNvPr>
          <p:cNvSpPr>
            <a:spLocks noGrp="1"/>
          </p:cNvSpPr>
          <p:nvPr/>
        </p:nvSpPr>
        <p:spPr>
          <a:xfrm>
            <a:off x="7905750" y="1809750"/>
            <a:ext cx="1714500" cy="533400"/>
          </a:xfrm>
          <a:prstGeom prst="rect">
            <a:avLst/>
          </a:prstGeom>
          <a:solidFill>
            <a:srgbClr val="092A3D"/>
          </a:solidFill>
          <a:ln w="0">
            <a:solidFill>
              <a:srgbClr val="092A3D"/>
            </a:solidFill>
            <a:prstDash val="solid"/>
          </a:ln>
        </p:spPr>
        <p:txBody>
          <a:bodyPr/>
          <a:lstStyle/>
          <a:p>
            <a:endParaRPr lang="en-IQ"/>
          </a:p>
        </p:txBody>
      </p:sp>
      <p:sp>
        <p:nvSpPr>
          <p:cNvPr id="13" name="Rectangle 12">
            <a:extLst>
              <a:ext uri="{FF2B5EF4-FFF2-40B4-BE49-F238E27FC236}">
                <a16:creationId xmlns:a16="http://schemas.microsoft.com/office/drawing/2014/main" id="{34D82C96-14CA-4FFE-9FEC-A4C1B1E3D021}"/>
              </a:ext>
            </a:extLst>
          </p:cNvPr>
          <p:cNvSpPr>
            <a:spLocks noGrp="1"/>
          </p:cNvSpPr>
          <p:nvPr/>
        </p:nvSpPr>
        <p:spPr>
          <a:xfrm>
            <a:off x="7972425" y="1866900"/>
            <a:ext cx="1581150" cy="419100"/>
          </a:xfrm>
          <a:prstGeom prst="rect">
            <a:avLst/>
          </a:prstGeom>
          <a:noFill/>
          <a:ln w="0">
            <a:noFill/>
            <a:prstDash val="solid"/>
          </a:ln>
        </p:spPr>
        <p:txBody>
          <a:bodyPr anchor="ctr"/>
          <a:lstStyle/>
          <a:p>
            <a:pPr algn="ctr">
              <a:defRPr sz="1350" b="1">
                <a:solidFill>
                  <a:srgbClr val="FFFFFF"/>
                </a:solidFill>
              </a:defRPr>
            </a:pPr>
            <a:r>
              <a:rPr sz="1350" b="1">
                <a:solidFill>
                  <a:srgbClr val="FFFFFF"/>
                </a:solidFill>
              </a:rPr>
              <a:t>Objective</a:t>
            </a:r>
          </a:p>
        </p:txBody>
      </p:sp>
      <p:sp>
        <p:nvSpPr>
          <p:cNvPr id="14" name="Rectangle 13">
            <a:extLst>
              <a:ext uri="{FF2B5EF4-FFF2-40B4-BE49-F238E27FC236}">
                <a16:creationId xmlns:a16="http://schemas.microsoft.com/office/drawing/2014/main" id="{A69CFCEB-8685-4E10-8F89-C0BEB33C7140}"/>
              </a:ext>
            </a:extLst>
          </p:cNvPr>
          <p:cNvSpPr>
            <a:spLocks noGrp="1"/>
          </p:cNvSpPr>
          <p:nvPr/>
        </p:nvSpPr>
        <p:spPr>
          <a:xfrm>
            <a:off x="9620250" y="1809750"/>
            <a:ext cx="1905000" cy="533400"/>
          </a:xfrm>
          <a:prstGeom prst="rect">
            <a:avLst/>
          </a:prstGeom>
          <a:solidFill>
            <a:srgbClr val="092A3D"/>
          </a:solidFill>
          <a:ln w="0">
            <a:solidFill>
              <a:srgbClr val="092A3D"/>
            </a:solidFill>
            <a:prstDash val="solid"/>
          </a:ln>
        </p:spPr>
        <p:txBody>
          <a:bodyPr/>
          <a:lstStyle/>
          <a:p>
            <a:endParaRPr lang="en-IQ"/>
          </a:p>
        </p:txBody>
      </p:sp>
      <p:sp>
        <p:nvSpPr>
          <p:cNvPr id="15" name="Rectangle 14">
            <a:extLst>
              <a:ext uri="{FF2B5EF4-FFF2-40B4-BE49-F238E27FC236}">
                <a16:creationId xmlns:a16="http://schemas.microsoft.com/office/drawing/2014/main" id="{EB153B89-51D3-418D-9283-21205BD95A69}"/>
              </a:ext>
            </a:extLst>
          </p:cNvPr>
          <p:cNvSpPr>
            <a:spLocks noGrp="1"/>
          </p:cNvSpPr>
          <p:nvPr/>
        </p:nvSpPr>
        <p:spPr>
          <a:xfrm>
            <a:off x="9686925" y="1866900"/>
            <a:ext cx="1771650" cy="419100"/>
          </a:xfrm>
          <a:prstGeom prst="rect">
            <a:avLst/>
          </a:prstGeom>
          <a:noFill/>
          <a:ln w="0">
            <a:noFill/>
            <a:prstDash val="solid"/>
          </a:ln>
        </p:spPr>
        <p:txBody>
          <a:bodyPr anchor="ctr"/>
          <a:lstStyle/>
          <a:p>
            <a:pPr algn="ctr">
              <a:defRPr sz="1350" b="1">
                <a:solidFill>
                  <a:srgbClr val="FFFFFF"/>
                </a:solidFill>
              </a:defRPr>
            </a:pPr>
            <a:r>
              <a:rPr sz="1350" b="1">
                <a:solidFill>
                  <a:srgbClr val="FFFFFF"/>
                </a:solidFill>
              </a:rPr>
              <a:t>Best-so-far</a:t>
            </a:r>
          </a:p>
        </p:txBody>
      </p:sp>
      <p:sp>
        <p:nvSpPr>
          <p:cNvPr id="16" name="Rectangle 15">
            <a:extLst>
              <a:ext uri="{FF2B5EF4-FFF2-40B4-BE49-F238E27FC236}">
                <a16:creationId xmlns:a16="http://schemas.microsoft.com/office/drawing/2014/main" id="{C76B3E51-9277-4C89-90D1-59B7B34DF266}"/>
              </a:ext>
            </a:extLst>
          </p:cNvPr>
          <p:cNvSpPr>
            <a:spLocks noGrp="1"/>
          </p:cNvSpPr>
          <p:nvPr/>
        </p:nvSpPr>
        <p:spPr>
          <a:xfrm>
            <a:off x="666750" y="2343150"/>
            <a:ext cx="857250" cy="704850"/>
          </a:xfrm>
          <a:prstGeom prst="rect">
            <a:avLst/>
          </a:prstGeom>
          <a:solidFill>
            <a:srgbClr val="E9EEEC"/>
          </a:solidFill>
          <a:ln w="9525">
            <a:solidFill>
              <a:srgbClr val="CED9DB"/>
            </a:solidFill>
            <a:prstDash val="solid"/>
          </a:ln>
        </p:spPr>
        <p:txBody>
          <a:bodyPr/>
          <a:lstStyle/>
          <a:p>
            <a:endParaRPr lang="en-IQ"/>
          </a:p>
        </p:txBody>
      </p:sp>
      <p:sp>
        <p:nvSpPr>
          <p:cNvPr id="17" name="Rectangle 16">
            <a:extLst>
              <a:ext uri="{FF2B5EF4-FFF2-40B4-BE49-F238E27FC236}">
                <a16:creationId xmlns:a16="http://schemas.microsoft.com/office/drawing/2014/main" id="{9F7997AC-30CC-4260-B892-B7CB1ADA4614}"/>
              </a:ext>
            </a:extLst>
          </p:cNvPr>
          <p:cNvSpPr>
            <a:spLocks noGrp="1"/>
          </p:cNvSpPr>
          <p:nvPr/>
        </p:nvSpPr>
        <p:spPr>
          <a:xfrm>
            <a:off x="733425" y="2381250"/>
            <a:ext cx="723900" cy="628650"/>
          </a:xfrm>
          <a:prstGeom prst="rect">
            <a:avLst/>
          </a:prstGeom>
          <a:noFill/>
          <a:ln w="0">
            <a:noFill/>
            <a:prstDash val="solid"/>
          </a:ln>
        </p:spPr>
        <p:txBody>
          <a:bodyPr anchor="ctr"/>
          <a:lstStyle/>
          <a:p>
            <a:pPr algn="ctr">
              <a:defRPr sz="1350" b="1">
                <a:solidFill>
                  <a:srgbClr val="0B9B91"/>
                </a:solidFill>
              </a:defRPr>
            </a:pPr>
            <a:r>
              <a:rPr sz="1350" b="1">
                <a:solidFill>
                  <a:srgbClr val="0B9B91"/>
                </a:solidFill>
              </a:rPr>
              <a:t>7</a:t>
            </a:r>
          </a:p>
        </p:txBody>
      </p:sp>
      <p:sp>
        <p:nvSpPr>
          <p:cNvPr id="18" name="Rectangle 17">
            <a:extLst>
              <a:ext uri="{FF2B5EF4-FFF2-40B4-BE49-F238E27FC236}">
                <a16:creationId xmlns:a16="http://schemas.microsoft.com/office/drawing/2014/main" id="{C6494407-94AB-487C-9DB0-1DAE6D58FD08}"/>
              </a:ext>
            </a:extLst>
          </p:cNvPr>
          <p:cNvSpPr>
            <a:spLocks noGrp="1"/>
          </p:cNvSpPr>
          <p:nvPr/>
        </p:nvSpPr>
        <p:spPr>
          <a:xfrm>
            <a:off x="1524000" y="2343150"/>
            <a:ext cx="4953000" cy="704850"/>
          </a:xfrm>
          <a:prstGeom prst="rect">
            <a:avLst/>
          </a:prstGeom>
          <a:solidFill>
            <a:srgbClr val="E9EEEC"/>
          </a:solidFill>
          <a:ln w="9525">
            <a:solidFill>
              <a:srgbClr val="CED9DB"/>
            </a:solidFill>
            <a:prstDash val="solid"/>
          </a:ln>
        </p:spPr>
        <p:txBody>
          <a:bodyPr/>
          <a:lstStyle/>
          <a:p>
            <a:endParaRPr lang="en-IQ"/>
          </a:p>
        </p:txBody>
      </p:sp>
      <p:sp>
        <p:nvSpPr>
          <p:cNvPr id="19" name="Rectangle 18">
            <a:extLst>
              <a:ext uri="{FF2B5EF4-FFF2-40B4-BE49-F238E27FC236}">
                <a16:creationId xmlns:a16="http://schemas.microsoft.com/office/drawing/2014/main" id="{2FBA6A80-4CD9-40F9-B89E-2D60115A2F4B}"/>
              </a:ext>
            </a:extLst>
          </p:cNvPr>
          <p:cNvSpPr>
            <a:spLocks noGrp="1"/>
          </p:cNvSpPr>
          <p:nvPr/>
        </p:nvSpPr>
        <p:spPr>
          <a:xfrm>
            <a:off x="1590675" y="2381250"/>
            <a:ext cx="4819650" cy="6286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[2,0,2,0,1,3,3,3]</a:t>
            </a:r>
          </a:p>
        </p:txBody>
      </p:sp>
      <p:sp>
        <p:nvSpPr>
          <p:cNvPr id="20" name="Rectangle 19">
            <a:extLst>
              <a:ext uri="{FF2B5EF4-FFF2-40B4-BE49-F238E27FC236}">
                <a16:creationId xmlns:a16="http://schemas.microsoft.com/office/drawing/2014/main" id="{B0460FE9-1C31-471C-9013-A0AC8065FA65}"/>
              </a:ext>
            </a:extLst>
          </p:cNvPr>
          <p:cNvSpPr>
            <a:spLocks noGrp="1"/>
          </p:cNvSpPr>
          <p:nvPr/>
        </p:nvSpPr>
        <p:spPr>
          <a:xfrm>
            <a:off x="6477000" y="2343150"/>
            <a:ext cx="1428750" cy="704850"/>
          </a:xfrm>
          <a:prstGeom prst="rect">
            <a:avLst/>
          </a:prstGeom>
          <a:solidFill>
            <a:srgbClr val="E9EEEC"/>
          </a:solidFill>
          <a:ln w="9525">
            <a:solidFill>
              <a:srgbClr val="CED9DB"/>
            </a:solidFill>
            <a:prstDash val="solid"/>
          </a:ln>
        </p:spPr>
        <p:txBody>
          <a:bodyPr/>
          <a:lstStyle/>
          <a:p>
            <a:endParaRPr lang="en-IQ"/>
          </a:p>
        </p:txBody>
      </p:sp>
      <p:sp>
        <p:nvSpPr>
          <p:cNvPr id="21" name="Rectangle 20">
            <a:extLst>
              <a:ext uri="{FF2B5EF4-FFF2-40B4-BE49-F238E27FC236}">
                <a16:creationId xmlns:a16="http://schemas.microsoft.com/office/drawing/2014/main" id="{0E1EFFAB-7172-4805-A8E8-FE8B027C872C}"/>
              </a:ext>
            </a:extLst>
          </p:cNvPr>
          <p:cNvSpPr>
            <a:spLocks noGrp="1"/>
          </p:cNvSpPr>
          <p:nvPr/>
        </p:nvSpPr>
        <p:spPr>
          <a:xfrm>
            <a:off x="6543675" y="2381250"/>
            <a:ext cx="1295400" cy="6286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yes</a:t>
            </a:r>
          </a:p>
        </p:txBody>
      </p:sp>
      <p:sp>
        <p:nvSpPr>
          <p:cNvPr id="22" name="Rectangle 21">
            <a:extLst>
              <a:ext uri="{FF2B5EF4-FFF2-40B4-BE49-F238E27FC236}">
                <a16:creationId xmlns:a16="http://schemas.microsoft.com/office/drawing/2014/main" id="{74E7D717-C394-4E53-8459-271E6ED4FC37}"/>
              </a:ext>
            </a:extLst>
          </p:cNvPr>
          <p:cNvSpPr>
            <a:spLocks noGrp="1"/>
          </p:cNvSpPr>
          <p:nvPr/>
        </p:nvSpPr>
        <p:spPr>
          <a:xfrm>
            <a:off x="7905750" y="2343150"/>
            <a:ext cx="1714500" cy="704850"/>
          </a:xfrm>
          <a:prstGeom prst="rect">
            <a:avLst/>
          </a:prstGeom>
          <a:solidFill>
            <a:srgbClr val="E9EEEC"/>
          </a:solidFill>
          <a:ln w="9525">
            <a:solidFill>
              <a:srgbClr val="CED9DB"/>
            </a:solidFill>
            <a:prstDash val="solid"/>
          </a:ln>
        </p:spPr>
        <p:txBody>
          <a:bodyPr/>
          <a:lstStyle/>
          <a:p>
            <a:endParaRPr lang="en-IQ"/>
          </a:p>
        </p:txBody>
      </p:sp>
      <p:sp>
        <p:nvSpPr>
          <p:cNvPr id="23" name="Rectangle 22">
            <a:extLst>
              <a:ext uri="{FF2B5EF4-FFF2-40B4-BE49-F238E27FC236}">
                <a16:creationId xmlns:a16="http://schemas.microsoft.com/office/drawing/2014/main" id="{EC232EB0-6555-442D-A46E-1131A4A0EE7D}"/>
              </a:ext>
            </a:extLst>
          </p:cNvPr>
          <p:cNvSpPr>
            <a:spLocks noGrp="1"/>
          </p:cNvSpPr>
          <p:nvPr/>
        </p:nvSpPr>
        <p:spPr>
          <a:xfrm>
            <a:off x="7972425" y="2381250"/>
            <a:ext cx="1581150" cy="6286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75</a:t>
            </a:r>
          </a:p>
        </p:txBody>
      </p:sp>
      <p:sp>
        <p:nvSpPr>
          <p:cNvPr id="24" name="Rectangle 23">
            <a:extLst>
              <a:ext uri="{FF2B5EF4-FFF2-40B4-BE49-F238E27FC236}">
                <a16:creationId xmlns:a16="http://schemas.microsoft.com/office/drawing/2014/main" id="{8B55F896-3AE5-42AF-B6B3-72254A6BBE43}"/>
              </a:ext>
            </a:extLst>
          </p:cNvPr>
          <p:cNvSpPr>
            <a:spLocks noGrp="1"/>
          </p:cNvSpPr>
          <p:nvPr/>
        </p:nvSpPr>
        <p:spPr>
          <a:xfrm>
            <a:off x="9620250" y="2343150"/>
            <a:ext cx="1905000" cy="704850"/>
          </a:xfrm>
          <a:prstGeom prst="rect">
            <a:avLst/>
          </a:prstGeom>
          <a:solidFill>
            <a:srgbClr val="E9EEEC"/>
          </a:solidFill>
          <a:ln w="9525">
            <a:solidFill>
              <a:srgbClr val="CED9DB"/>
            </a:solidFill>
            <a:prstDash val="solid"/>
          </a:ln>
        </p:spPr>
        <p:txBody>
          <a:bodyPr/>
          <a:lstStyle/>
          <a:p>
            <a:endParaRPr lang="en-IQ"/>
          </a:p>
        </p:txBody>
      </p:sp>
      <p:sp>
        <p:nvSpPr>
          <p:cNvPr id="25" name="Rectangle 24">
            <a:extLst>
              <a:ext uri="{FF2B5EF4-FFF2-40B4-BE49-F238E27FC236}">
                <a16:creationId xmlns:a16="http://schemas.microsoft.com/office/drawing/2014/main" id="{66FBF029-5ABA-47C9-9855-5224D0FEA663}"/>
              </a:ext>
            </a:extLst>
          </p:cNvPr>
          <p:cNvSpPr>
            <a:spLocks noGrp="1"/>
          </p:cNvSpPr>
          <p:nvPr/>
        </p:nvSpPr>
        <p:spPr>
          <a:xfrm>
            <a:off x="9686925" y="2381250"/>
            <a:ext cx="1771650" cy="6286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75</a:t>
            </a:r>
          </a:p>
        </p:txBody>
      </p:sp>
      <p:sp>
        <p:nvSpPr>
          <p:cNvPr id="26" name="Rectangle 25">
            <a:extLst>
              <a:ext uri="{FF2B5EF4-FFF2-40B4-BE49-F238E27FC236}">
                <a16:creationId xmlns:a16="http://schemas.microsoft.com/office/drawing/2014/main" id="{EB04FF3A-5835-4B43-A1BE-90F7235CEFEF}"/>
              </a:ext>
            </a:extLst>
          </p:cNvPr>
          <p:cNvSpPr>
            <a:spLocks noGrp="1"/>
          </p:cNvSpPr>
          <p:nvPr/>
        </p:nvSpPr>
        <p:spPr>
          <a:xfrm>
            <a:off x="666750" y="3048000"/>
            <a:ext cx="857250" cy="704850"/>
          </a:xfrm>
          <a:prstGeom prst="rect">
            <a:avLst/>
          </a:prstGeom>
          <a:solidFill>
            <a:srgbClr val="FFFFFF"/>
          </a:solidFill>
          <a:ln w="9525">
            <a:solidFill>
              <a:srgbClr val="CED9DB"/>
            </a:solidFill>
            <a:prstDash val="solid"/>
          </a:ln>
        </p:spPr>
        <p:txBody>
          <a:bodyPr/>
          <a:lstStyle/>
          <a:p>
            <a:endParaRPr lang="en-IQ"/>
          </a:p>
        </p:txBody>
      </p:sp>
      <p:sp>
        <p:nvSpPr>
          <p:cNvPr id="27" name="Rectangle 26">
            <a:extLst>
              <a:ext uri="{FF2B5EF4-FFF2-40B4-BE49-F238E27FC236}">
                <a16:creationId xmlns:a16="http://schemas.microsoft.com/office/drawing/2014/main" id="{5EA82433-645E-4F62-A2ED-5B5EC83C23AC}"/>
              </a:ext>
            </a:extLst>
          </p:cNvPr>
          <p:cNvSpPr>
            <a:spLocks noGrp="1"/>
          </p:cNvSpPr>
          <p:nvPr/>
        </p:nvSpPr>
        <p:spPr>
          <a:xfrm>
            <a:off x="733425" y="3086100"/>
            <a:ext cx="723900" cy="628650"/>
          </a:xfrm>
          <a:prstGeom prst="rect">
            <a:avLst/>
          </a:prstGeom>
          <a:noFill/>
          <a:ln w="0">
            <a:noFill/>
            <a:prstDash val="solid"/>
          </a:ln>
        </p:spPr>
        <p:txBody>
          <a:bodyPr anchor="ctr"/>
          <a:lstStyle/>
          <a:p>
            <a:pPr algn="ctr">
              <a:defRPr sz="1350" b="1">
                <a:solidFill>
                  <a:srgbClr val="0B9B91"/>
                </a:solidFill>
              </a:defRPr>
            </a:pPr>
            <a:r>
              <a:rPr sz="1350" b="1">
                <a:solidFill>
                  <a:srgbClr val="0B9B91"/>
                </a:solidFill>
              </a:rPr>
              <a:t>8</a:t>
            </a:r>
          </a:p>
        </p:txBody>
      </p:sp>
      <p:sp>
        <p:nvSpPr>
          <p:cNvPr id="28" name="Rectangle 27">
            <a:extLst>
              <a:ext uri="{FF2B5EF4-FFF2-40B4-BE49-F238E27FC236}">
                <a16:creationId xmlns:a16="http://schemas.microsoft.com/office/drawing/2014/main" id="{6C8C0629-8FA6-4509-8E28-FF303B2F622B}"/>
              </a:ext>
            </a:extLst>
          </p:cNvPr>
          <p:cNvSpPr>
            <a:spLocks noGrp="1"/>
          </p:cNvSpPr>
          <p:nvPr/>
        </p:nvSpPr>
        <p:spPr>
          <a:xfrm>
            <a:off x="1524000" y="3048000"/>
            <a:ext cx="4953000" cy="704850"/>
          </a:xfrm>
          <a:prstGeom prst="rect">
            <a:avLst/>
          </a:prstGeom>
          <a:solidFill>
            <a:srgbClr val="FFFFFF"/>
          </a:solidFill>
          <a:ln w="9525">
            <a:solidFill>
              <a:srgbClr val="CED9DB"/>
            </a:solidFill>
            <a:prstDash val="solid"/>
          </a:ln>
        </p:spPr>
        <p:txBody>
          <a:bodyPr/>
          <a:lstStyle/>
          <a:p>
            <a:endParaRPr lang="en-IQ"/>
          </a:p>
        </p:txBody>
      </p:sp>
      <p:sp>
        <p:nvSpPr>
          <p:cNvPr id="29" name="Rectangle 28">
            <a:extLst>
              <a:ext uri="{FF2B5EF4-FFF2-40B4-BE49-F238E27FC236}">
                <a16:creationId xmlns:a16="http://schemas.microsoft.com/office/drawing/2014/main" id="{53BA27BF-0318-40D9-AA25-C5F4F7224E51}"/>
              </a:ext>
            </a:extLst>
          </p:cNvPr>
          <p:cNvSpPr>
            <a:spLocks noGrp="1"/>
          </p:cNvSpPr>
          <p:nvPr/>
        </p:nvSpPr>
        <p:spPr>
          <a:xfrm>
            <a:off x="1590675" y="3086100"/>
            <a:ext cx="4819650" cy="6286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[1,3,1,1,3,3,0,2]</a:t>
            </a:r>
          </a:p>
        </p:txBody>
      </p:sp>
      <p:sp>
        <p:nvSpPr>
          <p:cNvPr id="30" name="Rectangle 29">
            <a:extLst>
              <a:ext uri="{FF2B5EF4-FFF2-40B4-BE49-F238E27FC236}">
                <a16:creationId xmlns:a16="http://schemas.microsoft.com/office/drawing/2014/main" id="{758C8A05-34AE-4BBA-8413-BC7DCB2D853A}"/>
              </a:ext>
            </a:extLst>
          </p:cNvPr>
          <p:cNvSpPr>
            <a:spLocks noGrp="1"/>
          </p:cNvSpPr>
          <p:nvPr/>
        </p:nvSpPr>
        <p:spPr>
          <a:xfrm>
            <a:off x="6477000" y="3048000"/>
            <a:ext cx="1428750" cy="704850"/>
          </a:xfrm>
          <a:prstGeom prst="rect">
            <a:avLst/>
          </a:prstGeom>
          <a:solidFill>
            <a:srgbClr val="FFFFFF"/>
          </a:solidFill>
          <a:ln w="9525">
            <a:solidFill>
              <a:srgbClr val="CED9DB"/>
            </a:solidFill>
            <a:prstDash val="solid"/>
          </a:ln>
        </p:spPr>
        <p:txBody>
          <a:bodyPr/>
          <a:lstStyle/>
          <a:p>
            <a:endParaRPr lang="en-IQ"/>
          </a:p>
        </p:txBody>
      </p:sp>
      <p:sp>
        <p:nvSpPr>
          <p:cNvPr id="31" name="Rectangle 30">
            <a:extLst>
              <a:ext uri="{FF2B5EF4-FFF2-40B4-BE49-F238E27FC236}">
                <a16:creationId xmlns:a16="http://schemas.microsoft.com/office/drawing/2014/main" id="{1349EF8C-327D-43D6-BC55-EB53ADD8330B}"/>
              </a:ext>
            </a:extLst>
          </p:cNvPr>
          <p:cNvSpPr>
            <a:spLocks noGrp="1"/>
          </p:cNvSpPr>
          <p:nvPr/>
        </p:nvSpPr>
        <p:spPr>
          <a:xfrm>
            <a:off x="6543675" y="3086100"/>
            <a:ext cx="1295400" cy="6286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no</a:t>
            </a:r>
          </a:p>
        </p:txBody>
      </p:sp>
      <p:sp>
        <p:nvSpPr>
          <p:cNvPr id="32" name="Rectangle 31">
            <a:extLst>
              <a:ext uri="{FF2B5EF4-FFF2-40B4-BE49-F238E27FC236}">
                <a16:creationId xmlns:a16="http://schemas.microsoft.com/office/drawing/2014/main" id="{92ADE557-8D01-4927-B2C9-F22CE7BD9A26}"/>
              </a:ext>
            </a:extLst>
          </p:cNvPr>
          <p:cNvSpPr>
            <a:spLocks noGrp="1"/>
          </p:cNvSpPr>
          <p:nvPr/>
        </p:nvSpPr>
        <p:spPr>
          <a:xfrm>
            <a:off x="7905750" y="3048000"/>
            <a:ext cx="1714500" cy="704850"/>
          </a:xfrm>
          <a:prstGeom prst="rect">
            <a:avLst/>
          </a:prstGeom>
          <a:solidFill>
            <a:srgbClr val="FFFFFF"/>
          </a:solidFill>
          <a:ln w="9525">
            <a:solidFill>
              <a:srgbClr val="CED9DB"/>
            </a:solidFill>
            <a:prstDash val="solid"/>
          </a:ln>
        </p:spPr>
        <p:txBody>
          <a:bodyPr/>
          <a:lstStyle/>
          <a:p>
            <a:endParaRPr lang="en-IQ"/>
          </a:p>
        </p:txBody>
      </p:sp>
      <p:sp>
        <p:nvSpPr>
          <p:cNvPr id="33" name="Rectangle 32">
            <a:extLst>
              <a:ext uri="{FF2B5EF4-FFF2-40B4-BE49-F238E27FC236}">
                <a16:creationId xmlns:a16="http://schemas.microsoft.com/office/drawing/2014/main" id="{3B3B7919-6632-4E30-AD35-E6062BA3B1AA}"/>
              </a:ext>
            </a:extLst>
          </p:cNvPr>
          <p:cNvSpPr>
            <a:spLocks noGrp="1"/>
          </p:cNvSpPr>
          <p:nvPr/>
        </p:nvSpPr>
        <p:spPr>
          <a:xfrm>
            <a:off x="7972425" y="3086100"/>
            <a:ext cx="1581150" cy="6286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a:t>
            </a:r>
          </a:p>
        </p:txBody>
      </p:sp>
      <p:sp>
        <p:nvSpPr>
          <p:cNvPr id="34" name="Rectangle 33">
            <a:extLst>
              <a:ext uri="{FF2B5EF4-FFF2-40B4-BE49-F238E27FC236}">
                <a16:creationId xmlns:a16="http://schemas.microsoft.com/office/drawing/2014/main" id="{B0974D51-B228-40F5-871C-B6C7E73F8593}"/>
              </a:ext>
            </a:extLst>
          </p:cNvPr>
          <p:cNvSpPr>
            <a:spLocks noGrp="1"/>
          </p:cNvSpPr>
          <p:nvPr/>
        </p:nvSpPr>
        <p:spPr>
          <a:xfrm>
            <a:off x="9620250" y="3048000"/>
            <a:ext cx="1905000" cy="704850"/>
          </a:xfrm>
          <a:prstGeom prst="rect">
            <a:avLst/>
          </a:prstGeom>
          <a:solidFill>
            <a:srgbClr val="FFFFFF"/>
          </a:solidFill>
          <a:ln w="9525">
            <a:solidFill>
              <a:srgbClr val="CED9DB"/>
            </a:solidFill>
            <a:prstDash val="solid"/>
          </a:ln>
        </p:spPr>
        <p:txBody>
          <a:bodyPr/>
          <a:lstStyle/>
          <a:p>
            <a:endParaRPr lang="en-IQ"/>
          </a:p>
        </p:txBody>
      </p:sp>
      <p:sp>
        <p:nvSpPr>
          <p:cNvPr id="35" name="Rectangle 34">
            <a:extLst>
              <a:ext uri="{FF2B5EF4-FFF2-40B4-BE49-F238E27FC236}">
                <a16:creationId xmlns:a16="http://schemas.microsoft.com/office/drawing/2014/main" id="{AACE022A-3690-4E6D-97D4-8400FE7A8A11}"/>
              </a:ext>
            </a:extLst>
          </p:cNvPr>
          <p:cNvSpPr>
            <a:spLocks noGrp="1"/>
          </p:cNvSpPr>
          <p:nvPr/>
        </p:nvSpPr>
        <p:spPr>
          <a:xfrm>
            <a:off x="9686925" y="3086100"/>
            <a:ext cx="1771650" cy="6286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75</a:t>
            </a:r>
          </a:p>
        </p:txBody>
      </p:sp>
      <p:sp>
        <p:nvSpPr>
          <p:cNvPr id="36" name="Rectangle 35">
            <a:extLst>
              <a:ext uri="{FF2B5EF4-FFF2-40B4-BE49-F238E27FC236}">
                <a16:creationId xmlns:a16="http://schemas.microsoft.com/office/drawing/2014/main" id="{575D8918-4C96-4F35-B9BB-E2FE3CDF3D00}"/>
              </a:ext>
            </a:extLst>
          </p:cNvPr>
          <p:cNvSpPr>
            <a:spLocks noGrp="1"/>
          </p:cNvSpPr>
          <p:nvPr/>
        </p:nvSpPr>
        <p:spPr>
          <a:xfrm>
            <a:off x="666750" y="3752850"/>
            <a:ext cx="857250" cy="704850"/>
          </a:xfrm>
          <a:prstGeom prst="rect">
            <a:avLst/>
          </a:prstGeom>
          <a:solidFill>
            <a:srgbClr val="E9EEEC"/>
          </a:solidFill>
          <a:ln w="9525">
            <a:solidFill>
              <a:srgbClr val="CED9DB"/>
            </a:solidFill>
            <a:prstDash val="solid"/>
          </a:ln>
        </p:spPr>
        <p:txBody>
          <a:bodyPr/>
          <a:lstStyle/>
          <a:p>
            <a:endParaRPr lang="en-IQ"/>
          </a:p>
        </p:txBody>
      </p:sp>
      <p:sp>
        <p:nvSpPr>
          <p:cNvPr id="37" name="Rectangle 36">
            <a:extLst>
              <a:ext uri="{FF2B5EF4-FFF2-40B4-BE49-F238E27FC236}">
                <a16:creationId xmlns:a16="http://schemas.microsoft.com/office/drawing/2014/main" id="{DA472A89-1BD4-4D61-BFD4-4941D3E8D3CD}"/>
              </a:ext>
            </a:extLst>
          </p:cNvPr>
          <p:cNvSpPr>
            <a:spLocks noGrp="1"/>
          </p:cNvSpPr>
          <p:nvPr/>
        </p:nvSpPr>
        <p:spPr>
          <a:xfrm>
            <a:off x="733425" y="3790950"/>
            <a:ext cx="723900" cy="628650"/>
          </a:xfrm>
          <a:prstGeom prst="rect">
            <a:avLst/>
          </a:prstGeom>
          <a:noFill/>
          <a:ln w="0">
            <a:noFill/>
            <a:prstDash val="solid"/>
          </a:ln>
        </p:spPr>
        <p:txBody>
          <a:bodyPr anchor="ctr"/>
          <a:lstStyle/>
          <a:p>
            <a:pPr algn="ctr">
              <a:defRPr sz="1350" b="1">
                <a:solidFill>
                  <a:srgbClr val="0B9B91"/>
                </a:solidFill>
              </a:defRPr>
            </a:pPr>
            <a:r>
              <a:rPr sz="1350" b="1">
                <a:solidFill>
                  <a:srgbClr val="0B9B91"/>
                </a:solidFill>
              </a:rPr>
              <a:t>9</a:t>
            </a:r>
          </a:p>
        </p:txBody>
      </p:sp>
      <p:sp>
        <p:nvSpPr>
          <p:cNvPr id="38" name="Rectangle 37">
            <a:extLst>
              <a:ext uri="{FF2B5EF4-FFF2-40B4-BE49-F238E27FC236}">
                <a16:creationId xmlns:a16="http://schemas.microsoft.com/office/drawing/2014/main" id="{7918CFEE-88AF-499A-9B9F-69B569CC4348}"/>
              </a:ext>
            </a:extLst>
          </p:cNvPr>
          <p:cNvSpPr>
            <a:spLocks noGrp="1"/>
          </p:cNvSpPr>
          <p:nvPr/>
        </p:nvSpPr>
        <p:spPr>
          <a:xfrm>
            <a:off x="1524000" y="3752850"/>
            <a:ext cx="4953000" cy="704850"/>
          </a:xfrm>
          <a:prstGeom prst="rect">
            <a:avLst/>
          </a:prstGeom>
          <a:solidFill>
            <a:srgbClr val="E9EEEC"/>
          </a:solidFill>
          <a:ln w="9525">
            <a:solidFill>
              <a:srgbClr val="CED9DB"/>
            </a:solidFill>
            <a:prstDash val="solid"/>
          </a:ln>
        </p:spPr>
        <p:txBody>
          <a:bodyPr/>
          <a:lstStyle/>
          <a:p>
            <a:endParaRPr lang="en-IQ"/>
          </a:p>
        </p:txBody>
      </p:sp>
      <p:sp>
        <p:nvSpPr>
          <p:cNvPr id="39" name="Rectangle 38">
            <a:extLst>
              <a:ext uri="{FF2B5EF4-FFF2-40B4-BE49-F238E27FC236}">
                <a16:creationId xmlns:a16="http://schemas.microsoft.com/office/drawing/2014/main" id="{5995AC0B-99D9-463A-A9BE-6412461A15E6}"/>
              </a:ext>
            </a:extLst>
          </p:cNvPr>
          <p:cNvSpPr>
            <a:spLocks noGrp="1"/>
          </p:cNvSpPr>
          <p:nvPr/>
        </p:nvSpPr>
        <p:spPr>
          <a:xfrm>
            <a:off x="1590675" y="3790950"/>
            <a:ext cx="4819650" cy="6286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[2,3,0,2,2,3,2,0]</a:t>
            </a:r>
          </a:p>
        </p:txBody>
      </p:sp>
      <p:sp>
        <p:nvSpPr>
          <p:cNvPr id="40" name="Rectangle 39">
            <a:extLst>
              <a:ext uri="{FF2B5EF4-FFF2-40B4-BE49-F238E27FC236}">
                <a16:creationId xmlns:a16="http://schemas.microsoft.com/office/drawing/2014/main" id="{35A21522-8ED8-4C05-9471-9AA4D273004D}"/>
              </a:ext>
            </a:extLst>
          </p:cNvPr>
          <p:cNvSpPr>
            <a:spLocks noGrp="1"/>
          </p:cNvSpPr>
          <p:nvPr/>
        </p:nvSpPr>
        <p:spPr>
          <a:xfrm>
            <a:off x="6477000" y="3752850"/>
            <a:ext cx="1428750" cy="704850"/>
          </a:xfrm>
          <a:prstGeom prst="rect">
            <a:avLst/>
          </a:prstGeom>
          <a:solidFill>
            <a:srgbClr val="E9EEEC"/>
          </a:solidFill>
          <a:ln w="9525">
            <a:solidFill>
              <a:srgbClr val="CED9DB"/>
            </a:solidFill>
            <a:prstDash val="solid"/>
          </a:ln>
        </p:spPr>
        <p:txBody>
          <a:bodyPr/>
          <a:lstStyle/>
          <a:p>
            <a:endParaRPr lang="en-IQ"/>
          </a:p>
        </p:txBody>
      </p:sp>
      <p:sp>
        <p:nvSpPr>
          <p:cNvPr id="41" name="Rectangle 40">
            <a:extLst>
              <a:ext uri="{FF2B5EF4-FFF2-40B4-BE49-F238E27FC236}">
                <a16:creationId xmlns:a16="http://schemas.microsoft.com/office/drawing/2014/main" id="{4D749D77-DFF1-461B-BC2C-0869FD72942B}"/>
              </a:ext>
            </a:extLst>
          </p:cNvPr>
          <p:cNvSpPr>
            <a:spLocks noGrp="1"/>
          </p:cNvSpPr>
          <p:nvPr/>
        </p:nvSpPr>
        <p:spPr>
          <a:xfrm>
            <a:off x="6543675" y="3790950"/>
            <a:ext cx="1295400" cy="6286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no</a:t>
            </a:r>
          </a:p>
        </p:txBody>
      </p:sp>
      <p:sp>
        <p:nvSpPr>
          <p:cNvPr id="42" name="Rectangle 41">
            <a:extLst>
              <a:ext uri="{FF2B5EF4-FFF2-40B4-BE49-F238E27FC236}">
                <a16:creationId xmlns:a16="http://schemas.microsoft.com/office/drawing/2014/main" id="{B220C8B5-49E0-4592-AD2B-E0ED43E9D3B4}"/>
              </a:ext>
            </a:extLst>
          </p:cNvPr>
          <p:cNvSpPr>
            <a:spLocks noGrp="1"/>
          </p:cNvSpPr>
          <p:nvPr/>
        </p:nvSpPr>
        <p:spPr>
          <a:xfrm>
            <a:off x="7905750" y="3752850"/>
            <a:ext cx="1714500" cy="704850"/>
          </a:xfrm>
          <a:prstGeom prst="rect">
            <a:avLst/>
          </a:prstGeom>
          <a:solidFill>
            <a:srgbClr val="E9EEEC"/>
          </a:solidFill>
          <a:ln w="9525">
            <a:solidFill>
              <a:srgbClr val="CED9DB"/>
            </a:solidFill>
            <a:prstDash val="solid"/>
          </a:ln>
        </p:spPr>
        <p:txBody>
          <a:bodyPr/>
          <a:lstStyle/>
          <a:p>
            <a:endParaRPr lang="en-IQ"/>
          </a:p>
        </p:txBody>
      </p:sp>
      <p:sp>
        <p:nvSpPr>
          <p:cNvPr id="43" name="Rectangle 42">
            <a:extLst>
              <a:ext uri="{FF2B5EF4-FFF2-40B4-BE49-F238E27FC236}">
                <a16:creationId xmlns:a16="http://schemas.microsoft.com/office/drawing/2014/main" id="{59672D5B-0424-4C0B-9FBB-53DAEFB99D60}"/>
              </a:ext>
            </a:extLst>
          </p:cNvPr>
          <p:cNvSpPr>
            <a:spLocks noGrp="1"/>
          </p:cNvSpPr>
          <p:nvPr/>
        </p:nvSpPr>
        <p:spPr>
          <a:xfrm>
            <a:off x="7972425" y="3790950"/>
            <a:ext cx="1581150" cy="6286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a:t>
            </a:r>
          </a:p>
        </p:txBody>
      </p:sp>
      <p:sp>
        <p:nvSpPr>
          <p:cNvPr id="44" name="Rectangle 43">
            <a:extLst>
              <a:ext uri="{FF2B5EF4-FFF2-40B4-BE49-F238E27FC236}">
                <a16:creationId xmlns:a16="http://schemas.microsoft.com/office/drawing/2014/main" id="{3560F9FB-73CB-4CE7-A3CB-674E0F3B63E9}"/>
              </a:ext>
            </a:extLst>
          </p:cNvPr>
          <p:cNvSpPr>
            <a:spLocks noGrp="1"/>
          </p:cNvSpPr>
          <p:nvPr/>
        </p:nvSpPr>
        <p:spPr>
          <a:xfrm>
            <a:off x="9620250" y="3752850"/>
            <a:ext cx="1905000" cy="704850"/>
          </a:xfrm>
          <a:prstGeom prst="rect">
            <a:avLst/>
          </a:prstGeom>
          <a:solidFill>
            <a:srgbClr val="E9EEEC"/>
          </a:solidFill>
          <a:ln w="9525">
            <a:solidFill>
              <a:srgbClr val="CED9DB"/>
            </a:solidFill>
            <a:prstDash val="solid"/>
          </a:ln>
        </p:spPr>
        <p:txBody>
          <a:bodyPr/>
          <a:lstStyle/>
          <a:p>
            <a:endParaRPr lang="en-IQ"/>
          </a:p>
        </p:txBody>
      </p:sp>
      <p:sp>
        <p:nvSpPr>
          <p:cNvPr id="45" name="Rectangle 44">
            <a:extLst>
              <a:ext uri="{FF2B5EF4-FFF2-40B4-BE49-F238E27FC236}">
                <a16:creationId xmlns:a16="http://schemas.microsoft.com/office/drawing/2014/main" id="{F1D684DA-31A4-4F0F-ABD7-AF5325E052D1}"/>
              </a:ext>
            </a:extLst>
          </p:cNvPr>
          <p:cNvSpPr>
            <a:spLocks noGrp="1"/>
          </p:cNvSpPr>
          <p:nvPr/>
        </p:nvSpPr>
        <p:spPr>
          <a:xfrm>
            <a:off x="9686925" y="3790950"/>
            <a:ext cx="1771650" cy="6286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75</a:t>
            </a:r>
          </a:p>
        </p:txBody>
      </p:sp>
      <p:sp>
        <p:nvSpPr>
          <p:cNvPr id="46" name="Rectangle 45">
            <a:extLst>
              <a:ext uri="{FF2B5EF4-FFF2-40B4-BE49-F238E27FC236}">
                <a16:creationId xmlns:a16="http://schemas.microsoft.com/office/drawing/2014/main" id="{36F06596-609B-4E09-A8F8-E812472ACE1F}"/>
              </a:ext>
            </a:extLst>
          </p:cNvPr>
          <p:cNvSpPr>
            <a:spLocks noGrp="1"/>
          </p:cNvSpPr>
          <p:nvPr/>
        </p:nvSpPr>
        <p:spPr>
          <a:xfrm>
            <a:off x="666750" y="4457700"/>
            <a:ext cx="857250" cy="704850"/>
          </a:xfrm>
          <a:prstGeom prst="rect">
            <a:avLst/>
          </a:prstGeom>
          <a:solidFill>
            <a:srgbClr val="FFFFFF"/>
          </a:solidFill>
          <a:ln w="9525">
            <a:solidFill>
              <a:srgbClr val="CED9DB"/>
            </a:solidFill>
            <a:prstDash val="solid"/>
          </a:ln>
        </p:spPr>
        <p:txBody>
          <a:bodyPr/>
          <a:lstStyle/>
          <a:p>
            <a:endParaRPr lang="en-IQ"/>
          </a:p>
        </p:txBody>
      </p:sp>
      <p:sp>
        <p:nvSpPr>
          <p:cNvPr id="47" name="Rectangle 46">
            <a:extLst>
              <a:ext uri="{FF2B5EF4-FFF2-40B4-BE49-F238E27FC236}">
                <a16:creationId xmlns:a16="http://schemas.microsoft.com/office/drawing/2014/main" id="{0B13FF5A-75A5-4CCA-B434-06FE644595D4}"/>
              </a:ext>
            </a:extLst>
          </p:cNvPr>
          <p:cNvSpPr>
            <a:spLocks noGrp="1"/>
          </p:cNvSpPr>
          <p:nvPr/>
        </p:nvSpPr>
        <p:spPr>
          <a:xfrm>
            <a:off x="733425" y="4495800"/>
            <a:ext cx="723900" cy="628650"/>
          </a:xfrm>
          <a:prstGeom prst="rect">
            <a:avLst/>
          </a:prstGeom>
          <a:noFill/>
          <a:ln w="0">
            <a:noFill/>
            <a:prstDash val="solid"/>
          </a:ln>
        </p:spPr>
        <p:txBody>
          <a:bodyPr anchor="ctr"/>
          <a:lstStyle/>
          <a:p>
            <a:pPr algn="ctr">
              <a:defRPr sz="1350" b="1">
                <a:solidFill>
                  <a:srgbClr val="0B9B91"/>
                </a:solidFill>
              </a:defRPr>
            </a:pPr>
            <a:r>
              <a:rPr sz="1350" b="1">
                <a:solidFill>
                  <a:srgbClr val="0B9B91"/>
                </a:solidFill>
              </a:rPr>
              <a:t>10</a:t>
            </a:r>
          </a:p>
        </p:txBody>
      </p:sp>
      <p:sp>
        <p:nvSpPr>
          <p:cNvPr id="48" name="Rectangle 47">
            <a:extLst>
              <a:ext uri="{FF2B5EF4-FFF2-40B4-BE49-F238E27FC236}">
                <a16:creationId xmlns:a16="http://schemas.microsoft.com/office/drawing/2014/main" id="{29081AFD-3291-479D-A5D4-4373D4FB1B67}"/>
              </a:ext>
            </a:extLst>
          </p:cNvPr>
          <p:cNvSpPr>
            <a:spLocks noGrp="1"/>
          </p:cNvSpPr>
          <p:nvPr/>
        </p:nvSpPr>
        <p:spPr>
          <a:xfrm>
            <a:off x="1524000" y="4457700"/>
            <a:ext cx="4953000" cy="704850"/>
          </a:xfrm>
          <a:prstGeom prst="rect">
            <a:avLst/>
          </a:prstGeom>
          <a:solidFill>
            <a:srgbClr val="FFFFFF"/>
          </a:solidFill>
          <a:ln w="9525">
            <a:solidFill>
              <a:srgbClr val="CED9DB"/>
            </a:solidFill>
            <a:prstDash val="solid"/>
          </a:ln>
        </p:spPr>
        <p:txBody>
          <a:bodyPr/>
          <a:lstStyle/>
          <a:p>
            <a:endParaRPr lang="en-IQ"/>
          </a:p>
        </p:txBody>
      </p:sp>
      <p:sp>
        <p:nvSpPr>
          <p:cNvPr id="49" name="Rectangle 48">
            <a:extLst>
              <a:ext uri="{FF2B5EF4-FFF2-40B4-BE49-F238E27FC236}">
                <a16:creationId xmlns:a16="http://schemas.microsoft.com/office/drawing/2014/main" id="{45ACDAFC-9A36-48A5-B54A-5048E5F276FC}"/>
              </a:ext>
            </a:extLst>
          </p:cNvPr>
          <p:cNvSpPr>
            <a:spLocks noGrp="1"/>
          </p:cNvSpPr>
          <p:nvPr/>
        </p:nvSpPr>
        <p:spPr>
          <a:xfrm>
            <a:off x="1590675" y="4495800"/>
            <a:ext cx="4819650" cy="6286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[3,0,0,3,2,1,3,1]</a:t>
            </a:r>
          </a:p>
        </p:txBody>
      </p:sp>
      <p:sp>
        <p:nvSpPr>
          <p:cNvPr id="50" name="Rectangle 49">
            <a:extLst>
              <a:ext uri="{FF2B5EF4-FFF2-40B4-BE49-F238E27FC236}">
                <a16:creationId xmlns:a16="http://schemas.microsoft.com/office/drawing/2014/main" id="{4180010D-FF0F-428F-AD5C-2C759970DD06}"/>
              </a:ext>
            </a:extLst>
          </p:cNvPr>
          <p:cNvSpPr>
            <a:spLocks noGrp="1"/>
          </p:cNvSpPr>
          <p:nvPr/>
        </p:nvSpPr>
        <p:spPr>
          <a:xfrm>
            <a:off x="6477000" y="4457700"/>
            <a:ext cx="1428750" cy="704850"/>
          </a:xfrm>
          <a:prstGeom prst="rect">
            <a:avLst/>
          </a:prstGeom>
          <a:solidFill>
            <a:srgbClr val="FFFFFF"/>
          </a:solidFill>
          <a:ln w="9525">
            <a:solidFill>
              <a:srgbClr val="CED9DB"/>
            </a:solidFill>
            <a:prstDash val="solid"/>
          </a:ln>
        </p:spPr>
        <p:txBody>
          <a:bodyPr/>
          <a:lstStyle/>
          <a:p>
            <a:endParaRPr lang="en-IQ"/>
          </a:p>
        </p:txBody>
      </p:sp>
      <p:sp>
        <p:nvSpPr>
          <p:cNvPr id="51" name="Rectangle 50">
            <a:extLst>
              <a:ext uri="{FF2B5EF4-FFF2-40B4-BE49-F238E27FC236}">
                <a16:creationId xmlns:a16="http://schemas.microsoft.com/office/drawing/2014/main" id="{F7F6DFC6-5FCD-4427-9513-1824AE15F890}"/>
              </a:ext>
            </a:extLst>
          </p:cNvPr>
          <p:cNvSpPr>
            <a:spLocks noGrp="1"/>
          </p:cNvSpPr>
          <p:nvPr/>
        </p:nvSpPr>
        <p:spPr>
          <a:xfrm>
            <a:off x="6543675" y="4495800"/>
            <a:ext cx="1295400" cy="6286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yes</a:t>
            </a:r>
          </a:p>
        </p:txBody>
      </p:sp>
      <p:sp>
        <p:nvSpPr>
          <p:cNvPr id="52" name="Rectangle 51">
            <a:extLst>
              <a:ext uri="{FF2B5EF4-FFF2-40B4-BE49-F238E27FC236}">
                <a16:creationId xmlns:a16="http://schemas.microsoft.com/office/drawing/2014/main" id="{F8D7C080-1FDA-4CC1-8EAA-305A4521647C}"/>
              </a:ext>
            </a:extLst>
          </p:cNvPr>
          <p:cNvSpPr>
            <a:spLocks noGrp="1"/>
          </p:cNvSpPr>
          <p:nvPr/>
        </p:nvSpPr>
        <p:spPr>
          <a:xfrm>
            <a:off x="7905750" y="4457700"/>
            <a:ext cx="1714500" cy="704850"/>
          </a:xfrm>
          <a:prstGeom prst="rect">
            <a:avLst/>
          </a:prstGeom>
          <a:solidFill>
            <a:srgbClr val="FFFFFF"/>
          </a:solidFill>
          <a:ln w="9525">
            <a:solidFill>
              <a:srgbClr val="CED9DB"/>
            </a:solidFill>
            <a:prstDash val="solid"/>
          </a:ln>
        </p:spPr>
        <p:txBody>
          <a:bodyPr/>
          <a:lstStyle/>
          <a:p>
            <a:endParaRPr lang="en-IQ"/>
          </a:p>
        </p:txBody>
      </p:sp>
      <p:sp>
        <p:nvSpPr>
          <p:cNvPr id="53" name="Rectangle 52">
            <a:extLst>
              <a:ext uri="{FF2B5EF4-FFF2-40B4-BE49-F238E27FC236}">
                <a16:creationId xmlns:a16="http://schemas.microsoft.com/office/drawing/2014/main" id="{0D51A947-D994-4AEA-96C1-20BA13AFF023}"/>
              </a:ext>
            </a:extLst>
          </p:cNvPr>
          <p:cNvSpPr>
            <a:spLocks noGrp="1"/>
          </p:cNvSpPr>
          <p:nvPr/>
        </p:nvSpPr>
        <p:spPr>
          <a:xfrm>
            <a:off x="7972425" y="4495800"/>
            <a:ext cx="1581150" cy="6286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67</a:t>
            </a:r>
          </a:p>
        </p:txBody>
      </p:sp>
      <p:sp>
        <p:nvSpPr>
          <p:cNvPr id="54" name="Rectangle 53">
            <a:extLst>
              <a:ext uri="{FF2B5EF4-FFF2-40B4-BE49-F238E27FC236}">
                <a16:creationId xmlns:a16="http://schemas.microsoft.com/office/drawing/2014/main" id="{F91DD08A-65E7-45ED-A191-C4968C0C8560}"/>
              </a:ext>
            </a:extLst>
          </p:cNvPr>
          <p:cNvSpPr>
            <a:spLocks noGrp="1"/>
          </p:cNvSpPr>
          <p:nvPr/>
        </p:nvSpPr>
        <p:spPr>
          <a:xfrm>
            <a:off x="9620250" y="4457700"/>
            <a:ext cx="1905000" cy="704850"/>
          </a:xfrm>
          <a:prstGeom prst="rect">
            <a:avLst/>
          </a:prstGeom>
          <a:solidFill>
            <a:srgbClr val="FFFFFF"/>
          </a:solidFill>
          <a:ln w="9525">
            <a:solidFill>
              <a:srgbClr val="CED9DB"/>
            </a:solidFill>
            <a:prstDash val="solid"/>
          </a:ln>
        </p:spPr>
        <p:txBody>
          <a:bodyPr/>
          <a:lstStyle/>
          <a:p>
            <a:endParaRPr lang="en-IQ"/>
          </a:p>
        </p:txBody>
      </p:sp>
      <p:sp>
        <p:nvSpPr>
          <p:cNvPr id="55" name="Rectangle 54">
            <a:extLst>
              <a:ext uri="{FF2B5EF4-FFF2-40B4-BE49-F238E27FC236}">
                <a16:creationId xmlns:a16="http://schemas.microsoft.com/office/drawing/2014/main" id="{F3762876-86CC-44AC-969A-96AAFD54B5F4}"/>
              </a:ext>
            </a:extLst>
          </p:cNvPr>
          <p:cNvSpPr>
            <a:spLocks noGrp="1"/>
          </p:cNvSpPr>
          <p:nvPr/>
        </p:nvSpPr>
        <p:spPr>
          <a:xfrm>
            <a:off x="9686925" y="4495800"/>
            <a:ext cx="1771650" cy="6286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67</a:t>
            </a:r>
          </a:p>
        </p:txBody>
      </p:sp>
      <p:sp>
        <p:nvSpPr>
          <p:cNvPr id="56" name="Rectangle 55">
            <a:extLst>
              <a:ext uri="{FF2B5EF4-FFF2-40B4-BE49-F238E27FC236}">
                <a16:creationId xmlns:a16="http://schemas.microsoft.com/office/drawing/2014/main" id="{43A3DC89-CD93-47A3-8BE2-DEFC19BCFD70}"/>
              </a:ext>
            </a:extLst>
          </p:cNvPr>
          <p:cNvSpPr>
            <a:spLocks noGrp="1"/>
          </p:cNvSpPr>
          <p:nvPr/>
        </p:nvSpPr>
        <p:spPr>
          <a:xfrm>
            <a:off x="2238375" y="5095875"/>
            <a:ext cx="1619250" cy="523875"/>
          </a:xfrm>
          <a:prstGeom prst="rect">
            <a:avLst/>
          </a:prstGeom>
          <a:noFill/>
          <a:ln w="0">
            <a:noFill/>
            <a:prstDash val="solid"/>
          </a:ln>
        </p:spPr>
        <p:txBody>
          <a:bodyPr anchor="ctr"/>
          <a:lstStyle/>
          <a:p>
            <a:pPr algn="ctr">
              <a:defRPr sz="2400" b="1">
                <a:solidFill>
                  <a:srgbClr val="0B9B91"/>
                </a:solidFill>
              </a:defRPr>
            </a:pPr>
            <a:r>
              <a:rPr sz="2400" b="1">
                <a:solidFill>
                  <a:srgbClr val="0B9B91"/>
                </a:solidFill>
              </a:rPr>
              <a:t>75</a:t>
            </a:r>
          </a:p>
        </p:txBody>
      </p:sp>
      <p:sp>
        <p:nvSpPr>
          <p:cNvPr id="57" name="Straight Connector 56">
            <a:extLst>
              <a:ext uri="{FF2B5EF4-FFF2-40B4-BE49-F238E27FC236}">
                <a16:creationId xmlns:a16="http://schemas.microsoft.com/office/drawing/2014/main" id="{B85D0140-680B-4D70-ABAA-70ABD5060F3D}"/>
              </a:ext>
            </a:extLst>
          </p:cNvPr>
          <p:cNvSpPr>
            <a:spLocks noGrp="1"/>
          </p:cNvSpPr>
          <p:nvPr/>
        </p:nvSpPr>
        <p:spPr>
          <a:xfrm>
            <a:off x="4095750" y="5353050"/>
            <a:ext cx="2476500" cy="0"/>
          </a:xfrm>
          <a:prstGeom prst="line">
            <a:avLst/>
          </a:prstGeom>
          <a:noFill/>
          <a:ln w="28575">
            <a:solidFill>
              <a:srgbClr val="0B9B91"/>
            </a:solidFill>
            <a:prstDash val="solid"/>
          </a:ln>
        </p:spPr>
        <p:txBody>
          <a:bodyPr/>
          <a:lstStyle/>
          <a:p>
            <a:endParaRPr lang="en-IQ"/>
          </a:p>
        </p:txBody>
      </p:sp>
      <p:sp>
        <p:nvSpPr>
          <p:cNvPr id="58" name="Rectangle 57">
            <a:extLst>
              <a:ext uri="{FF2B5EF4-FFF2-40B4-BE49-F238E27FC236}">
                <a16:creationId xmlns:a16="http://schemas.microsoft.com/office/drawing/2014/main" id="{CF0B4AD8-150F-4301-A974-73B7722B3E02}"/>
              </a:ext>
            </a:extLst>
          </p:cNvPr>
          <p:cNvSpPr>
            <a:spLocks noGrp="1"/>
          </p:cNvSpPr>
          <p:nvPr/>
        </p:nvSpPr>
        <p:spPr>
          <a:xfrm>
            <a:off x="6953250" y="5095875"/>
            <a:ext cx="1619250" cy="523875"/>
          </a:xfrm>
          <a:prstGeom prst="rect">
            <a:avLst/>
          </a:prstGeom>
          <a:noFill/>
          <a:ln w="0">
            <a:noFill/>
            <a:prstDash val="solid"/>
          </a:ln>
        </p:spPr>
        <p:txBody>
          <a:bodyPr anchor="ctr"/>
          <a:lstStyle/>
          <a:p>
            <a:pPr algn="ctr">
              <a:defRPr sz="2400" b="1">
                <a:solidFill>
                  <a:srgbClr val="F2A93B"/>
                </a:solidFill>
              </a:defRPr>
            </a:pPr>
            <a:r>
              <a:rPr sz="2400" b="1">
                <a:solidFill>
                  <a:srgbClr val="F2A93B"/>
                </a:solidFill>
              </a:rPr>
              <a:t>67</a:t>
            </a:r>
          </a:p>
        </p:txBody>
      </p:sp>
      <p:sp>
        <p:nvSpPr>
          <p:cNvPr id="59" name="Rectangle 58">
            <a:extLst>
              <a:ext uri="{FF2B5EF4-FFF2-40B4-BE49-F238E27FC236}">
                <a16:creationId xmlns:a16="http://schemas.microsoft.com/office/drawing/2014/main" id="{08B62DB0-97C3-4E26-97AF-08BC47CA7DFD}"/>
              </a:ext>
            </a:extLst>
          </p:cNvPr>
          <p:cNvSpPr>
            <a:spLocks noGrp="1"/>
          </p:cNvSpPr>
          <p:nvPr/>
        </p:nvSpPr>
        <p:spPr>
          <a:xfrm>
            <a:off x="1619250" y="5810250"/>
            <a:ext cx="8953500" cy="361950"/>
          </a:xfrm>
          <a:prstGeom prst="rect">
            <a:avLst/>
          </a:prstGeom>
          <a:noFill/>
          <a:ln w="0">
            <a:noFill/>
            <a:prstDash val="solid"/>
          </a:ln>
        </p:spPr>
        <p:txBody>
          <a:bodyPr anchor="ctr"/>
          <a:lstStyle/>
          <a:p>
            <a:pPr algn="ctr">
              <a:defRPr sz="1575" b="1">
                <a:solidFill>
                  <a:srgbClr val="092A3D"/>
                </a:solidFill>
              </a:defRPr>
            </a:pPr>
            <a:r>
              <a:rPr sz="1575" b="1">
                <a:solidFill>
                  <a:srgbClr val="092A3D"/>
                </a:solidFill>
              </a:rPr>
              <a:t>The current candidate may be worse or infeasible; best-so-far never worsens.</a:t>
            </a:r>
          </a:p>
        </p:txBody>
      </p:sp>
    </p:spTree>
    <p:extLst>
      <p:ext uri="{BB962C8B-B14F-4D97-AF65-F5344CB8AC3E}">
        <p14:creationId xmlns:p14="http://schemas.microsoft.com/office/powerpoint/2010/main" val="17759948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130CB91-8AD7-4446-8100-457796601FEB}"/>
              </a:ext>
            </a:extLst>
          </p:cNvPr>
          <p:cNvSpPr>
            <a:spLocks noGrp="1"/>
          </p:cNvSpPr>
          <p:nvPr/>
        </p:nvSpPr>
        <p:spPr>
          <a:xfrm>
            <a:off x="609600" y="285750"/>
            <a:ext cx="64770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ACTUAL TRACE</a:t>
            </a:r>
          </a:p>
        </p:txBody>
      </p:sp>
      <p:sp>
        <p:nvSpPr>
          <p:cNvPr id="2" name="Rectangle 1">
            <a:extLst>
              <a:ext uri="{FF2B5EF4-FFF2-40B4-BE49-F238E27FC236}">
                <a16:creationId xmlns:a16="http://schemas.microsoft.com/office/drawing/2014/main" id="{45E17376-831C-4619-B251-37C1BBB2E692}"/>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Seed 7 improves quickly—then stops improving</a:t>
            </a:r>
          </a:p>
        </p:txBody>
      </p:sp>
      <p:sp>
        <p:nvSpPr>
          <p:cNvPr id="3" name="Rectangle 2">
            <a:extLst>
              <a:ext uri="{FF2B5EF4-FFF2-40B4-BE49-F238E27FC236}">
                <a16:creationId xmlns:a16="http://schemas.microsoft.com/office/drawing/2014/main" id="{DE6B902F-7DD5-4CEA-B6F0-B8FF5EC04591}"/>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2FCB2799-264C-40C6-84DF-37F786054AD0}"/>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2</a:t>
            </a:r>
          </a:p>
        </p:txBody>
      </p:sp>
      <p:sp>
        <p:nvSpPr>
          <p:cNvPr id="5" name="Rectangle 4">
            <a:extLst>
              <a:ext uri="{FF2B5EF4-FFF2-40B4-BE49-F238E27FC236}">
                <a16:creationId xmlns:a16="http://schemas.microsoft.com/office/drawing/2014/main" id="{7CF5EB48-49CD-4BD8-A842-2CD3084C6423}"/>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19</a:t>
            </a:r>
          </a:p>
        </p:txBody>
      </p:sp>
      <p:graphicFrame>
        <p:nvGraphicFramePr>
          <p:cNvPr id="18" name="Chart"/>
          <p:cNvGraphicFramePr/>
          <p:nvPr/>
        </p:nvGraphicFramePr>
        <p:xfrm>
          <a:off x="809625" y="1524000"/>
          <a:ext cx="8001000" cy="419100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917188E0-76BE-45A2-9226-EC95D7E2A538}"/>
              </a:ext>
            </a:extLst>
          </p:cNvPr>
          <p:cNvSpPr>
            <a:spLocks noGrp="1"/>
          </p:cNvSpPr>
          <p:nvPr/>
        </p:nvSpPr>
        <p:spPr>
          <a:xfrm>
            <a:off x="9239250" y="1762125"/>
            <a:ext cx="2095500" cy="476250"/>
          </a:xfrm>
          <a:prstGeom prst="rect">
            <a:avLst/>
          </a:prstGeom>
          <a:noFill/>
          <a:ln w="0">
            <a:noFill/>
            <a:prstDash val="solid"/>
          </a:ln>
        </p:spPr>
        <p:txBody>
          <a:bodyPr anchor="ctr"/>
          <a:lstStyle/>
          <a:p>
            <a:pPr algn="ctr">
              <a:defRPr sz="1500" b="1">
                <a:solidFill>
                  <a:srgbClr val="D95D5D"/>
                </a:solidFill>
              </a:defRPr>
            </a:pPr>
            <a:r>
              <a:rPr sz="1500" b="1">
                <a:solidFill>
                  <a:srgbClr val="D95D5D"/>
                </a:solidFill>
              </a:rPr>
              <a:t>No feasible result</a:t>
            </a:r>
          </a:p>
        </p:txBody>
      </p:sp>
      <p:sp>
        <p:nvSpPr>
          <p:cNvPr id="8" name="Rectangle 7">
            <a:extLst>
              <a:ext uri="{FF2B5EF4-FFF2-40B4-BE49-F238E27FC236}">
                <a16:creationId xmlns:a16="http://schemas.microsoft.com/office/drawing/2014/main" id="{78CAB547-E91F-430D-A5F7-2FBA7C03F405}"/>
              </a:ext>
            </a:extLst>
          </p:cNvPr>
          <p:cNvSpPr>
            <a:spLocks noGrp="1"/>
          </p:cNvSpPr>
          <p:nvPr/>
        </p:nvSpPr>
        <p:spPr>
          <a:xfrm>
            <a:off x="9239250" y="2190750"/>
            <a:ext cx="2095500" cy="323850"/>
          </a:xfrm>
          <a:prstGeom prst="rect">
            <a:avLst/>
          </a:prstGeom>
          <a:noFill/>
          <a:ln w="0">
            <a:noFill/>
            <a:prstDash val="solid"/>
          </a:ln>
        </p:spPr>
        <p:txBody>
          <a:bodyPr anchor="ctr"/>
          <a:lstStyle/>
          <a:p>
            <a:pPr algn="ctr">
              <a:defRPr sz="1275" b="1">
                <a:solidFill>
                  <a:srgbClr val="58707C"/>
                </a:solidFill>
              </a:defRPr>
            </a:pPr>
            <a:r>
              <a:rPr sz="1275" b="1">
                <a:solidFill>
                  <a:srgbClr val="58707C"/>
                </a:solidFill>
              </a:rPr>
              <a:t>evaluations 1–6</a:t>
            </a:r>
          </a:p>
        </p:txBody>
      </p:sp>
      <p:sp>
        <p:nvSpPr>
          <p:cNvPr id="9" name="Rounded Rectangle 8">
            <a:extLst>
              <a:ext uri="{FF2B5EF4-FFF2-40B4-BE49-F238E27FC236}">
                <a16:creationId xmlns:a16="http://schemas.microsoft.com/office/drawing/2014/main" id="{37FD21EF-3600-4E72-943B-AF4D0E15BA37}"/>
              </a:ext>
            </a:extLst>
          </p:cNvPr>
          <p:cNvSpPr>
            <a:spLocks noGrp="1"/>
          </p:cNvSpPr>
          <p:nvPr/>
        </p:nvSpPr>
        <p:spPr>
          <a:xfrm>
            <a:off x="9191625" y="3143250"/>
            <a:ext cx="2190750" cy="590550"/>
          </a:xfrm>
          <a:prstGeom prst="roundRect">
            <a:avLst>
              <a:gd name="adj" fmla="val 12903"/>
            </a:avLst>
          </a:prstGeom>
          <a:solidFill>
            <a:srgbClr val="FFF1D8"/>
          </a:solidFill>
          <a:ln w="0">
            <a:solidFill>
              <a:srgbClr val="FFF1D8"/>
            </a:solidFill>
            <a:prstDash val="solid"/>
          </a:ln>
        </p:spPr>
        <p:txBody>
          <a:bodyPr/>
          <a:lstStyle/>
          <a:p>
            <a:endParaRPr lang="en-IQ"/>
          </a:p>
        </p:txBody>
      </p:sp>
      <p:sp>
        <p:nvSpPr>
          <p:cNvPr id="10" name="Rectangle 9">
            <a:extLst>
              <a:ext uri="{FF2B5EF4-FFF2-40B4-BE49-F238E27FC236}">
                <a16:creationId xmlns:a16="http://schemas.microsoft.com/office/drawing/2014/main" id="{FBD4563D-544D-461D-B9B0-8D0776775F1E}"/>
              </a:ext>
            </a:extLst>
          </p:cNvPr>
          <p:cNvSpPr>
            <a:spLocks noGrp="1"/>
          </p:cNvSpPr>
          <p:nvPr/>
        </p:nvSpPr>
        <p:spPr>
          <a:xfrm>
            <a:off x="9382125" y="3219450"/>
            <a:ext cx="1809750" cy="438150"/>
          </a:xfrm>
          <a:prstGeom prst="rect">
            <a:avLst/>
          </a:prstGeom>
          <a:noFill/>
          <a:ln w="0">
            <a:noFill/>
            <a:prstDash val="solid"/>
          </a:ln>
        </p:spPr>
        <p:txBody>
          <a:bodyPr anchor="ctr"/>
          <a:lstStyle/>
          <a:p>
            <a:pPr algn="ctr">
              <a:defRPr sz="1725" b="1">
                <a:solidFill>
                  <a:srgbClr val="F2A93B"/>
                </a:solidFill>
              </a:defRPr>
            </a:pPr>
            <a:r>
              <a:rPr sz="1725" b="1">
                <a:solidFill>
                  <a:srgbClr val="F2A93B"/>
                </a:solidFill>
              </a:rPr>
              <a:t>75 → 67 → 58</a:t>
            </a:r>
          </a:p>
        </p:txBody>
      </p:sp>
      <p:sp>
        <p:nvSpPr>
          <p:cNvPr id="11" name="Rectangle 10">
            <a:extLst>
              <a:ext uri="{FF2B5EF4-FFF2-40B4-BE49-F238E27FC236}">
                <a16:creationId xmlns:a16="http://schemas.microsoft.com/office/drawing/2014/main" id="{A42E231E-8DD7-4D5A-A239-41280446C6A9}"/>
              </a:ext>
            </a:extLst>
          </p:cNvPr>
          <p:cNvSpPr>
            <a:spLocks noGrp="1"/>
          </p:cNvSpPr>
          <p:nvPr/>
        </p:nvSpPr>
        <p:spPr>
          <a:xfrm>
            <a:off x="9239250" y="4238625"/>
            <a:ext cx="2095500" cy="666750"/>
          </a:xfrm>
          <a:prstGeom prst="rect">
            <a:avLst/>
          </a:prstGeom>
          <a:noFill/>
          <a:ln w="0">
            <a:noFill/>
            <a:prstDash val="solid"/>
          </a:ln>
        </p:spPr>
        <p:txBody>
          <a:bodyPr anchor="ctr"/>
          <a:lstStyle/>
          <a:p>
            <a:pPr algn="ctr">
              <a:defRPr sz="1500" b="1">
                <a:solidFill>
                  <a:srgbClr val="092A3D"/>
                </a:solidFill>
              </a:defRPr>
            </a:pPr>
            <a:r>
              <a:rPr sz="1500" b="1">
                <a:solidFill>
                  <a:srgbClr val="092A3D"/>
                </a:solidFill>
              </a:rPr>
              <a:t>No improvement after</a:t>
            </a:r>
          </a:p>
          <a:p>
            <a:pPr algn="ctr">
              <a:defRPr sz="1500" b="1">
                <a:solidFill>
                  <a:srgbClr val="092A3D"/>
                </a:solidFill>
              </a:defRPr>
            </a:pPr>
            <a:r>
              <a:rPr sz="1500" b="1">
                <a:solidFill>
                  <a:srgbClr val="092A3D"/>
                </a:solidFill>
              </a:rPr>
              <a:t>evaluation 50</a:t>
            </a:r>
          </a:p>
        </p:txBody>
      </p:sp>
      <p:sp>
        <p:nvSpPr>
          <p:cNvPr id="12" name="Rectangle 11">
            <a:extLst>
              <a:ext uri="{FF2B5EF4-FFF2-40B4-BE49-F238E27FC236}">
                <a16:creationId xmlns:a16="http://schemas.microsoft.com/office/drawing/2014/main" id="{EED6CBAD-4E33-413D-95F5-5D22FCD75FB5}"/>
              </a:ext>
            </a:extLst>
          </p:cNvPr>
          <p:cNvSpPr>
            <a:spLocks noGrp="1"/>
          </p:cNvSpPr>
          <p:nvPr/>
        </p:nvSpPr>
        <p:spPr>
          <a:xfrm>
            <a:off x="9144000" y="5286375"/>
            <a:ext cx="2286000" cy="333375"/>
          </a:xfrm>
          <a:prstGeom prst="rect">
            <a:avLst/>
          </a:prstGeom>
          <a:noFill/>
          <a:ln w="0">
            <a:noFill/>
            <a:prstDash val="solid"/>
          </a:ln>
        </p:spPr>
        <p:txBody>
          <a:bodyPr anchor="ctr"/>
          <a:lstStyle/>
          <a:p>
            <a:pPr algn="ctr">
              <a:defRPr sz="1425" b="1">
                <a:solidFill>
                  <a:srgbClr val="0B9B91"/>
                </a:solidFill>
              </a:defRPr>
            </a:pPr>
            <a:r>
              <a:rPr sz="1425" b="1">
                <a:solidFill>
                  <a:srgbClr val="0B9B91"/>
                </a:solidFill>
              </a:rPr>
              <a:t>Exact optimum = 50</a:t>
            </a:r>
          </a:p>
        </p:txBody>
      </p:sp>
    </p:spTree>
    <p:extLst>
      <p:ext uri="{BB962C8B-B14F-4D97-AF65-F5344CB8AC3E}">
        <p14:creationId xmlns:p14="http://schemas.microsoft.com/office/powerpoint/2010/main" val="2233671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237898D-B92F-484D-9E6A-71A446363E8A}"/>
              </a:ext>
            </a:extLst>
          </p:cNvPr>
          <p:cNvSpPr>
            <a:spLocks noGrp="1"/>
          </p:cNvSpPr>
          <p:nvPr/>
        </p:nvSpPr>
        <p:spPr>
          <a:xfrm>
            <a:off x="609600" y="285750"/>
            <a:ext cx="64770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ONE-RUN LIMIT</a:t>
            </a:r>
          </a:p>
        </p:txBody>
      </p:sp>
      <p:sp>
        <p:nvSpPr>
          <p:cNvPr id="2" name="Rectangle 1">
            <a:extLst>
              <a:ext uri="{FF2B5EF4-FFF2-40B4-BE49-F238E27FC236}">
                <a16:creationId xmlns:a16="http://schemas.microsoft.com/office/drawing/2014/main" id="{B8A00B04-2E4C-410B-8480-337B0185451C}"/>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One apparently stable run can still be eight points from optimal</a:t>
            </a:r>
          </a:p>
        </p:txBody>
      </p:sp>
      <p:sp>
        <p:nvSpPr>
          <p:cNvPr id="3" name="Rectangle 2">
            <a:extLst>
              <a:ext uri="{FF2B5EF4-FFF2-40B4-BE49-F238E27FC236}">
                <a16:creationId xmlns:a16="http://schemas.microsoft.com/office/drawing/2014/main" id="{6CE00CCF-85B0-454E-ABDC-E56EEEF793D0}"/>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C2F8BC36-97BF-4927-9A18-436B17DE6A26}"/>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2</a:t>
            </a:r>
          </a:p>
        </p:txBody>
      </p:sp>
      <p:sp>
        <p:nvSpPr>
          <p:cNvPr id="5" name="Rectangle 4">
            <a:extLst>
              <a:ext uri="{FF2B5EF4-FFF2-40B4-BE49-F238E27FC236}">
                <a16:creationId xmlns:a16="http://schemas.microsoft.com/office/drawing/2014/main" id="{D4B82D2D-D2FE-4A14-A96B-90D3BC0B0B9F}"/>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20</a:t>
            </a:r>
          </a:p>
        </p:txBody>
      </p:sp>
      <p:sp>
        <p:nvSpPr>
          <p:cNvPr id="6" name="Rounded Rectangle 5">
            <a:extLst>
              <a:ext uri="{FF2B5EF4-FFF2-40B4-BE49-F238E27FC236}">
                <a16:creationId xmlns:a16="http://schemas.microsoft.com/office/drawing/2014/main" id="{8A7EC0D5-6C55-468A-B4A8-F23BEF0D79A6}"/>
              </a:ext>
            </a:extLst>
          </p:cNvPr>
          <p:cNvSpPr>
            <a:spLocks noGrp="1"/>
          </p:cNvSpPr>
          <p:nvPr/>
        </p:nvSpPr>
        <p:spPr>
          <a:xfrm>
            <a:off x="1143000" y="1524000"/>
            <a:ext cx="9906000" cy="590550"/>
          </a:xfrm>
          <a:prstGeom prst="roundRect">
            <a:avLst>
              <a:gd name="adj" fmla="val 12903"/>
            </a:avLst>
          </a:prstGeom>
          <a:solidFill>
            <a:srgbClr val="092A3D"/>
          </a:solidFill>
          <a:ln w="0">
            <a:solidFill>
              <a:srgbClr val="092A3D"/>
            </a:solidFill>
            <a:prstDash val="solid"/>
          </a:ln>
        </p:spPr>
        <p:txBody>
          <a:bodyPr/>
          <a:lstStyle/>
          <a:p>
            <a:endParaRPr lang="en-IQ"/>
          </a:p>
        </p:txBody>
      </p:sp>
      <p:sp>
        <p:nvSpPr>
          <p:cNvPr id="7" name="Rectangle 6">
            <a:extLst>
              <a:ext uri="{FF2B5EF4-FFF2-40B4-BE49-F238E27FC236}">
                <a16:creationId xmlns:a16="http://schemas.microsoft.com/office/drawing/2014/main" id="{D0DAEEBD-E4B0-44D5-8812-7C1BAF704934}"/>
              </a:ext>
            </a:extLst>
          </p:cNvPr>
          <p:cNvSpPr>
            <a:spLocks noGrp="1"/>
          </p:cNvSpPr>
          <p:nvPr/>
        </p:nvSpPr>
        <p:spPr>
          <a:xfrm>
            <a:off x="1333500" y="1600200"/>
            <a:ext cx="9525000" cy="438150"/>
          </a:xfrm>
          <a:prstGeom prst="rect">
            <a:avLst/>
          </a:prstGeom>
          <a:noFill/>
          <a:ln w="0">
            <a:noFill/>
            <a:prstDash val="solid"/>
          </a:ln>
        </p:spPr>
        <p:txBody>
          <a:bodyPr anchor="ctr"/>
          <a:lstStyle/>
          <a:p>
            <a:pPr algn="ctr">
              <a:defRPr sz="1800" b="1">
                <a:solidFill>
                  <a:srgbClr val="FFFFFF"/>
                </a:solidFill>
              </a:defRPr>
            </a:pPr>
            <a:r>
              <a:rPr sz="1800" b="1">
                <a:solidFill>
                  <a:srgbClr val="FFFFFF"/>
                </a:solidFill>
              </a:rPr>
              <a:t>Seed 7 • budget 1,000</a:t>
            </a:r>
          </a:p>
        </p:txBody>
      </p:sp>
      <p:sp>
        <p:nvSpPr>
          <p:cNvPr id="8" name="Rectangle 7">
            <a:extLst>
              <a:ext uri="{FF2B5EF4-FFF2-40B4-BE49-F238E27FC236}">
                <a16:creationId xmlns:a16="http://schemas.microsoft.com/office/drawing/2014/main" id="{4F9801A2-5C39-4476-91C1-9BC5C0390A55}"/>
              </a:ext>
            </a:extLst>
          </p:cNvPr>
          <p:cNvSpPr>
            <a:spLocks noGrp="1"/>
          </p:cNvSpPr>
          <p:nvPr/>
        </p:nvSpPr>
        <p:spPr>
          <a:xfrm>
            <a:off x="1428750" y="2714625"/>
            <a:ext cx="4000500" cy="400050"/>
          </a:xfrm>
          <a:prstGeom prst="rect">
            <a:avLst/>
          </a:prstGeom>
          <a:noFill/>
          <a:ln w="0">
            <a:noFill/>
            <a:prstDash val="solid"/>
          </a:ln>
        </p:spPr>
        <p:txBody>
          <a:bodyPr anchor="ctr"/>
          <a:lstStyle/>
          <a:p>
            <a:pPr algn="ctr">
              <a:defRPr sz="1650" b="1">
                <a:solidFill>
                  <a:srgbClr val="58707C"/>
                </a:solidFill>
              </a:defRPr>
            </a:pPr>
            <a:r>
              <a:rPr sz="1650" b="1">
                <a:solidFill>
                  <a:srgbClr val="58707C"/>
                </a:solidFill>
              </a:rPr>
              <a:t>Best random-search objective</a:t>
            </a:r>
          </a:p>
        </p:txBody>
      </p:sp>
      <p:sp>
        <p:nvSpPr>
          <p:cNvPr id="9" name="Rectangle 8">
            <a:extLst>
              <a:ext uri="{FF2B5EF4-FFF2-40B4-BE49-F238E27FC236}">
                <a16:creationId xmlns:a16="http://schemas.microsoft.com/office/drawing/2014/main" id="{39661845-7792-4942-94EF-A1A523D37F9C}"/>
              </a:ext>
            </a:extLst>
          </p:cNvPr>
          <p:cNvSpPr>
            <a:spLocks noGrp="1"/>
          </p:cNvSpPr>
          <p:nvPr/>
        </p:nvSpPr>
        <p:spPr>
          <a:xfrm>
            <a:off x="2095500" y="3238500"/>
            <a:ext cx="2667000" cy="809625"/>
          </a:xfrm>
          <a:prstGeom prst="rect">
            <a:avLst/>
          </a:prstGeom>
          <a:noFill/>
          <a:ln w="0">
            <a:noFill/>
            <a:prstDash val="solid"/>
          </a:ln>
        </p:spPr>
        <p:txBody>
          <a:bodyPr anchor="ctr"/>
          <a:lstStyle/>
          <a:p>
            <a:pPr algn="ctr">
              <a:defRPr sz="4350" b="1">
                <a:solidFill>
                  <a:srgbClr val="F2A93B"/>
                </a:solidFill>
              </a:defRPr>
            </a:pPr>
            <a:r>
              <a:rPr sz="4350" b="1">
                <a:solidFill>
                  <a:srgbClr val="F2A93B"/>
                </a:solidFill>
              </a:rPr>
              <a:t>58</a:t>
            </a:r>
          </a:p>
        </p:txBody>
      </p:sp>
      <p:sp>
        <p:nvSpPr>
          <p:cNvPr id="10" name="Rectangle 9">
            <a:extLst>
              <a:ext uri="{FF2B5EF4-FFF2-40B4-BE49-F238E27FC236}">
                <a16:creationId xmlns:a16="http://schemas.microsoft.com/office/drawing/2014/main" id="{65FB4A2B-7A96-4601-B49A-AB1CF603B3B3}"/>
              </a:ext>
            </a:extLst>
          </p:cNvPr>
          <p:cNvSpPr>
            <a:spLocks noGrp="1"/>
          </p:cNvSpPr>
          <p:nvPr/>
        </p:nvSpPr>
        <p:spPr>
          <a:xfrm>
            <a:off x="6762750" y="2714625"/>
            <a:ext cx="4000500" cy="400050"/>
          </a:xfrm>
          <a:prstGeom prst="rect">
            <a:avLst/>
          </a:prstGeom>
          <a:noFill/>
          <a:ln w="0">
            <a:noFill/>
            <a:prstDash val="solid"/>
          </a:ln>
        </p:spPr>
        <p:txBody>
          <a:bodyPr anchor="ctr"/>
          <a:lstStyle/>
          <a:p>
            <a:pPr algn="ctr">
              <a:defRPr sz="1650" b="1">
                <a:solidFill>
                  <a:srgbClr val="58707C"/>
                </a:solidFill>
              </a:defRPr>
            </a:pPr>
            <a:r>
              <a:rPr sz="1650" b="1">
                <a:solidFill>
                  <a:srgbClr val="58707C"/>
                </a:solidFill>
              </a:rPr>
              <a:t>Exact optimum</a:t>
            </a:r>
          </a:p>
        </p:txBody>
      </p:sp>
      <p:sp>
        <p:nvSpPr>
          <p:cNvPr id="11" name="Rectangle 10">
            <a:extLst>
              <a:ext uri="{FF2B5EF4-FFF2-40B4-BE49-F238E27FC236}">
                <a16:creationId xmlns:a16="http://schemas.microsoft.com/office/drawing/2014/main" id="{838C6871-FC99-4ED9-96E8-52FF8F099F95}"/>
              </a:ext>
            </a:extLst>
          </p:cNvPr>
          <p:cNvSpPr>
            <a:spLocks noGrp="1"/>
          </p:cNvSpPr>
          <p:nvPr/>
        </p:nvSpPr>
        <p:spPr>
          <a:xfrm>
            <a:off x="7429500" y="3238500"/>
            <a:ext cx="2667000" cy="809625"/>
          </a:xfrm>
          <a:prstGeom prst="rect">
            <a:avLst/>
          </a:prstGeom>
          <a:noFill/>
          <a:ln w="0">
            <a:noFill/>
            <a:prstDash val="solid"/>
          </a:ln>
        </p:spPr>
        <p:txBody>
          <a:bodyPr anchor="ctr"/>
          <a:lstStyle/>
          <a:p>
            <a:pPr algn="ctr">
              <a:defRPr sz="4350" b="1">
                <a:solidFill>
                  <a:srgbClr val="0B9B91"/>
                </a:solidFill>
              </a:defRPr>
            </a:pPr>
            <a:r>
              <a:rPr sz="4350" b="1">
                <a:solidFill>
                  <a:srgbClr val="0B9B91"/>
                </a:solidFill>
              </a:rPr>
              <a:t>50</a:t>
            </a:r>
          </a:p>
        </p:txBody>
      </p:sp>
      <p:sp>
        <p:nvSpPr>
          <p:cNvPr id="12" name="Straight Connector 11">
            <a:extLst>
              <a:ext uri="{FF2B5EF4-FFF2-40B4-BE49-F238E27FC236}">
                <a16:creationId xmlns:a16="http://schemas.microsoft.com/office/drawing/2014/main" id="{ACA5D3B0-F4FE-41A7-9BDB-2E850A859DB6}"/>
              </a:ext>
            </a:extLst>
          </p:cNvPr>
          <p:cNvSpPr>
            <a:spLocks noGrp="1"/>
          </p:cNvSpPr>
          <p:nvPr/>
        </p:nvSpPr>
        <p:spPr>
          <a:xfrm>
            <a:off x="5334000" y="3638550"/>
            <a:ext cx="1333500" cy="0"/>
          </a:xfrm>
          <a:prstGeom prst="line">
            <a:avLst/>
          </a:prstGeom>
          <a:noFill/>
          <a:ln w="28575">
            <a:solidFill>
              <a:srgbClr val="0B9B91"/>
            </a:solidFill>
            <a:prstDash val="solid"/>
          </a:ln>
        </p:spPr>
        <p:txBody>
          <a:bodyPr/>
          <a:lstStyle/>
          <a:p>
            <a:endParaRPr lang="en-IQ"/>
          </a:p>
        </p:txBody>
      </p:sp>
      <p:sp>
        <p:nvSpPr>
          <p:cNvPr id="13" name="Rounded Rectangle 12">
            <a:extLst>
              <a:ext uri="{FF2B5EF4-FFF2-40B4-BE49-F238E27FC236}">
                <a16:creationId xmlns:a16="http://schemas.microsoft.com/office/drawing/2014/main" id="{71986BCE-775B-436D-8210-230431688B83}"/>
              </a:ext>
            </a:extLst>
          </p:cNvPr>
          <p:cNvSpPr>
            <a:spLocks noGrp="1"/>
          </p:cNvSpPr>
          <p:nvPr/>
        </p:nvSpPr>
        <p:spPr>
          <a:xfrm>
            <a:off x="2952750" y="4762500"/>
            <a:ext cx="6286500" cy="619125"/>
          </a:xfrm>
          <a:prstGeom prst="roundRect">
            <a:avLst>
              <a:gd name="adj" fmla="val 12308"/>
            </a:avLst>
          </a:prstGeom>
          <a:solidFill>
            <a:srgbClr val="E6F3F2"/>
          </a:solidFill>
          <a:ln w="0">
            <a:solidFill>
              <a:srgbClr val="E6F3F2"/>
            </a:solidFill>
            <a:prstDash val="solid"/>
          </a:ln>
        </p:spPr>
        <p:txBody>
          <a:bodyPr/>
          <a:lstStyle/>
          <a:p>
            <a:endParaRPr lang="en-IQ"/>
          </a:p>
        </p:txBody>
      </p:sp>
      <p:sp>
        <p:nvSpPr>
          <p:cNvPr id="14" name="Rectangle 13">
            <a:extLst>
              <a:ext uri="{FF2B5EF4-FFF2-40B4-BE49-F238E27FC236}">
                <a16:creationId xmlns:a16="http://schemas.microsoft.com/office/drawing/2014/main" id="{4B7B3C0E-3E87-445A-B6F4-A0F0F7165B9B}"/>
              </a:ext>
            </a:extLst>
          </p:cNvPr>
          <p:cNvSpPr>
            <a:spLocks noGrp="1"/>
          </p:cNvSpPr>
          <p:nvPr/>
        </p:nvSpPr>
        <p:spPr>
          <a:xfrm>
            <a:off x="3143250" y="4838700"/>
            <a:ext cx="5905500" cy="466725"/>
          </a:xfrm>
          <a:prstGeom prst="rect">
            <a:avLst/>
          </a:prstGeom>
          <a:noFill/>
          <a:ln w="0">
            <a:noFill/>
            <a:prstDash val="solid"/>
          </a:ln>
        </p:spPr>
        <p:txBody>
          <a:bodyPr anchor="ctr"/>
          <a:lstStyle/>
          <a:p>
            <a:pPr algn="ctr">
              <a:defRPr sz="1875" b="1">
                <a:solidFill>
                  <a:srgbClr val="092A3D"/>
                </a:solidFill>
              </a:defRPr>
            </a:pPr>
            <a:r>
              <a:rPr sz="1875" b="1">
                <a:solidFill>
                  <a:srgbClr val="092A3D"/>
                </a:solidFill>
              </a:rPr>
              <a:t>Relative gap = (58−50)/50 = 16%</a:t>
            </a:r>
          </a:p>
        </p:txBody>
      </p:sp>
      <p:sp>
        <p:nvSpPr>
          <p:cNvPr id="15" name="Rectangle 14">
            <a:extLst>
              <a:ext uri="{FF2B5EF4-FFF2-40B4-BE49-F238E27FC236}">
                <a16:creationId xmlns:a16="http://schemas.microsoft.com/office/drawing/2014/main" id="{D2BD5F40-7559-40E3-AE61-7957DD7D5EEA}"/>
              </a:ext>
            </a:extLst>
          </p:cNvPr>
          <p:cNvSpPr>
            <a:spLocks noGrp="1"/>
          </p:cNvSpPr>
          <p:nvPr/>
        </p:nvSpPr>
        <p:spPr>
          <a:xfrm>
            <a:off x="1809750" y="5667375"/>
            <a:ext cx="8572500" cy="361950"/>
          </a:xfrm>
          <a:prstGeom prst="rect">
            <a:avLst/>
          </a:prstGeom>
          <a:noFill/>
          <a:ln w="0">
            <a:noFill/>
            <a:prstDash val="solid"/>
          </a:ln>
        </p:spPr>
        <p:txBody>
          <a:bodyPr anchor="ctr"/>
          <a:lstStyle/>
          <a:p>
            <a:pPr algn="ctr">
              <a:defRPr sz="1575" b="1">
                <a:solidFill>
                  <a:srgbClr val="D95D5D"/>
                </a:solidFill>
              </a:defRPr>
            </a:pPr>
            <a:r>
              <a:rPr sz="1575" b="1">
                <a:solidFill>
                  <a:srgbClr val="D95D5D"/>
                </a:solidFill>
              </a:rPr>
              <a:t>A flat trace is evidence of stagnation—not proof of optimality.</a:t>
            </a:r>
          </a:p>
        </p:txBody>
      </p:sp>
    </p:spTree>
    <p:extLst>
      <p:ext uri="{BB962C8B-B14F-4D97-AF65-F5344CB8AC3E}">
        <p14:creationId xmlns:p14="http://schemas.microsoft.com/office/powerpoint/2010/main" val="19078881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78" name="Rectangle 77">
            <a:extLst>
              <a:ext uri="{FF2B5EF4-FFF2-40B4-BE49-F238E27FC236}">
                <a16:creationId xmlns:a16="http://schemas.microsoft.com/office/drawing/2014/main" id="{8497C6C0-C2FC-4E57-AFF7-E7E5C8A5E817}"/>
              </a:ext>
            </a:extLst>
          </p:cNvPr>
          <p:cNvSpPr>
            <a:spLocks noGrp="1"/>
          </p:cNvSpPr>
          <p:nvPr/>
        </p:nvSpPr>
        <p:spPr>
          <a:xfrm>
            <a:off x="609600" y="285750"/>
            <a:ext cx="64770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ACTUAL RESULTS</a:t>
            </a:r>
          </a:p>
        </p:txBody>
      </p:sp>
      <p:sp>
        <p:nvSpPr>
          <p:cNvPr id="2" name="Rectangle 1">
            <a:extLst>
              <a:ext uri="{FF2B5EF4-FFF2-40B4-BE49-F238E27FC236}">
                <a16:creationId xmlns:a16="http://schemas.microsoft.com/office/drawing/2014/main" id="{3F0A2557-7E8F-4BE3-A3A8-D9D70406F43C}"/>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More evaluations improve quality and reduce variability</a:t>
            </a:r>
          </a:p>
        </p:txBody>
      </p:sp>
      <p:sp>
        <p:nvSpPr>
          <p:cNvPr id="3" name="Rectangle 2">
            <a:extLst>
              <a:ext uri="{FF2B5EF4-FFF2-40B4-BE49-F238E27FC236}">
                <a16:creationId xmlns:a16="http://schemas.microsoft.com/office/drawing/2014/main" id="{81F6A6B9-922D-4F2A-B9EE-8EF88F1F03F2}"/>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57E82E06-DD9E-4C4C-8D0E-E90724B66A7E}"/>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2</a:t>
            </a:r>
          </a:p>
        </p:txBody>
      </p:sp>
      <p:sp>
        <p:nvSpPr>
          <p:cNvPr id="5" name="Rectangle 4">
            <a:extLst>
              <a:ext uri="{FF2B5EF4-FFF2-40B4-BE49-F238E27FC236}">
                <a16:creationId xmlns:a16="http://schemas.microsoft.com/office/drawing/2014/main" id="{FC0B390B-BF67-4D8D-8C22-5F8F179C733E}"/>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22</a:t>
            </a:r>
          </a:p>
        </p:txBody>
      </p:sp>
      <p:sp>
        <p:nvSpPr>
          <p:cNvPr id="6" name="Rectangle 5">
            <a:extLst>
              <a:ext uri="{FF2B5EF4-FFF2-40B4-BE49-F238E27FC236}">
                <a16:creationId xmlns:a16="http://schemas.microsoft.com/office/drawing/2014/main" id="{8B59E663-3470-4E16-BF38-1D0AD5155450}"/>
              </a:ext>
            </a:extLst>
          </p:cNvPr>
          <p:cNvSpPr>
            <a:spLocks noGrp="1"/>
          </p:cNvSpPr>
          <p:nvPr/>
        </p:nvSpPr>
        <p:spPr>
          <a:xfrm>
            <a:off x="762000" y="1762125"/>
            <a:ext cx="1524000" cy="533400"/>
          </a:xfrm>
          <a:prstGeom prst="rect">
            <a:avLst/>
          </a:prstGeom>
          <a:solidFill>
            <a:srgbClr val="092A3D"/>
          </a:solidFill>
          <a:ln w="0">
            <a:solidFill>
              <a:srgbClr val="092A3D"/>
            </a:solidFill>
            <a:prstDash val="solid"/>
          </a:ln>
        </p:spPr>
        <p:txBody>
          <a:bodyPr/>
          <a:lstStyle/>
          <a:p>
            <a:endParaRPr lang="en-IQ"/>
          </a:p>
        </p:txBody>
      </p:sp>
      <p:sp>
        <p:nvSpPr>
          <p:cNvPr id="7" name="Rectangle 6">
            <a:extLst>
              <a:ext uri="{FF2B5EF4-FFF2-40B4-BE49-F238E27FC236}">
                <a16:creationId xmlns:a16="http://schemas.microsoft.com/office/drawing/2014/main" id="{DA74F910-874D-4F35-8C3D-7AFD40E7A08A}"/>
              </a:ext>
            </a:extLst>
          </p:cNvPr>
          <p:cNvSpPr>
            <a:spLocks noGrp="1"/>
          </p:cNvSpPr>
          <p:nvPr/>
        </p:nvSpPr>
        <p:spPr>
          <a:xfrm>
            <a:off x="828675" y="1819275"/>
            <a:ext cx="1390650" cy="419100"/>
          </a:xfrm>
          <a:prstGeom prst="rect">
            <a:avLst/>
          </a:prstGeom>
          <a:noFill/>
          <a:ln w="0">
            <a:noFill/>
            <a:prstDash val="solid"/>
          </a:ln>
        </p:spPr>
        <p:txBody>
          <a:bodyPr anchor="ctr"/>
          <a:lstStyle/>
          <a:p>
            <a:pPr algn="ctr">
              <a:defRPr sz="1350" b="1">
                <a:solidFill>
                  <a:srgbClr val="FFFFFF"/>
                </a:solidFill>
              </a:defRPr>
            </a:pPr>
            <a:r>
              <a:rPr sz="1350" b="1">
                <a:solidFill>
                  <a:srgbClr val="FFFFFF"/>
                </a:solidFill>
              </a:rPr>
              <a:t>Budget</a:t>
            </a:r>
          </a:p>
        </p:txBody>
      </p:sp>
      <p:sp>
        <p:nvSpPr>
          <p:cNvPr id="8" name="Rectangle 7">
            <a:extLst>
              <a:ext uri="{FF2B5EF4-FFF2-40B4-BE49-F238E27FC236}">
                <a16:creationId xmlns:a16="http://schemas.microsoft.com/office/drawing/2014/main" id="{A915A914-9752-45ED-837E-36A2B16A2985}"/>
              </a:ext>
            </a:extLst>
          </p:cNvPr>
          <p:cNvSpPr>
            <a:spLocks noGrp="1"/>
          </p:cNvSpPr>
          <p:nvPr/>
        </p:nvSpPr>
        <p:spPr>
          <a:xfrm>
            <a:off x="2286000" y="1762125"/>
            <a:ext cx="1809750" cy="533400"/>
          </a:xfrm>
          <a:prstGeom prst="rect">
            <a:avLst/>
          </a:prstGeom>
          <a:solidFill>
            <a:srgbClr val="092A3D"/>
          </a:solidFill>
          <a:ln w="0">
            <a:solidFill>
              <a:srgbClr val="092A3D"/>
            </a:solidFill>
            <a:prstDash val="solid"/>
          </a:ln>
        </p:spPr>
        <p:txBody>
          <a:bodyPr/>
          <a:lstStyle/>
          <a:p>
            <a:endParaRPr lang="en-IQ"/>
          </a:p>
        </p:txBody>
      </p:sp>
      <p:sp>
        <p:nvSpPr>
          <p:cNvPr id="9" name="Rectangle 8">
            <a:extLst>
              <a:ext uri="{FF2B5EF4-FFF2-40B4-BE49-F238E27FC236}">
                <a16:creationId xmlns:a16="http://schemas.microsoft.com/office/drawing/2014/main" id="{11C59412-1EEB-4DE5-9B4C-2436D22D0770}"/>
              </a:ext>
            </a:extLst>
          </p:cNvPr>
          <p:cNvSpPr>
            <a:spLocks noGrp="1"/>
          </p:cNvSpPr>
          <p:nvPr/>
        </p:nvSpPr>
        <p:spPr>
          <a:xfrm>
            <a:off x="2352675" y="1819275"/>
            <a:ext cx="1676400" cy="419100"/>
          </a:xfrm>
          <a:prstGeom prst="rect">
            <a:avLst/>
          </a:prstGeom>
          <a:noFill/>
          <a:ln w="0">
            <a:noFill/>
            <a:prstDash val="solid"/>
          </a:ln>
        </p:spPr>
        <p:txBody>
          <a:bodyPr anchor="ctr"/>
          <a:lstStyle/>
          <a:p>
            <a:pPr algn="ctr">
              <a:defRPr sz="1350" b="1">
                <a:solidFill>
                  <a:srgbClr val="FFFFFF"/>
                </a:solidFill>
              </a:defRPr>
            </a:pPr>
            <a:r>
              <a:rPr sz="1350" b="1">
                <a:solidFill>
                  <a:srgbClr val="FFFFFF"/>
                </a:solidFill>
              </a:rPr>
              <a:t>Feasible runs</a:t>
            </a:r>
          </a:p>
        </p:txBody>
      </p:sp>
      <p:sp>
        <p:nvSpPr>
          <p:cNvPr id="10" name="Rectangle 9">
            <a:extLst>
              <a:ext uri="{FF2B5EF4-FFF2-40B4-BE49-F238E27FC236}">
                <a16:creationId xmlns:a16="http://schemas.microsoft.com/office/drawing/2014/main" id="{9D14D407-C54D-44F2-BB6A-DEBE92CE6B0E}"/>
              </a:ext>
            </a:extLst>
          </p:cNvPr>
          <p:cNvSpPr>
            <a:spLocks noGrp="1"/>
          </p:cNvSpPr>
          <p:nvPr/>
        </p:nvSpPr>
        <p:spPr>
          <a:xfrm>
            <a:off x="4095750" y="1762125"/>
            <a:ext cx="1238250" cy="533400"/>
          </a:xfrm>
          <a:prstGeom prst="rect">
            <a:avLst/>
          </a:prstGeom>
          <a:solidFill>
            <a:srgbClr val="092A3D"/>
          </a:solidFill>
          <a:ln w="0">
            <a:solidFill>
              <a:srgbClr val="092A3D"/>
            </a:solidFill>
            <a:prstDash val="solid"/>
          </a:ln>
        </p:spPr>
        <p:txBody>
          <a:bodyPr/>
          <a:lstStyle/>
          <a:p>
            <a:endParaRPr lang="en-IQ"/>
          </a:p>
        </p:txBody>
      </p:sp>
      <p:sp>
        <p:nvSpPr>
          <p:cNvPr id="11" name="Rectangle 10">
            <a:extLst>
              <a:ext uri="{FF2B5EF4-FFF2-40B4-BE49-F238E27FC236}">
                <a16:creationId xmlns:a16="http://schemas.microsoft.com/office/drawing/2014/main" id="{C1519C58-8ABC-41DA-9FCE-5EAD7536E481}"/>
              </a:ext>
            </a:extLst>
          </p:cNvPr>
          <p:cNvSpPr>
            <a:spLocks noGrp="1"/>
          </p:cNvSpPr>
          <p:nvPr/>
        </p:nvSpPr>
        <p:spPr>
          <a:xfrm>
            <a:off x="4162425" y="1819275"/>
            <a:ext cx="1104900" cy="419100"/>
          </a:xfrm>
          <a:prstGeom prst="rect">
            <a:avLst/>
          </a:prstGeom>
          <a:noFill/>
          <a:ln w="0">
            <a:noFill/>
            <a:prstDash val="solid"/>
          </a:ln>
        </p:spPr>
        <p:txBody>
          <a:bodyPr anchor="ctr"/>
          <a:lstStyle/>
          <a:p>
            <a:pPr algn="ctr">
              <a:defRPr sz="1350" b="1">
                <a:solidFill>
                  <a:srgbClr val="FFFFFF"/>
                </a:solidFill>
              </a:defRPr>
            </a:pPr>
            <a:r>
              <a:rPr sz="1350" b="1">
                <a:solidFill>
                  <a:srgbClr val="FFFFFF"/>
                </a:solidFill>
              </a:rPr>
              <a:t>Best</a:t>
            </a:r>
          </a:p>
        </p:txBody>
      </p:sp>
      <p:sp>
        <p:nvSpPr>
          <p:cNvPr id="12" name="Rectangle 11">
            <a:extLst>
              <a:ext uri="{FF2B5EF4-FFF2-40B4-BE49-F238E27FC236}">
                <a16:creationId xmlns:a16="http://schemas.microsoft.com/office/drawing/2014/main" id="{B1E0EF39-8C82-4E9B-9049-2EF7AA374AF9}"/>
              </a:ext>
            </a:extLst>
          </p:cNvPr>
          <p:cNvSpPr>
            <a:spLocks noGrp="1"/>
          </p:cNvSpPr>
          <p:nvPr/>
        </p:nvSpPr>
        <p:spPr>
          <a:xfrm>
            <a:off x="5334000" y="1762125"/>
            <a:ext cx="1619250" cy="533400"/>
          </a:xfrm>
          <a:prstGeom prst="rect">
            <a:avLst/>
          </a:prstGeom>
          <a:solidFill>
            <a:srgbClr val="092A3D"/>
          </a:solidFill>
          <a:ln w="0">
            <a:solidFill>
              <a:srgbClr val="092A3D"/>
            </a:solidFill>
            <a:prstDash val="solid"/>
          </a:ln>
        </p:spPr>
        <p:txBody>
          <a:bodyPr/>
          <a:lstStyle/>
          <a:p>
            <a:endParaRPr lang="en-IQ"/>
          </a:p>
        </p:txBody>
      </p:sp>
      <p:sp>
        <p:nvSpPr>
          <p:cNvPr id="13" name="Rectangle 12">
            <a:extLst>
              <a:ext uri="{FF2B5EF4-FFF2-40B4-BE49-F238E27FC236}">
                <a16:creationId xmlns:a16="http://schemas.microsoft.com/office/drawing/2014/main" id="{F9CC9A84-28D6-4CC4-90BA-BF5B32BA7FC8}"/>
              </a:ext>
            </a:extLst>
          </p:cNvPr>
          <p:cNvSpPr>
            <a:spLocks noGrp="1"/>
          </p:cNvSpPr>
          <p:nvPr/>
        </p:nvSpPr>
        <p:spPr>
          <a:xfrm>
            <a:off x="5400675" y="1819275"/>
            <a:ext cx="1485900" cy="419100"/>
          </a:xfrm>
          <a:prstGeom prst="rect">
            <a:avLst/>
          </a:prstGeom>
          <a:noFill/>
          <a:ln w="0">
            <a:noFill/>
            <a:prstDash val="solid"/>
          </a:ln>
        </p:spPr>
        <p:txBody>
          <a:bodyPr anchor="ctr"/>
          <a:lstStyle/>
          <a:p>
            <a:pPr algn="ctr">
              <a:defRPr sz="1350" b="1">
                <a:solidFill>
                  <a:srgbClr val="FFFFFF"/>
                </a:solidFill>
              </a:defRPr>
            </a:pPr>
            <a:r>
              <a:rPr sz="1350" b="1">
                <a:solidFill>
                  <a:srgbClr val="FFFFFF"/>
                </a:solidFill>
              </a:rPr>
              <a:t>Mean</a:t>
            </a:r>
          </a:p>
        </p:txBody>
      </p:sp>
      <p:sp>
        <p:nvSpPr>
          <p:cNvPr id="14" name="Rectangle 13">
            <a:extLst>
              <a:ext uri="{FF2B5EF4-FFF2-40B4-BE49-F238E27FC236}">
                <a16:creationId xmlns:a16="http://schemas.microsoft.com/office/drawing/2014/main" id="{053406EF-38DE-4806-9EDC-65E9CAD84414}"/>
              </a:ext>
            </a:extLst>
          </p:cNvPr>
          <p:cNvSpPr>
            <a:spLocks noGrp="1"/>
          </p:cNvSpPr>
          <p:nvPr/>
        </p:nvSpPr>
        <p:spPr>
          <a:xfrm>
            <a:off x="6953250" y="1762125"/>
            <a:ext cx="1524000" cy="533400"/>
          </a:xfrm>
          <a:prstGeom prst="rect">
            <a:avLst/>
          </a:prstGeom>
          <a:solidFill>
            <a:srgbClr val="092A3D"/>
          </a:solidFill>
          <a:ln w="0">
            <a:solidFill>
              <a:srgbClr val="092A3D"/>
            </a:solidFill>
            <a:prstDash val="solid"/>
          </a:ln>
        </p:spPr>
        <p:txBody>
          <a:bodyPr/>
          <a:lstStyle/>
          <a:p>
            <a:endParaRPr lang="en-IQ"/>
          </a:p>
        </p:txBody>
      </p:sp>
      <p:sp>
        <p:nvSpPr>
          <p:cNvPr id="15" name="Rectangle 14">
            <a:extLst>
              <a:ext uri="{FF2B5EF4-FFF2-40B4-BE49-F238E27FC236}">
                <a16:creationId xmlns:a16="http://schemas.microsoft.com/office/drawing/2014/main" id="{0D8FF2C8-4657-41A8-967C-C1DFF129D53A}"/>
              </a:ext>
            </a:extLst>
          </p:cNvPr>
          <p:cNvSpPr>
            <a:spLocks noGrp="1"/>
          </p:cNvSpPr>
          <p:nvPr/>
        </p:nvSpPr>
        <p:spPr>
          <a:xfrm>
            <a:off x="7019925" y="1819275"/>
            <a:ext cx="1390650" cy="419100"/>
          </a:xfrm>
          <a:prstGeom prst="rect">
            <a:avLst/>
          </a:prstGeom>
          <a:noFill/>
          <a:ln w="0">
            <a:noFill/>
            <a:prstDash val="solid"/>
          </a:ln>
        </p:spPr>
        <p:txBody>
          <a:bodyPr anchor="ctr"/>
          <a:lstStyle/>
          <a:p>
            <a:pPr algn="ctr">
              <a:defRPr sz="1350" b="1">
                <a:solidFill>
                  <a:srgbClr val="FFFFFF"/>
                </a:solidFill>
              </a:defRPr>
            </a:pPr>
            <a:r>
              <a:rPr sz="1350" b="1">
                <a:solidFill>
                  <a:srgbClr val="FFFFFF"/>
                </a:solidFill>
              </a:rPr>
              <a:t>Median</a:t>
            </a:r>
          </a:p>
        </p:txBody>
      </p:sp>
      <p:sp>
        <p:nvSpPr>
          <p:cNvPr id="16" name="Rectangle 15">
            <a:extLst>
              <a:ext uri="{FF2B5EF4-FFF2-40B4-BE49-F238E27FC236}">
                <a16:creationId xmlns:a16="http://schemas.microsoft.com/office/drawing/2014/main" id="{7E5D6453-6A19-4A4E-830D-C9880F7C9AD9}"/>
              </a:ext>
            </a:extLst>
          </p:cNvPr>
          <p:cNvSpPr>
            <a:spLocks noGrp="1"/>
          </p:cNvSpPr>
          <p:nvPr/>
        </p:nvSpPr>
        <p:spPr>
          <a:xfrm>
            <a:off x="8477250" y="1762125"/>
            <a:ext cx="1428750" cy="533400"/>
          </a:xfrm>
          <a:prstGeom prst="rect">
            <a:avLst/>
          </a:prstGeom>
          <a:solidFill>
            <a:srgbClr val="092A3D"/>
          </a:solidFill>
          <a:ln w="0">
            <a:solidFill>
              <a:srgbClr val="092A3D"/>
            </a:solidFill>
            <a:prstDash val="solid"/>
          </a:ln>
        </p:spPr>
        <p:txBody>
          <a:bodyPr/>
          <a:lstStyle/>
          <a:p>
            <a:endParaRPr lang="en-IQ"/>
          </a:p>
        </p:txBody>
      </p:sp>
      <p:sp>
        <p:nvSpPr>
          <p:cNvPr id="17" name="Rectangle 16">
            <a:extLst>
              <a:ext uri="{FF2B5EF4-FFF2-40B4-BE49-F238E27FC236}">
                <a16:creationId xmlns:a16="http://schemas.microsoft.com/office/drawing/2014/main" id="{8E614E8F-50B0-48DC-AB7B-43DC8984CD65}"/>
              </a:ext>
            </a:extLst>
          </p:cNvPr>
          <p:cNvSpPr>
            <a:spLocks noGrp="1"/>
          </p:cNvSpPr>
          <p:nvPr/>
        </p:nvSpPr>
        <p:spPr>
          <a:xfrm>
            <a:off x="8543925" y="1819275"/>
            <a:ext cx="1295400" cy="419100"/>
          </a:xfrm>
          <a:prstGeom prst="rect">
            <a:avLst/>
          </a:prstGeom>
          <a:noFill/>
          <a:ln w="0">
            <a:noFill/>
            <a:prstDash val="solid"/>
          </a:ln>
        </p:spPr>
        <p:txBody>
          <a:bodyPr anchor="ctr"/>
          <a:lstStyle/>
          <a:p>
            <a:pPr algn="ctr">
              <a:defRPr sz="1350" b="1">
                <a:solidFill>
                  <a:srgbClr val="FFFFFF"/>
                </a:solidFill>
              </a:defRPr>
            </a:pPr>
            <a:r>
              <a:rPr sz="1350" b="1">
                <a:solidFill>
                  <a:srgbClr val="FFFFFF"/>
                </a:solidFill>
              </a:rPr>
              <a:t>Worst</a:t>
            </a:r>
          </a:p>
        </p:txBody>
      </p:sp>
      <p:sp>
        <p:nvSpPr>
          <p:cNvPr id="18" name="Rectangle 17">
            <a:extLst>
              <a:ext uri="{FF2B5EF4-FFF2-40B4-BE49-F238E27FC236}">
                <a16:creationId xmlns:a16="http://schemas.microsoft.com/office/drawing/2014/main" id="{F6748920-717F-45F0-8394-567774D78A84}"/>
              </a:ext>
            </a:extLst>
          </p:cNvPr>
          <p:cNvSpPr>
            <a:spLocks noGrp="1"/>
          </p:cNvSpPr>
          <p:nvPr/>
        </p:nvSpPr>
        <p:spPr>
          <a:xfrm>
            <a:off x="9906000" y="1762125"/>
            <a:ext cx="1428750" cy="533400"/>
          </a:xfrm>
          <a:prstGeom prst="rect">
            <a:avLst/>
          </a:prstGeom>
          <a:solidFill>
            <a:srgbClr val="092A3D"/>
          </a:solidFill>
          <a:ln w="0">
            <a:solidFill>
              <a:srgbClr val="092A3D"/>
            </a:solidFill>
            <a:prstDash val="solid"/>
          </a:ln>
        </p:spPr>
        <p:txBody>
          <a:bodyPr/>
          <a:lstStyle/>
          <a:p>
            <a:endParaRPr lang="en-IQ"/>
          </a:p>
        </p:txBody>
      </p:sp>
      <p:sp>
        <p:nvSpPr>
          <p:cNvPr id="19" name="Rectangle 18">
            <a:extLst>
              <a:ext uri="{FF2B5EF4-FFF2-40B4-BE49-F238E27FC236}">
                <a16:creationId xmlns:a16="http://schemas.microsoft.com/office/drawing/2014/main" id="{6EFAAD32-718B-4B52-96CB-355B5EA16DF1}"/>
              </a:ext>
            </a:extLst>
          </p:cNvPr>
          <p:cNvSpPr>
            <a:spLocks noGrp="1"/>
          </p:cNvSpPr>
          <p:nvPr/>
        </p:nvSpPr>
        <p:spPr>
          <a:xfrm>
            <a:off x="9972675" y="1819275"/>
            <a:ext cx="1295400" cy="419100"/>
          </a:xfrm>
          <a:prstGeom prst="rect">
            <a:avLst/>
          </a:prstGeom>
          <a:noFill/>
          <a:ln w="0">
            <a:noFill/>
            <a:prstDash val="solid"/>
          </a:ln>
        </p:spPr>
        <p:txBody>
          <a:bodyPr anchor="ctr"/>
          <a:lstStyle/>
          <a:p>
            <a:pPr algn="ctr">
              <a:defRPr sz="1350" b="1">
                <a:solidFill>
                  <a:srgbClr val="FFFFFF"/>
                </a:solidFill>
              </a:defRPr>
            </a:pPr>
            <a:r>
              <a:rPr sz="1350" b="1">
                <a:solidFill>
                  <a:srgbClr val="FFFFFF"/>
                </a:solidFill>
              </a:rPr>
              <a:t>SD</a:t>
            </a:r>
          </a:p>
        </p:txBody>
      </p:sp>
      <p:sp>
        <p:nvSpPr>
          <p:cNvPr id="20" name="Rectangle 19">
            <a:extLst>
              <a:ext uri="{FF2B5EF4-FFF2-40B4-BE49-F238E27FC236}">
                <a16:creationId xmlns:a16="http://schemas.microsoft.com/office/drawing/2014/main" id="{7846220D-0B8E-4985-8C47-4870C2EBE38C}"/>
              </a:ext>
            </a:extLst>
          </p:cNvPr>
          <p:cNvSpPr>
            <a:spLocks noGrp="1"/>
          </p:cNvSpPr>
          <p:nvPr/>
        </p:nvSpPr>
        <p:spPr>
          <a:xfrm>
            <a:off x="762000" y="2295525"/>
            <a:ext cx="1524000" cy="742950"/>
          </a:xfrm>
          <a:prstGeom prst="rect">
            <a:avLst/>
          </a:prstGeom>
          <a:solidFill>
            <a:srgbClr val="E9EEEC"/>
          </a:solidFill>
          <a:ln w="9525">
            <a:solidFill>
              <a:srgbClr val="CED9DB"/>
            </a:solidFill>
            <a:prstDash val="solid"/>
          </a:ln>
        </p:spPr>
        <p:txBody>
          <a:bodyPr/>
          <a:lstStyle/>
          <a:p>
            <a:endParaRPr lang="en-IQ"/>
          </a:p>
        </p:txBody>
      </p:sp>
      <p:sp>
        <p:nvSpPr>
          <p:cNvPr id="21" name="Rectangle 20">
            <a:extLst>
              <a:ext uri="{FF2B5EF4-FFF2-40B4-BE49-F238E27FC236}">
                <a16:creationId xmlns:a16="http://schemas.microsoft.com/office/drawing/2014/main" id="{918A6EE0-BF1C-4B2B-AF06-AE42CDB17894}"/>
              </a:ext>
            </a:extLst>
          </p:cNvPr>
          <p:cNvSpPr>
            <a:spLocks noGrp="1"/>
          </p:cNvSpPr>
          <p:nvPr/>
        </p:nvSpPr>
        <p:spPr>
          <a:xfrm>
            <a:off x="828675" y="2333625"/>
            <a:ext cx="1390650" cy="666750"/>
          </a:xfrm>
          <a:prstGeom prst="rect">
            <a:avLst/>
          </a:prstGeom>
          <a:noFill/>
          <a:ln w="0">
            <a:noFill/>
            <a:prstDash val="solid"/>
          </a:ln>
        </p:spPr>
        <p:txBody>
          <a:bodyPr anchor="ctr"/>
          <a:lstStyle/>
          <a:p>
            <a:pPr algn="ctr">
              <a:defRPr sz="1350" b="1">
                <a:solidFill>
                  <a:srgbClr val="0B9B91"/>
                </a:solidFill>
              </a:defRPr>
            </a:pPr>
            <a:r>
              <a:rPr sz="1350" b="1">
                <a:solidFill>
                  <a:srgbClr val="0B9B91"/>
                </a:solidFill>
              </a:rPr>
              <a:t>10</a:t>
            </a:r>
          </a:p>
        </p:txBody>
      </p:sp>
      <p:sp>
        <p:nvSpPr>
          <p:cNvPr id="22" name="Rectangle 21">
            <a:extLst>
              <a:ext uri="{FF2B5EF4-FFF2-40B4-BE49-F238E27FC236}">
                <a16:creationId xmlns:a16="http://schemas.microsoft.com/office/drawing/2014/main" id="{374B3706-9AA9-4B8F-ABA0-4C49DD0F8528}"/>
              </a:ext>
            </a:extLst>
          </p:cNvPr>
          <p:cNvSpPr>
            <a:spLocks noGrp="1"/>
          </p:cNvSpPr>
          <p:nvPr/>
        </p:nvSpPr>
        <p:spPr>
          <a:xfrm>
            <a:off x="2286000" y="2295525"/>
            <a:ext cx="1809750" cy="742950"/>
          </a:xfrm>
          <a:prstGeom prst="rect">
            <a:avLst/>
          </a:prstGeom>
          <a:solidFill>
            <a:srgbClr val="E9EEEC"/>
          </a:solidFill>
          <a:ln w="9525">
            <a:solidFill>
              <a:srgbClr val="CED9DB"/>
            </a:solidFill>
            <a:prstDash val="solid"/>
          </a:ln>
        </p:spPr>
        <p:txBody>
          <a:bodyPr/>
          <a:lstStyle/>
          <a:p>
            <a:endParaRPr lang="en-IQ"/>
          </a:p>
        </p:txBody>
      </p:sp>
      <p:sp>
        <p:nvSpPr>
          <p:cNvPr id="23" name="Rectangle 22">
            <a:extLst>
              <a:ext uri="{FF2B5EF4-FFF2-40B4-BE49-F238E27FC236}">
                <a16:creationId xmlns:a16="http://schemas.microsoft.com/office/drawing/2014/main" id="{A02A1463-1257-4250-87BA-9A3DD989CF30}"/>
              </a:ext>
            </a:extLst>
          </p:cNvPr>
          <p:cNvSpPr>
            <a:spLocks noGrp="1"/>
          </p:cNvSpPr>
          <p:nvPr/>
        </p:nvSpPr>
        <p:spPr>
          <a:xfrm>
            <a:off x="2352675" y="2333625"/>
            <a:ext cx="1676400" cy="6667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23 / 30</a:t>
            </a:r>
          </a:p>
        </p:txBody>
      </p:sp>
      <p:sp>
        <p:nvSpPr>
          <p:cNvPr id="24" name="Rectangle 23">
            <a:extLst>
              <a:ext uri="{FF2B5EF4-FFF2-40B4-BE49-F238E27FC236}">
                <a16:creationId xmlns:a16="http://schemas.microsoft.com/office/drawing/2014/main" id="{FC200441-2B75-4E7D-A201-073C0655214B}"/>
              </a:ext>
            </a:extLst>
          </p:cNvPr>
          <p:cNvSpPr>
            <a:spLocks noGrp="1"/>
          </p:cNvSpPr>
          <p:nvPr/>
        </p:nvSpPr>
        <p:spPr>
          <a:xfrm>
            <a:off x="4095750" y="2295525"/>
            <a:ext cx="1238250" cy="742950"/>
          </a:xfrm>
          <a:prstGeom prst="rect">
            <a:avLst/>
          </a:prstGeom>
          <a:solidFill>
            <a:srgbClr val="E9EEEC"/>
          </a:solidFill>
          <a:ln w="9525">
            <a:solidFill>
              <a:srgbClr val="CED9DB"/>
            </a:solidFill>
            <a:prstDash val="solid"/>
          </a:ln>
        </p:spPr>
        <p:txBody>
          <a:bodyPr/>
          <a:lstStyle/>
          <a:p>
            <a:endParaRPr lang="en-IQ"/>
          </a:p>
        </p:txBody>
      </p:sp>
      <p:sp>
        <p:nvSpPr>
          <p:cNvPr id="25" name="Rectangle 24">
            <a:extLst>
              <a:ext uri="{FF2B5EF4-FFF2-40B4-BE49-F238E27FC236}">
                <a16:creationId xmlns:a16="http://schemas.microsoft.com/office/drawing/2014/main" id="{CE872A1B-2D7E-4EA8-8FBA-09ADD1BE4612}"/>
              </a:ext>
            </a:extLst>
          </p:cNvPr>
          <p:cNvSpPr>
            <a:spLocks noGrp="1"/>
          </p:cNvSpPr>
          <p:nvPr/>
        </p:nvSpPr>
        <p:spPr>
          <a:xfrm>
            <a:off x="4162425" y="2333625"/>
            <a:ext cx="1104900" cy="6667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57</a:t>
            </a:r>
          </a:p>
        </p:txBody>
      </p:sp>
      <p:sp>
        <p:nvSpPr>
          <p:cNvPr id="26" name="Rectangle 25">
            <a:extLst>
              <a:ext uri="{FF2B5EF4-FFF2-40B4-BE49-F238E27FC236}">
                <a16:creationId xmlns:a16="http://schemas.microsoft.com/office/drawing/2014/main" id="{937E9717-7448-4708-B970-EF17B62BDD8D}"/>
              </a:ext>
            </a:extLst>
          </p:cNvPr>
          <p:cNvSpPr>
            <a:spLocks noGrp="1"/>
          </p:cNvSpPr>
          <p:nvPr/>
        </p:nvSpPr>
        <p:spPr>
          <a:xfrm>
            <a:off x="5334000" y="2295525"/>
            <a:ext cx="1619250" cy="742950"/>
          </a:xfrm>
          <a:prstGeom prst="rect">
            <a:avLst/>
          </a:prstGeom>
          <a:solidFill>
            <a:srgbClr val="E9EEEC"/>
          </a:solidFill>
          <a:ln w="9525">
            <a:solidFill>
              <a:srgbClr val="CED9DB"/>
            </a:solidFill>
            <a:prstDash val="solid"/>
          </a:ln>
        </p:spPr>
        <p:txBody>
          <a:bodyPr/>
          <a:lstStyle/>
          <a:p>
            <a:endParaRPr lang="en-IQ"/>
          </a:p>
        </p:txBody>
      </p:sp>
      <p:sp>
        <p:nvSpPr>
          <p:cNvPr id="27" name="Rectangle 26">
            <a:extLst>
              <a:ext uri="{FF2B5EF4-FFF2-40B4-BE49-F238E27FC236}">
                <a16:creationId xmlns:a16="http://schemas.microsoft.com/office/drawing/2014/main" id="{3BCAC983-49DB-4BB3-AA51-3D548D8F09A6}"/>
              </a:ext>
            </a:extLst>
          </p:cNvPr>
          <p:cNvSpPr>
            <a:spLocks noGrp="1"/>
          </p:cNvSpPr>
          <p:nvPr/>
        </p:nvSpPr>
        <p:spPr>
          <a:xfrm>
            <a:off x="5400675" y="2333625"/>
            <a:ext cx="1485900" cy="6667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69.61</a:t>
            </a:r>
          </a:p>
        </p:txBody>
      </p:sp>
      <p:sp>
        <p:nvSpPr>
          <p:cNvPr id="28" name="Rectangle 27">
            <a:extLst>
              <a:ext uri="{FF2B5EF4-FFF2-40B4-BE49-F238E27FC236}">
                <a16:creationId xmlns:a16="http://schemas.microsoft.com/office/drawing/2014/main" id="{909D3775-9C01-4CDF-9B43-B5591E4F769E}"/>
              </a:ext>
            </a:extLst>
          </p:cNvPr>
          <p:cNvSpPr>
            <a:spLocks noGrp="1"/>
          </p:cNvSpPr>
          <p:nvPr/>
        </p:nvSpPr>
        <p:spPr>
          <a:xfrm>
            <a:off x="6953250" y="2295525"/>
            <a:ext cx="1524000" cy="742950"/>
          </a:xfrm>
          <a:prstGeom prst="rect">
            <a:avLst/>
          </a:prstGeom>
          <a:solidFill>
            <a:srgbClr val="E9EEEC"/>
          </a:solidFill>
          <a:ln w="9525">
            <a:solidFill>
              <a:srgbClr val="CED9DB"/>
            </a:solidFill>
            <a:prstDash val="solid"/>
          </a:ln>
        </p:spPr>
        <p:txBody>
          <a:bodyPr/>
          <a:lstStyle/>
          <a:p>
            <a:endParaRPr lang="en-IQ"/>
          </a:p>
        </p:txBody>
      </p:sp>
      <p:sp>
        <p:nvSpPr>
          <p:cNvPr id="29" name="Rectangle 28">
            <a:extLst>
              <a:ext uri="{FF2B5EF4-FFF2-40B4-BE49-F238E27FC236}">
                <a16:creationId xmlns:a16="http://schemas.microsoft.com/office/drawing/2014/main" id="{0AFBB5FA-63B2-4F49-9BC0-FB641DAD40BA}"/>
              </a:ext>
            </a:extLst>
          </p:cNvPr>
          <p:cNvSpPr>
            <a:spLocks noGrp="1"/>
          </p:cNvSpPr>
          <p:nvPr/>
        </p:nvSpPr>
        <p:spPr>
          <a:xfrm>
            <a:off x="7019925" y="2333625"/>
            <a:ext cx="1390650" cy="6667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69</a:t>
            </a:r>
          </a:p>
        </p:txBody>
      </p:sp>
      <p:sp>
        <p:nvSpPr>
          <p:cNvPr id="30" name="Rectangle 29">
            <a:extLst>
              <a:ext uri="{FF2B5EF4-FFF2-40B4-BE49-F238E27FC236}">
                <a16:creationId xmlns:a16="http://schemas.microsoft.com/office/drawing/2014/main" id="{62B1EA59-CE7F-407F-A01C-8F43DA356578}"/>
              </a:ext>
            </a:extLst>
          </p:cNvPr>
          <p:cNvSpPr>
            <a:spLocks noGrp="1"/>
          </p:cNvSpPr>
          <p:nvPr/>
        </p:nvSpPr>
        <p:spPr>
          <a:xfrm>
            <a:off x="8477250" y="2295525"/>
            <a:ext cx="1428750" cy="742950"/>
          </a:xfrm>
          <a:prstGeom prst="rect">
            <a:avLst/>
          </a:prstGeom>
          <a:solidFill>
            <a:srgbClr val="E9EEEC"/>
          </a:solidFill>
          <a:ln w="9525">
            <a:solidFill>
              <a:srgbClr val="CED9DB"/>
            </a:solidFill>
            <a:prstDash val="solid"/>
          </a:ln>
        </p:spPr>
        <p:txBody>
          <a:bodyPr/>
          <a:lstStyle/>
          <a:p>
            <a:endParaRPr lang="en-IQ"/>
          </a:p>
        </p:txBody>
      </p:sp>
      <p:sp>
        <p:nvSpPr>
          <p:cNvPr id="31" name="Rectangle 30">
            <a:extLst>
              <a:ext uri="{FF2B5EF4-FFF2-40B4-BE49-F238E27FC236}">
                <a16:creationId xmlns:a16="http://schemas.microsoft.com/office/drawing/2014/main" id="{180B8946-13E4-4EE0-AF03-5B7C5183CB69}"/>
              </a:ext>
            </a:extLst>
          </p:cNvPr>
          <p:cNvSpPr>
            <a:spLocks noGrp="1"/>
          </p:cNvSpPr>
          <p:nvPr/>
        </p:nvSpPr>
        <p:spPr>
          <a:xfrm>
            <a:off x="8543925" y="2333625"/>
            <a:ext cx="1295400" cy="6667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82</a:t>
            </a:r>
          </a:p>
        </p:txBody>
      </p:sp>
      <p:sp>
        <p:nvSpPr>
          <p:cNvPr id="32" name="Rectangle 31">
            <a:extLst>
              <a:ext uri="{FF2B5EF4-FFF2-40B4-BE49-F238E27FC236}">
                <a16:creationId xmlns:a16="http://schemas.microsoft.com/office/drawing/2014/main" id="{EECA1D41-0899-46A7-B718-F520A4E3142C}"/>
              </a:ext>
            </a:extLst>
          </p:cNvPr>
          <p:cNvSpPr>
            <a:spLocks noGrp="1"/>
          </p:cNvSpPr>
          <p:nvPr/>
        </p:nvSpPr>
        <p:spPr>
          <a:xfrm>
            <a:off x="9906000" y="2295525"/>
            <a:ext cx="1428750" cy="742950"/>
          </a:xfrm>
          <a:prstGeom prst="rect">
            <a:avLst/>
          </a:prstGeom>
          <a:solidFill>
            <a:srgbClr val="E9EEEC"/>
          </a:solidFill>
          <a:ln w="9525">
            <a:solidFill>
              <a:srgbClr val="CED9DB"/>
            </a:solidFill>
            <a:prstDash val="solid"/>
          </a:ln>
        </p:spPr>
        <p:txBody>
          <a:bodyPr/>
          <a:lstStyle/>
          <a:p>
            <a:endParaRPr lang="en-IQ"/>
          </a:p>
        </p:txBody>
      </p:sp>
      <p:sp>
        <p:nvSpPr>
          <p:cNvPr id="33" name="Rectangle 32">
            <a:extLst>
              <a:ext uri="{FF2B5EF4-FFF2-40B4-BE49-F238E27FC236}">
                <a16:creationId xmlns:a16="http://schemas.microsoft.com/office/drawing/2014/main" id="{42C5FC6F-7521-45FC-B350-68CD49F298B9}"/>
              </a:ext>
            </a:extLst>
          </p:cNvPr>
          <p:cNvSpPr>
            <a:spLocks noGrp="1"/>
          </p:cNvSpPr>
          <p:nvPr/>
        </p:nvSpPr>
        <p:spPr>
          <a:xfrm>
            <a:off x="9972675" y="2333625"/>
            <a:ext cx="1295400" cy="6667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6.82</a:t>
            </a:r>
          </a:p>
        </p:txBody>
      </p:sp>
      <p:sp>
        <p:nvSpPr>
          <p:cNvPr id="34" name="Rectangle 33">
            <a:extLst>
              <a:ext uri="{FF2B5EF4-FFF2-40B4-BE49-F238E27FC236}">
                <a16:creationId xmlns:a16="http://schemas.microsoft.com/office/drawing/2014/main" id="{C81D4C6A-2093-4675-956C-B423B728BBBA}"/>
              </a:ext>
            </a:extLst>
          </p:cNvPr>
          <p:cNvSpPr>
            <a:spLocks noGrp="1"/>
          </p:cNvSpPr>
          <p:nvPr/>
        </p:nvSpPr>
        <p:spPr>
          <a:xfrm>
            <a:off x="762000" y="3038475"/>
            <a:ext cx="1524000" cy="742950"/>
          </a:xfrm>
          <a:prstGeom prst="rect">
            <a:avLst/>
          </a:prstGeom>
          <a:solidFill>
            <a:srgbClr val="FFFFFF"/>
          </a:solidFill>
          <a:ln w="9525">
            <a:solidFill>
              <a:srgbClr val="CED9DB"/>
            </a:solidFill>
            <a:prstDash val="solid"/>
          </a:ln>
        </p:spPr>
        <p:txBody>
          <a:bodyPr/>
          <a:lstStyle/>
          <a:p>
            <a:endParaRPr lang="en-IQ"/>
          </a:p>
        </p:txBody>
      </p:sp>
      <p:sp>
        <p:nvSpPr>
          <p:cNvPr id="35" name="Rectangle 34">
            <a:extLst>
              <a:ext uri="{FF2B5EF4-FFF2-40B4-BE49-F238E27FC236}">
                <a16:creationId xmlns:a16="http://schemas.microsoft.com/office/drawing/2014/main" id="{0D4521DC-CCE9-4A71-8292-D7B58A929CFB}"/>
              </a:ext>
            </a:extLst>
          </p:cNvPr>
          <p:cNvSpPr>
            <a:spLocks noGrp="1"/>
          </p:cNvSpPr>
          <p:nvPr/>
        </p:nvSpPr>
        <p:spPr>
          <a:xfrm>
            <a:off x="828675" y="3076575"/>
            <a:ext cx="1390650" cy="666750"/>
          </a:xfrm>
          <a:prstGeom prst="rect">
            <a:avLst/>
          </a:prstGeom>
          <a:noFill/>
          <a:ln w="0">
            <a:noFill/>
            <a:prstDash val="solid"/>
          </a:ln>
        </p:spPr>
        <p:txBody>
          <a:bodyPr anchor="ctr"/>
          <a:lstStyle/>
          <a:p>
            <a:pPr algn="ctr">
              <a:defRPr sz="1350" b="1">
                <a:solidFill>
                  <a:srgbClr val="0B9B91"/>
                </a:solidFill>
              </a:defRPr>
            </a:pPr>
            <a:r>
              <a:rPr sz="1350" b="1">
                <a:solidFill>
                  <a:srgbClr val="0B9B91"/>
                </a:solidFill>
              </a:rPr>
              <a:t>100</a:t>
            </a:r>
          </a:p>
        </p:txBody>
      </p:sp>
      <p:sp>
        <p:nvSpPr>
          <p:cNvPr id="36" name="Rectangle 35">
            <a:extLst>
              <a:ext uri="{FF2B5EF4-FFF2-40B4-BE49-F238E27FC236}">
                <a16:creationId xmlns:a16="http://schemas.microsoft.com/office/drawing/2014/main" id="{143F01BB-567E-484B-A913-0DDCF662EF60}"/>
              </a:ext>
            </a:extLst>
          </p:cNvPr>
          <p:cNvSpPr>
            <a:spLocks noGrp="1"/>
          </p:cNvSpPr>
          <p:nvPr/>
        </p:nvSpPr>
        <p:spPr>
          <a:xfrm>
            <a:off x="2286000" y="3038475"/>
            <a:ext cx="1809750" cy="742950"/>
          </a:xfrm>
          <a:prstGeom prst="rect">
            <a:avLst/>
          </a:prstGeom>
          <a:solidFill>
            <a:srgbClr val="FFFFFF"/>
          </a:solidFill>
          <a:ln w="9525">
            <a:solidFill>
              <a:srgbClr val="CED9DB"/>
            </a:solidFill>
            <a:prstDash val="solid"/>
          </a:ln>
        </p:spPr>
        <p:txBody>
          <a:bodyPr/>
          <a:lstStyle/>
          <a:p>
            <a:endParaRPr lang="en-IQ"/>
          </a:p>
        </p:txBody>
      </p:sp>
      <p:sp>
        <p:nvSpPr>
          <p:cNvPr id="37" name="Rectangle 36">
            <a:extLst>
              <a:ext uri="{FF2B5EF4-FFF2-40B4-BE49-F238E27FC236}">
                <a16:creationId xmlns:a16="http://schemas.microsoft.com/office/drawing/2014/main" id="{935B0C01-006E-46CF-AB7D-5737114B8DD3}"/>
              </a:ext>
            </a:extLst>
          </p:cNvPr>
          <p:cNvSpPr>
            <a:spLocks noGrp="1"/>
          </p:cNvSpPr>
          <p:nvPr/>
        </p:nvSpPr>
        <p:spPr>
          <a:xfrm>
            <a:off x="2352675" y="3076575"/>
            <a:ext cx="1676400" cy="6667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30 / 30</a:t>
            </a:r>
          </a:p>
        </p:txBody>
      </p:sp>
      <p:sp>
        <p:nvSpPr>
          <p:cNvPr id="38" name="Rectangle 37">
            <a:extLst>
              <a:ext uri="{FF2B5EF4-FFF2-40B4-BE49-F238E27FC236}">
                <a16:creationId xmlns:a16="http://schemas.microsoft.com/office/drawing/2014/main" id="{72A10329-A3D0-474B-A1C5-AC21521CBC52}"/>
              </a:ext>
            </a:extLst>
          </p:cNvPr>
          <p:cNvSpPr>
            <a:spLocks noGrp="1"/>
          </p:cNvSpPr>
          <p:nvPr/>
        </p:nvSpPr>
        <p:spPr>
          <a:xfrm>
            <a:off x="4095750" y="3038475"/>
            <a:ext cx="1238250" cy="742950"/>
          </a:xfrm>
          <a:prstGeom prst="rect">
            <a:avLst/>
          </a:prstGeom>
          <a:solidFill>
            <a:srgbClr val="FFFFFF"/>
          </a:solidFill>
          <a:ln w="9525">
            <a:solidFill>
              <a:srgbClr val="CED9DB"/>
            </a:solidFill>
            <a:prstDash val="solid"/>
          </a:ln>
        </p:spPr>
        <p:txBody>
          <a:bodyPr/>
          <a:lstStyle/>
          <a:p>
            <a:endParaRPr lang="en-IQ"/>
          </a:p>
        </p:txBody>
      </p:sp>
      <p:sp>
        <p:nvSpPr>
          <p:cNvPr id="39" name="Rectangle 38">
            <a:extLst>
              <a:ext uri="{FF2B5EF4-FFF2-40B4-BE49-F238E27FC236}">
                <a16:creationId xmlns:a16="http://schemas.microsoft.com/office/drawing/2014/main" id="{6C605E1C-3698-4AF6-9FE3-D57EC680E312}"/>
              </a:ext>
            </a:extLst>
          </p:cNvPr>
          <p:cNvSpPr>
            <a:spLocks noGrp="1"/>
          </p:cNvSpPr>
          <p:nvPr/>
        </p:nvSpPr>
        <p:spPr>
          <a:xfrm>
            <a:off x="4162425" y="3076575"/>
            <a:ext cx="1104900" cy="6667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52</a:t>
            </a:r>
          </a:p>
        </p:txBody>
      </p:sp>
      <p:sp>
        <p:nvSpPr>
          <p:cNvPr id="40" name="Rectangle 39">
            <a:extLst>
              <a:ext uri="{FF2B5EF4-FFF2-40B4-BE49-F238E27FC236}">
                <a16:creationId xmlns:a16="http://schemas.microsoft.com/office/drawing/2014/main" id="{911A75ED-8634-4B81-AB5E-3081BE395653}"/>
              </a:ext>
            </a:extLst>
          </p:cNvPr>
          <p:cNvSpPr>
            <a:spLocks noGrp="1"/>
          </p:cNvSpPr>
          <p:nvPr/>
        </p:nvSpPr>
        <p:spPr>
          <a:xfrm>
            <a:off x="5334000" y="3038475"/>
            <a:ext cx="1619250" cy="742950"/>
          </a:xfrm>
          <a:prstGeom prst="rect">
            <a:avLst/>
          </a:prstGeom>
          <a:solidFill>
            <a:srgbClr val="FFFFFF"/>
          </a:solidFill>
          <a:ln w="9525">
            <a:solidFill>
              <a:srgbClr val="CED9DB"/>
            </a:solidFill>
            <a:prstDash val="solid"/>
          </a:ln>
        </p:spPr>
        <p:txBody>
          <a:bodyPr/>
          <a:lstStyle/>
          <a:p>
            <a:endParaRPr lang="en-IQ"/>
          </a:p>
        </p:txBody>
      </p:sp>
      <p:sp>
        <p:nvSpPr>
          <p:cNvPr id="41" name="Rectangle 40">
            <a:extLst>
              <a:ext uri="{FF2B5EF4-FFF2-40B4-BE49-F238E27FC236}">
                <a16:creationId xmlns:a16="http://schemas.microsoft.com/office/drawing/2014/main" id="{B71A067F-E672-4432-B3ED-4D3DF0CC81BD}"/>
              </a:ext>
            </a:extLst>
          </p:cNvPr>
          <p:cNvSpPr>
            <a:spLocks noGrp="1"/>
          </p:cNvSpPr>
          <p:nvPr/>
        </p:nvSpPr>
        <p:spPr>
          <a:xfrm>
            <a:off x="5400675" y="3076575"/>
            <a:ext cx="1485900" cy="6667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60.83</a:t>
            </a:r>
          </a:p>
        </p:txBody>
      </p:sp>
      <p:sp>
        <p:nvSpPr>
          <p:cNvPr id="42" name="Rectangle 41">
            <a:extLst>
              <a:ext uri="{FF2B5EF4-FFF2-40B4-BE49-F238E27FC236}">
                <a16:creationId xmlns:a16="http://schemas.microsoft.com/office/drawing/2014/main" id="{0DD4B812-A9E1-4FE8-9924-C530A42A2D79}"/>
              </a:ext>
            </a:extLst>
          </p:cNvPr>
          <p:cNvSpPr>
            <a:spLocks noGrp="1"/>
          </p:cNvSpPr>
          <p:nvPr/>
        </p:nvSpPr>
        <p:spPr>
          <a:xfrm>
            <a:off x="6953250" y="3038475"/>
            <a:ext cx="1524000" cy="742950"/>
          </a:xfrm>
          <a:prstGeom prst="rect">
            <a:avLst/>
          </a:prstGeom>
          <a:solidFill>
            <a:srgbClr val="FFFFFF"/>
          </a:solidFill>
          <a:ln w="9525">
            <a:solidFill>
              <a:srgbClr val="CED9DB"/>
            </a:solidFill>
            <a:prstDash val="solid"/>
          </a:ln>
        </p:spPr>
        <p:txBody>
          <a:bodyPr/>
          <a:lstStyle/>
          <a:p>
            <a:endParaRPr lang="en-IQ"/>
          </a:p>
        </p:txBody>
      </p:sp>
      <p:sp>
        <p:nvSpPr>
          <p:cNvPr id="43" name="Rectangle 42">
            <a:extLst>
              <a:ext uri="{FF2B5EF4-FFF2-40B4-BE49-F238E27FC236}">
                <a16:creationId xmlns:a16="http://schemas.microsoft.com/office/drawing/2014/main" id="{74AFBBB6-A4BC-4CDD-BAD2-F9CEDAF91D39}"/>
              </a:ext>
            </a:extLst>
          </p:cNvPr>
          <p:cNvSpPr>
            <a:spLocks noGrp="1"/>
          </p:cNvSpPr>
          <p:nvPr/>
        </p:nvSpPr>
        <p:spPr>
          <a:xfrm>
            <a:off x="7019925" y="3076575"/>
            <a:ext cx="1390650" cy="6667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60</a:t>
            </a:r>
          </a:p>
        </p:txBody>
      </p:sp>
      <p:sp>
        <p:nvSpPr>
          <p:cNvPr id="44" name="Rectangle 43">
            <a:extLst>
              <a:ext uri="{FF2B5EF4-FFF2-40B4-BE49-F238E27FC236}">
                <a16:creationId xmlns:a16="http://schemas.microsoft.com/office/drawing/2014/main" id="{C196A933-092E-40C9-9493-88E7781DA836}"/>
              </a:ext>
            </a:extLst>
          </p:cNvPr>
          <p:cNvSpPr>
            <a:spLocks noGrp="1"/>
          </p:cNvSpPr>
          <p:nvPr/>
        </p:nvSpPr>
        <p:spPr>
          <a:xfrm>
            <a:off x="8477250" y="3038475"/>
            <a:ext cx="1428750" cy="742950"/>
          </a:xfrm>
          <a:prstGeom prst="rect">
            <a:avLst/>
          </a:prstGeom>
          <a:solidFill>
            <a:srgbClr val="FFFFFF"/>
          </a:solidFill>
          <a:ln w="9525">
            <a:solidFill>
              <a:srgbClr val="CED9DB"/>
            </a:solidFill>
            <a:prstDash val="solid"/>
          </a:ln>
        </p:spPr>
        <p:txBody>
          <a:bodyPr/>
          <a:lstStyle/>
          <a:p>
            <a:endParaRPr lang="en-IQ"/>
          </a:p>
        </p:txBody>
      </p:sp>
      <p:sp>
        <p:nvSpPr>
          <p:cNvPr id="45" name="Rectangle 44">
            <a:extLst>
              <a:ext uri="{FF2B5EF4-FFF2-40B4-BE49-F238E27FC236}">
                <a16:creationId xmlns:a16="http://schemas.microsoft.com/office/drawing/2014/main" id="{8EEB7773-7F0B-44B9-B9E3-2F2674040C50}"/>
              </a:ext>
            </a:extLst>
          </p:cNvPr>
          <p:cNvSpPr>
            <a:spLocks noGrp="1"/>
          </p:cNvSpPr>
          <p:nvPr/>
        </p:nvSpPr>
        <p:spPr>
          <a:xfrm>
            <a:off x="8543925" y="3076575"/>
            <a:ext cx="1295400" cy="6667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66</a:t>
            </a:r>
          </a:p>
        </p:txBody>
      </p:sp>
      <p:sp>
        <p:nvSpPr>
          <p:cNvPr id="46" name="Rectangle 45">
            <a:extLst>
              <a:ext uri="{FF2B5EF4-FFF2-40B4-BE49-F238E27FC236}">
                <a16:creationId xmlns:a16="http://schemas.microsoft.com/office/drawing/2014/main" id="{B80CFA5C-8064-4D69-A8F6-A3F630C902F2}"/>
              </a:ext>
            </a:extLst>
          </p:cNvPr>
          <p:cNvSpPr>
            <a:spLocks noGrp="1"/>
          </p:cNvSpPr>
          <p:nvPr/>
        </p:nvSpPr>
        <p:spPr>
          <a:xfrm>
            <a:off x="9906000" y="3038475"/>
            <a:ext cx="1428750" cy="742950"/>
          </a:xfrm>
          <a:prstGeom prst="rect">
            <a:avLst/>
          </a:prstGeom>
          <a:solidFill>
            <a:srgbClr val="FFFFFF"/>
          </a:solidFill>
          <a:ln w="9525">
            <a:solidFill>
              <a:srgbClr val="CED9DB"/>
            </a:solidFill>
            <a:prstDash val="solid"/>
          </a:ln>
        </p:spPr>
        <p:txBody>
          <a:bodyPr/>
          <a:lstStyle/>
          <a:p>
            <a:endParaRPr lang="en-IQ"/>
          </a:p>
        </p:txBody>
      </p:sp>
      <p:sp>
        <p:nvSpPr>
          <p:cNvPr id="47" name="Rectangle 46">
            <a:extLst>
              <a:ext uri="{FF2B5EF4-FFF2-40B4-BE49-F238E27FC236}">
                <a16:creationId xmlns:a16="http://schemas.microsoft.com/office/drawing/2014/main" id="{C759B8E4-FA6A-44A8-9388-260638D4DD06}"/>
              </a:ext>
            </a:extLst>
          </p:cNvPr>
          <p:cNvSpPr>
            <a:spLocks noGrp="1"/>
          </p:cNvSpPr>
          <p:nvPr/>
        </p:nvSpPr>
        <p:spPr>
          <a:xfrm>
            <a:off x="9972675" y="3076575"/>
            <a:ext cx="1295400" cy="6667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3.24</a:t>
            </a:r>
          </a:p>
        </p:txBody>
      </p:sp>
      <p:sp>
        <p:nvSpPr>
          <p:cNvPr id="48" name="Rectangle 47">
            <a:extLst>
              <a:ext uri="{FF2B5EF4-FFF2-40B4-BE49-F238E27FC236}">
                <a16:creationId xmlns:a16="http://schemas.microsoft.com/office/drawing/2014/main" id="{C7D374BC-6BEB-47A1-852C-D28D98CC4194}"/>
              </a:ext>
            </a:extLst>
          </p:cNvPr>
          <p:cNvSpPr>
            <a:spLocks noGrp="1"/>
          </p:cNvSpPr>
          <p:nvPr/>
        </p:nvSpPr>
        <p:spPr>
          <a:xfrm>
            <a:off x="762000" y="3781425"/>
            <a:ext cx="1524000" cy="742950"/>
          </a:xfrm>
          <a:prstGeom prst="rect">
            <a:avLst/>
          </a:prstGeom>
          <a:solidFill>
            <a:srgbClr val="E9EEEC"/>
          </a:solidFill>
          <a:ln w="9525">
            <a:solidFill>
              <a:srgbClr val="CED9DB"/>
            </a:solidFill>
            <a:prstDash val="solid"/>
          </a:ln>
        </p:spPr>
        <p:txBody>
          <a:bodyPr/>
          <a:lstStyle/>
          <a:p>
            <a:endParaRPr lang="en-IQ"/>
          </a:p>
        </p:txBody>
      </p:sp>
      <p:sp>
        <p:nvSpPr>
          <p:cNvPr id="49" name="Rectangle 48">
            <a:extLst>
              <a:ext uri="{FF2B5EF4-FFF2-40B4-BE49-F238E27FC236}">
                <a16:creationId xmlns:a16="http://schemas.microsoft.com/office/drawing/2014/main" id="{E1CFC11A-12C2-4BB6-917C-103B36E89100}"/>
              </a:ext>
            </a:extLst>
          </p:cNvPr>
          <p:cNvSpPr>
            <a:spLocks noGrp="1"/>
          </p:cNvSpPr>
          <p:nvPr/>
        </p:nvSpPr>
        <p:spPr>
          <a:xfrm>
            <a:off x="828675" y="3819525"/>
            <a:ext cx="1390650" cy="666750"/>
          </a:xfrm>
          <a:prstGeom prst="rect">
            <a:avLst/>
          </a:prstGeom>
          <a:noFill/>
          <a:ln w="0">
            <a:noFill/>
            <a:prstDash val="solid"/>
          </a:ln>
        </p:spPr>
        <p:txBody>
          <a:bodyPr anchor="ctr"/>
          <a:lstStyle/>
          <a:p>
            <a:pPr algn="ctr">
              <a:defRPr sz="1350" b="1">
                <a:solidFill>
                  <a:srgbClr val="0B9B91"/>
                </a:solidFill>
              </a:defRPr>
            </a:pPr>
            <a:r>
              <a:rPr sz="1350" b="1">
                <a:solidFill>
                  <a:srgbClr val="0B9B91"/>
                </a:solidFill>
              </a:rPr>
              <a:t>1000</a:t>
            </a:r>
          </a:p>
        </p:txBody>
      </p:sp>
      <p:sp>
        <p:nvSpPr>
          <p:cNvPr id="50" name="Rectangle 49">
            <a:extLst>
              <a:ext uri="{FF2B5EF4-FFF2-40B4-BE49-F238E27FC236}">
                <a16:creationId xmlns:a16="http://schemas.microsoft.com/office/drawing/2014/main" id="{2547071A-5AFE-4B96-B828-EEFA7AB87E25}"/>
              </a:ext>
            </a:extLst>
          </p:cNvPr>
          <p:cNvSpPr>
            <a:spLocks noGrp="1"/>
          </p:cNvSpPr>
          <p:nvPr/>
        </p:nvSpPr>
        <p:spPr>
          <a:xfrm>
            <a:off x="2286000" y="3781425"/>
            <a:ext cx="1809750" cy="742950"/>
          </a:xfrm>
          <a:prstGeom prst="rect">
            <a:avLst/>
          </a:prstGeom>
          <a:solidFill>
            <a:srgbClr val="E9EEEC"/>
          </a:solidFill>
          <a:ln w="9525">
            <a:solidFill>
              <a:srgbClr val="CED9DB"/>
            </a:solidFill>
            <a:prstDash val="solid"/>
          </a:ln>
        </p:spPr>
        <p:txBody>
          <a:bodyPr/>
          <a:lstStyle/>
          <a:p>
            <a:endParaRPr lang="en-IQ"/>
          </a:p>
        </p:txBody>
      </p:sp>
      <p:sp>
        <p:nvSpPr>
          <p:cNvPr id="51" name="Rectangle 50">
            <a:extLst>
              <a:ext uri="{FF2B5EF4-FFF2-40B4-BE49-F238E27FC236}">
                <a16:creationId xmlns:a16="http://schemas.microsoft.com/office/drawing/2014/main" id="{0AA30B9D-1166-4D09-88AA-4686842B3441}"/>
              </a:ext>
            </a:extLst>
          </p:cNvPr>
          <p:cNvSpPr>
            <a:spLocks noGrp="1"/>
          </p:cNvSpPr>
          <p:nvPr/>
        </p:nvSpPr>
        <p:spPr>
          <a:xfrm>
            <a:off x="2352675" y="3819525"/>
            <a:ext cx="1676400" cy="6667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30 / 30</a:t>
            </a:r>
          </a:p>
        </p:txBody>
      </p:sp>
      <p:sp>
        <p:nvSpPr>
          <p:cNvPr id="52" name="Rectangle 51">
            <a:extLst>
              <a:ext uri="{FF2B5EF4-FFF2-40B4-BE49-F238E27FC236}">
                <a16:creationId xmlns:a16="http://schemas.microsoft.com/office/drawing/2014/main" id="{2E50DB14-7355-4763-B516-43F88A4BE045}"/>
              </a:ext>
            </a:extLst>
          </p:cNvPr>
          <p:cNvSpPr>
            <a:spLocks noGrp="1"/>
          </p:cNvSpPr>
          <p:nvPr/>
        </p:nvSpPr>
        <p:spPr>
          <a:xfrm>
            <a:off x="4095750" y="3781425"/>
            <a:ext cx="1238250" cy="742950"/>
          </a:xfrm>
          <a:prstGeom prst="rect">
            <a:avLst/>
          </a:prstGeom>
          <a:solidFill>
            <a:srgbClr val="E9EEEC"/>
          </a:solidFill>
          <a:ln w="9525">
            <a:solidFill>
              <a:srgbClr val="CED9DB"/>
            </a:solidFill>
            <a:prstDash val="solid"/>
          </a:ln>
        </p:spPr>
        <p:txBody>
          <a:bodyPr/>
          <a:lstStyle/>
          <a:p>
            <a:endParaRPr lang="en-IQ"/>
          </a:p>
        </p:txBody>
      </p:sp>
      <p:sp>
        <p:nvSpPr>
          <p:cNvPr id="53" name="Rectangle 52">
            <a:extLst>
              <a:ext uri="{FF2B5EF4-FFF2-40B4-BE49-F238E27FC236}">
                <a16:creationId xmlns:a16="http://schemas.microsoft.com/office/drawing/2014/main" id="{674F5179-61FD-4166-996E-4BFC1EEA0DF2}"/>
              </a:ext>
            </a:extLst>
          </p:cNvPr>
          <p:cNvSpPr>
            <a:spLocks noGrp="1"/>
          </p:cNvSpPr>
          <p:nvPr/>
        </p:nvSpPr>
        <p:spPr>
          <a:xfrm>
            <a:off x="4162425" y="3819525"/>
            <a:ext cx="1104900" cy="6667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52</a:t>
            </a:r>
          </a:p>
        </p:txBody>
      </p:sp>
      <p:sp>
        <p:nvSpPr>
          <p:cNvPr id="54" name="Rectangle 53">
            <a:extLst>
              <a:ext uri="{FF2B5EF4-FFF2-40B4-BE49-F238E27FC236}">
                <a16:creationId xmlns:a16="http://schemas.microsoft.com/office/drawing/2014/main" id="{02BC679C-01F3-4C78-9387-03271A2FABF4}"/>
              </a:ext>
            </a:extLst>
          </p:cNvPr>
          <p:cNvSpPr>
            <a:spLocks noGrp="1"/>
          </p:cNvSpPr>
          <p:nvPr/>
        </p:nvSpPr>
        <p:spPr>
          <a:xfrm>
            <a:off x="5334000" y="3781425"/>
            <a:ext cx="1619250" cy="742950"/>
          </a:xfrm>
          <a:prstGeom prst="rect">
            <a:avLst/>
          </a:prstGeom>
          <a:solidFill>
            <a:srgbClr val="E9EEEC"/>
          </a:solidFill>
          <a:ln w="9525">
            <a:solidFill>
              <a:srgbClr val="CED9DB"/>
            </a:solidFill>
            <a:prstDash val="solid"/>
          </a:ln>
        </p:spPr>
        <p:txBody>
          <a:bodyPr/>
          <a:lstStyle/>
          <a:p>
            <a:endParaRPr lang="en-IQ"/>
          </a:p>
        </p:txBody>
      </p:sp>
      <p:sp>
        <p:nvSpPr>
          <p:cNvPr id="55" name="Rectangle 54">
            <a:extLst>
              <a:ext uri="{FF2B5EF4-FFF2-40B4-BE49-F238E27FC236}">
                <a16:creationId xmlns:a16="http://schemas.microsoft.com/office/drawing/2014/main" id="{94E0D815-F606-482D-AD38-72AE502D87A4}"/>
              </a:ext>
            </a:extLst>
          </p:cNvPr>
          <p:cNvSpPr>
            <a:spLocks noGrp="1"/>
          </p:cNvSpPr>
          <p:nvPr/>
        </p:nvSpPr>
        <p:spPr>
          <a:xfrm>
            <a:off x="5400675" y="3819525"/>
            <a:ext cx="1485900" cy="6667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56.07</a:t>
            </a:r>
          </a:p>
        </p:txBody>
      </p:sp>
      <p:sp>
        <p:nvSpPr>
          <p:cNvPr id="56" name="Rectangle 55">
            <a:extLst>
              <a:ext uri="{FF2B5EF4-FFF2-40B4-BE49-F238E27FC236}">
                <a16:creationId xmlns:a16="http://schemas.microsoft.com/office/drawing/2014/main" id="{B4A33ACA-7CD8-4B2B-8DEF-895F97FF9464}"/>
              </a:ext>
            </a:extLst>
          </p:cNvPr>
          <p:cNvSpPr>
            <a:spLocks noGrp="1"/>
          </p:cNvSpPr>
          <p:nvPr/>
        </p:nvSpPr>
        <p:spPr>
          <a:xfrm>
            <a:off x="6953250" y="3781425"/>
            <a:ext cx="1524000" cy="742950"/>
          </a:xfrm>
          <a:prstGeom prst="rect">
            <a:avLst/>
          </a:prstGeom>
          <a:solidFill>
            <a:srgbClr val="E9EEEC"/>
          </a:solidFill>
          <a:ln w="9525">
            <a:solidFill>
              <a:srgbClr val="CED9DB"/>
            </a:solidFill>
            <a:prstDash val="solid"/>
          </a:ln>
        </p:spPr>
        <p:txBody>
          <a:bodyPr/>
          <a:lstStyle/>
          <a:p>
            <a:endParaRPr lang="en-IQ"/>
          </a:p>
        </p:txBody>
      </p:sp>
      <p:sp>
        <p:nvSpPr>
          <p:cNvPr id="57" name="Rectangle 56">
            <a:extLst>
              <a:ext uri="{FF2B5EF4-FFF2-40B4-BE49-F238E27FC236}">
                <a16:creationId xmlns:a16="http://schemas.microsoft.com/office/drawing/2014/main" id="{E6AFDD0D-F9D0-4F74-B865-9BA7DC16ED47}"/>
              </a:ext>
            </a:extLst>
          </p:cNvPr>
          <p:cNvSpPr>
            <a:spLocks noGrp="1"/>
          </p:cNvSpPr>
          <p:nvPr/>
        </p:nvSpPr>
        <p:spPr>
          <a:xfrm>
            <a:off x="7019925" y="3819525"/>
            <a:ext cx="1390650" cy="6667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56</a:t>
            </a:r>
          </a:p>
        </p:txBody>
      </p:sp>
      <p:sp>
        <p:nvSpPr>
          <p:cNvPr id="58" name="Rectangle 57">
            <a:extLst>
              <a:ext uri="{FF2B5EF4-FFF2-40B4-BE49-F238E27FC236}">
                <a16:creationId xmlns:a16="http://schemas.microsoft.com/office/drawing/2014/main" id="{32C3C424-87E3-4347-A73F-CFF45EA13347}"/>
              </a:ext>
            </a:extLst>
          </p:cNvPr>
          <p:cNvSpPr>
            <a:spLocks noGrp="1"/>
          </p:cNvSpPr>
          <p:nvPr/>
        </p:nvSpPr>
        <p:spPr>
          <a:xfrm>
            <a:off x="8477250" y="3781425"/>
            <a:ext cx="1428750" cy="742950"/>
          </a:xfrm>
          <a:prstGeom prst="rect">
            <a:avLst/>
          </a:prstGeom>
          <a:solidFill>
            <a:srgbClr val="E9EEEC"/>
          </a:solidFill>
          <a:ln w="9525">
            <a:solidFill>
              <a:srgbClr val="CED9DB"/>
            </a:solidFill>
            <a:prstDash val="solid"/>
          </a:ln>
        </p:spPr>
        <p:txBody>
          <a:bodyPr/>
          <a:lstStyle/>
          <a:p>
            <a:endParaRPr lang="en-IQ"/>
          </a:p>
        </p:txBody>
      </p:sp>
      <p:sp>
        <p:nvSpPr>
          <p:cNvPr id="59" name="Rectangle 58">
            <a:extLst>
              <a:ext uri="{FF2B5EF4-FFF2-40B4-BE49-F238E27FC236}">
                <a16:creationId xmlns:a16="http://schemas.microsoft.com/office/drawing/2014/main" id="{3CA01F03-B444-48C2-8937-D401A3C65180}"/>
              </a:ext>
            </a:extLst>
          </p:cNvPr>
          <p:cNvSpPr>
            <a:spLocks noGrp="1"/>
          </p:cNvSpPr>
          <p:nvPr/>
        </p:nvSpPr>
        <p:spPr>
          <a:xfrm>
            <a:off x="8543925" y="3819525"/>
            <a:ext cx="1295400" cy="6667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60</a:t>
            </a:r>
          </a:p>
        </p:txBody>
      </p:sp>
      <p:sp>
        <p:nvSpPr>
          <p:cNvPr id="60" name="Rectangle 59">
            <a:extLst>
              <a:ext uri="{FF2B5EF4-FFF2-40B4-BE49-F238E27FC236}">
                <a16:creationId xmlns:a16="http://schemas.microsoft.com/office/drawing/2014/main" id="{D7AFFB51-8801-41EF-84C6-24B1745A543F}"/>
              </a:ext>
            </a:extLst>
          </p:cNvPr>
          <p:cNvSpPr>
            <a:spLocks noGrp="1"/>
          </p:cNvSpPr>
          <p:nvPr/>
        </p:nvSpPr>
        <p:spPr>
          <a:xfrm>
            <a:off x="9906000" y="3781425"/>
            <a:ext cx="1428750" cy="742950"/>
          </a:xfrm>
          <a:prstGeom prst="rect">
            <a:avLst/>
          </a:prstGeom>
          <a:solidFill>
            <a:srgbClr val="E9EEEC"/>
          </a:solidFill>
          <a:ln w="9525">
            <a:solidFill>
              <a:srgbClr val="CED9DB"/>
            </a:solidFill>
            <a:prstDash val="solid"/>
          </a:ln>
        </p:spPr>
        <p:txBody>
          <a:bodyPr/>
          <a:lstStyle/>
          <a:p>
            <a:endParaRPr lang="en-IQ"/>
          </a:p>
        </p:txBody>
      </p:sp>
      <p:sp>
        <p:nvSpPr>
          <p:cNvPr id="61" name="Rectangle 60">
            <a:extLst>
              <a:ext uri="{FF2B5EF4-FFF2-40B4-BE49-F238E27FC236}">
                <a16:creationId xmlns:a16="http://schemas.microsoft.com/office/drawing/2014/main" id="{24D085E9-F98A-4D52-983F-EF24BE25D778}"/>
              </a:ext>
            </a:extLst>
          </p:cNvPr>
          <p:cNvSpPr>
            <a:spLocks noGrp="1"/>
          </p:cNvSpPr>
          <p:nvPr/>
        </p:nvSpPr>
        <p:spPr>
          <a:xfrm>
            <a:off x="9972675" y="3819525"/>
            <a:ext cx="1295400" cy="6667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2.45</a:t>
            </a:r>
          </a:p>
        </p:txBody>
      </p:sp>
      <p:sp>
        <p:nvSpPr>
          <p:cNvPr id="62" name="Rectangle 61">
            <a:extLst>
              <a:ext uri="{FF2B5EF4-FFF2-40B4-BE49-F238E27FC236}">
                <a16:creationId xmlns:a16="http://schemas.microsoft.com/office/drawing/2014/main" id="{3A4163EF-04F9-4423-8B91-8731671B4272}"/>
              </a:ext>
            </a:extLst>
          </p:cNvPr>
          <p:cNvSpPr>
            <a:spLocks noGrp="1"/>
          </p:cNvSpPr>
          <p:nvPr/>
        </p:nvSpPr>
        <p:spPr>
          <a:xfrm>
            <a:off x="762000" y="4524375"/>
            <a:ext cx="1524000" cy="742950"/>
          </a:xfrm>
          <a:prstGeom prst="rect">
            <a:avLst/>
          </a:prstGeom>
          <a:solidFill>
            <a:srgbClr val="FFFFFF"/>
          </a:solidFill>
          <a:ln w="9525">
            <a:solidFill>
              <a:srgbClr val="CED9DB"/>
            </a:solidFill>
            <a:prstDash val="solid"/>
          </a:ln>
        </p:spPr>
        <p:txBody>
          <a:bodyPr/>
          <a:lstStyle/>
          <a:p>
            <a:endParaRPr lang="en-IQ"/>
          </a:p>
        </p:txBody>
      </p:sp>
      <p:sp>
        <p:nvSpPr>
          <p:cNvPr id="63" name="Rectangle 62">
            <a:extLst>
              <a:ext uri="{FF2B5EF4-FFF2-40B4-BE49-F238E27FC236}">
                <a16:creationId xmlns:a16="http://schemas.microsoft.com/office/drawing/2014/main" id="{E91913EB-3156-411A-AB8F-281207EE20AC}"/>
              </a:ext>
            </a:extLst>
          </p:cNvPr>
          <p:cNvSpPr>
            <a:spLocks noGrp="1"/>
          </p:cNvSpPr>
          <p:nvPr/>
        </p:nvSpPr>
        <p:spPr>
          <a:xfrm>
            <a:off x="828675" y="4562475"/>
            <a:ext cx="1390650" cy="666750"/>
          </a:xfrm>
          <a:prstGeom prst="rect">
            <a:avLst/>
          </a:prstGeom>
          <a:noFill/>
          <a:ln w="0">
            <a:noFill/>
            <a:prstDash val="solid"/>
          </a:ln>
        </p:spPr>
        <p:txBody>
          <a:bodyPr anchor="ctr"/>
          <a:lstStyle/>
          <a:p>
            <a:pPr algn="ctr">
              <a:defRPr sz="1350" b="1">
                <a:solidFill>
                  <a:srgbClr val="0B9B91"/>
                </a:solidFill>
              </a:defRPr>
            </a:pPr>
            <a:r>
              <a:rPr sz="1350" b="1">
                <a:solidFill>
                  <a:srgbClr val="0B9B91"/>
                </a:solidFill>
              </a:rPr>
              <a:t>5000</a:t>
            </a:r>
          </a:p>
        </p:txBody>
      </p:sp>
      <p:sp>
        <p:nvSpPr>
          <p:cNvPr id="64" name="Rectangle 63">
            <a:extLst>
              <a:ext uri="{FF2B5EF4-FFF2-40B4-BE49-F238E27FC236}">
                <a16:creationId xmlns:a16="http://schemas.microsoft.com/office/drawing/2014/main" id="{DA096E86-BF7A-43DC-A637-F4A50F2CEA27}"/>
              </a:ext>
            </a:extLst>
          </p:cNvPr>
          <p:cNvSpPr>
            <a:spLocks noGrp="1"/>
          </p:cNvSpPr>
          <p:nvPr/>
        </p:nvSpPr>
        <p:spPr>
          <a:xfrm>
            <a:off x="2286000" y="4524375"/>
            <a:ext cx="1809750" cy="742950"/>
          </a:xfrm>
          <a:prstGeom prst="rect">
            <a:avLst/>
          </a:prstGeom>
          <a:solidFill>
            <a:srgbClr val="FFFFFF"/>
          </a:solidFill>
          <a:ln w="9525">
            <a:solidFill>
              <a:srgbClr val="CED9DB"/>
            </a:solidFill>
            <a:prstDash val="solid"/>
          </a:ln>
        </p:spPr>
        <p:txBody>
          <a:bodyPr/>
          <a:lstStyle/>
          <a:p>
            <a:endParaRPr lang="en-IQ"/>
          </a:p>
        </p:txBody>
      </p:sp>
      <p:sp>
        <p:nvSpPr>
          <p:cNvPr id="65" name="Rectangle 64">
            <a:extLst>
              <a:ext uri="{FF2B5EF4-FFF2-40B4-BE49-F238E27FC236}">
                <a16:creationId xmlns:a16="http://schemas.microsoft.com/office/drawing/2014/main" id="{5F005810-E77D-41DD-ADC2-320610C17F2F}"/>
              </a:ext>
            </a:extLst>
          </p:cNvPr>
          <p:cNvSpPr>
            <a:spLocks noGrp="1"/>
          </p:cNvSpPr>
          <p:nvPr/>
        </p:nvSpPr>
        <p:spPr>
          <a:xfrm>
            <a:off x="2352675" y="4562475"/>
            <a:ext cx="1676400" cy="6667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30 / 30</a:t>
            </a:r>
          </a:p>
        </p:txBody>
      </p:sp>
      <p:sp>
        <p:nvSpPr>
          <p:cNvPr id="66" name="Rectangle 65">
            <a:extLst>
              <a:ext uri="{FF2B5EF4-FFF2-40B4-BE49-F238E27FC236}">
                <a16:creationId xmlns:a16="http://schemas.microsoft.com/office/drawing/2014/main" id="{AE1849ED-427F-41BF-BDF4-07DF82969932}"/>
              </a:ext>
            </a:extLst>
          </p:cNvPr>
          <p:cNvSpPr>
            <a:spLocks noGrp="1"/>
          </p:cNvSpPr>
          <p:nvPr/>
        </p:nvSpPr>
        <p:spPr>
          <a:xfrm>
            <a:off x="4095750" y="4524375"/>
            <a:ext cx="1238250" cy="742950"/>
          </a:xfrm>
          <a:prstGeom prst="rect">
            <a:avLst/>
          </a:prstGeom>
          <a:solidFill>
            <a:srgbClr val="FFFFFF"/>
          </a:solidFill>
          <a:ln w="9525">
            <a:solidFill>
              <a:srgbClr val="CED9DB"/>
            </a:solidFill>
            <a:prstDash val="solid"/>
          </a:ln>
        </p:spPr>
        <p:txBody>
          <a:bodyPr/>
          <a:lstStyle/>
          <a:p>
            <a:endParaRPr lang="en-IQ"/>
          </a:p>
        </p:txBody>
      </p:sp>
      <p:sp>
        <p:nvSpPr>
          <p:cNvPr id="67" name="Rectangle 66">
            <a:extLst>
              <a:ext uri="{FF2B5EF4-FFF2-40B4-BE49-F238E27FC236}">
                <a16:creationId xmlns:a16="http://schemas.microsoft.com/office/drawing/2014/main" id="{EB9146ED-5D2F-4F86-B073-8C6263352735}"/>
              </a:ext>
            </a:extLst>
          </p:cNvPr>
          <p:cNvSpPr>
            <a:spLocks noGrp="1"/>
          </p:cNvSpPr>
          <p:nvPr/>
        </p:nvSpPr>
        <p:spPr>
          <a:xfrm>
            <a:off x="4162425" y="4562475"/>
            <a:ext cx="1104900" cy="6667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52</a:t>
            </a:r>
          </a:p>
        </p:txBody>
      </p:sp>
      <p:sp>
        <p:nvSpPr>
          <p:cNvPr id="68" name="Rectangle 67">
            <a:extLst>
              <a:ext uri="{FF2B5EF4-FFF2-40B4-BE49-F238E27FC236}">
                <a16:creationId xmlns:a16="http://schemas.microsoft.com/office/drawing/2014/main" id="{A88A2392-1DDD-4328-831F-64B599D0D1A1}"/>
              </a:ext>
            </a:extLst>
          </p:cNvPr>
          <p:cNvSpPr>
            <a:spLocks noGrp="1"/>
          </p:cNvSpPr>
          <p:nvPr/>
        </p:nvSpPr>
        <p:spPr>
          <a:xfrm>
            <a:off x="5334000" y="4524375"/>
            <a:ext cx="1619250" cy="742950"/>
          </a:xfrm>
          <a:prstGeom prst="rect">
            <a:avLst/>
          </a:prstGeom>
          <a:solidFill>
            <a:srgbClr val="FFFFFF"/>
          </a:solidFill>
          <a:ln w="9525">
            <a:solidFill>
              <a:srgbClr val="CED9DB"/>
            </a:solidFill>
            <a:prstDash val="solid"/>
          </a:ln>
        </p:spPr>
        <p:txBody>
          <a:bodyPr/>
          <a:lstStyle/>
          <a:p>
            <a:endParaRPr lang="en-IQ"/>
          </a:p>
        </p:txBody>
      </p:sp>
      <p:sp>
        <p:nvSpPr>
          <p:cNvPr id="69" name="Rectangle 68">
            <a:extLst>
              <a:ext uri="{FF2B5EF4-FFF2-40B4-BE49-F238E27FC236}">
                <a16:creationId xmlns:a16="http://schemas.microsoft.com/office/drawing/2014/main" id="{A7AAECFC-B889-496B-8E57-3083DCFE4D04}"/>
              </a:ext>
            </a:extLst>
          </p:cNvPr>
          <p:cNvSpPr>
            <a:spLocks noGrp="1"/>
          </p:cNvSpPr>
          <p:nvPr/>
        </p:nvSpPr>
        <p:spPr>
          <a:xfrm>
            <a:off x="5400675" y="4562475"/>
            <a:ext cx="1485900" cy="6667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54.40</a:t>
            </a:r>
          </a:p>
        </p:txBody>
      </p:sp>
      <p:sp>
        <p:nvSpPr>
          <p:cNvPr id="70" name="Rectangle 69">
            <a:extLst>
              <a:ext uri="{FF2B5EF4-FFF2-40B4-BE49-F238E27FC236}">
                <a16:creationId xmlns:a16="http://schemas.microsoft.com/office/drawing/2014/main" id="{6605BFC5-5830-4563-AE57-BC71A4200F26}"/>
              </a:ext>
            </a:extLst>
          </p:cNvPr>
          <p:cNvSpPr>
            <a:spLocks noGrp="1"/>
          </p:cNvSpPr>
          <p:nvPr/>
        </p:nvSpPr>
        <p:spPr>
          <a:xfrm>
            <a:off x="6953250" y="4524375"/>
            <a:ext cx="1524000" cy="742950"/>
          </a:xfrm>
          <a:prstGeom prst="rect">
            <a:avLst/>
          </a:prstGeom>
          <a:solidFill>
            <a:srgbClr val="FFFFFF"/>
          </a:solidFill>
          <a:ln w="9525">
            <a:solidFill>
              <a:srgbClr val="CED9DB"/>
            </a:solidFill>
            <a:prstDash val="solid"/>
          </a:ln>
        </p:spPr>
        <p:txBody>
          <a:bodyPr/>
          <a:lstStyle/>
          <a:p>
            <a:endParaRPr lang="en-IQ"/>
          </a:p>
        </p:txBody>
      </p:sp>
      <p:sp>
        <p:nvSpPr>
          <p:cNvPr id="71" name="Rectangle 70">
            <a:extLst>
              <a:ext uri="{FF2B5EF4-FFF2-40B4-BE49-F238E27FC236}">
                <a16:creationId xmlns:a16="http://schemas.microsoft.com/office/drawing/2014/main" id="{9A2E1401-596B-4A86-A7D0-5D81E448C43E}"/>
              </a:ext>
            </a:extLst>
          </p:cNvPr>
          <p:cNvSpPr>
            <a:spLocks noGrp="1"/>
          </p:cNvSpPr>
          <p:nvPr/>
        </p:nvSpPr>
        <p:spPr>
          <a:xfrm>
            <a:off x="7019925" y="4562475"/>
            <a:ext cx="1390650" cy="6667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55</a:t>
            </a:r>
          </a:p>
        </p:txBody>
      </p:sp>
      <p:sp>
        <p:nvSpPr>
          <p:cNvPr id="72" name="Rectangle 71">
            <a:extLst>
              <a:ext uri="{FF2B5EF4-FFF2-40B4-BE49-F238E27FC236}">
                <a16:creationId xmlns:a16="http://schemas.microsoft.com/office/drawing/2014/main" id="{683A532D-1918-4E5D-8E75-22945EE2DAF8}"/>
              </a:ext>
            </a:extLst>
          </p:cNvPr>
          <p:cNvSpPr>
            <a:spLocks noGrp="1"/>
          </p:cNvSpPr>
          <p:nvPr/>
        </p:nvSpPr>
        <p:spPr>
          <a:xfrm>
            <a:off x="8477250" y="4524375"/>
            <a:ext cx="1428750" cy="742950"/>
          </a:xfrm>
          <a:prstGeom prst="rect">
            <a:avLst/>
          </a:prstGeom>
          <a:solidFill>
            <a:srgbClr val="FFFFFF"/>
          </a:solidFill>
          <a:ln w="9525">
            <a:solidFill>
              <a:srgbClr val="CED9DB"/>
            </a:solidFill>
            <a:prstDash val="solid"/>
          </a:ln>
        </p:spPr>
        <p:txBody>
          <a:bodyPr/>
          <a:lstStyle/>
          <a:p>
            <a:endParaRPr lang="en-IQ"/>
          </a:p>
        </p:txBody>
      </p:sp>
      <p:sp>
        <p:nvSpPr>
          <p:cNvPr id="73" name="Rectangle 72">
            <a:extLst>
              <a:ext uri="{FF2B5EF4-FFF2-40B4-BE49-F238E27FC236}">
                <a16:creationId xmlns:a16="http://schemas.microsoft.com/office/drawing/2014/main" id="{E0585290-40B7-48CB-9BFA-32642F5E6D59}"/>
              </a:ext>
            </a:extLst>
          </p:cNvPr>
          <p:cNvSpPr>
            <a:spLocks noGrp="1"/>
          </p:cNvSpPr>
          <p:nvPr/>
        </p:nvSpPr>
        <p:spPr>
          <a:xfrm>
            <a:off x="8543925" y="4562475"/>
            <a:ext cx="1295400" cy="6667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57</a:t>
            </a:r>
          </a:p>
        </p:txBody>
      </p:sp>
      <p:sp>
        <p:nvSpPr>
          <p:cNvPr id="74" name="Rectangle 73">
            <a:extLst>
              <a:ext uri="{FF2B5EF4-FFF2-40B4-BE49-F238E27FC236}">
                <a16:creationId xmlns:a16="http://schemas.microsoft.com/office/drawing/2014/main" id="{1DF3B0EB-90B8-455B-A9C5-4E3DBF717D1E}"/>
              </a:ext>
            </a:extLst>
          </p:cNvPr>
          <p:cNvSpPr>
            <a:spLocks noGrp="1"/>
          </p:cNvSpPr>
          <p:nvPr/>
        </p:nvSpPr>
        <p:spPr>
          <a:xfrm>
            <a:off x="9906000" y="4524375"/>
            <a:ext cx="1428750" cy="742950"/>
          </a:xfrm>
          <a:prstGeom prst="rect">
            <a:avLst/>
          </a:prstGeom>
          <a:solidFill>
            <a:srgbClr val="FFFFFF"/>
          </a:solidFill>
          <a:ln w="9525">
            <a:solidFill>
              <a:srgbClr val="CED9DB"/>
            </a:solidFill>
            <a:prstDash val="solid"/>
          </a:ln>
        </p:spPr>
        <p:txBody>
          <a:bodyPr/>
          <a:lstStyle/>
          <a:p>
            <a:endParaRPr lang="en-IQ"/>
          </a:p>
        </p:txBody>
      </p:sp>
      <p:sp>
        <p:nvSpPr>
          <p:cNvPr id="75" name="Rectangle 74">
            <a:extLst>
              <a:ext uri="{FF2B5EF4-FFF2-40B4-BE49-F238E27FC236}">
                <a16:creationId xmlns:a16="http://schemas.microsoft.com/office/drawing/2014/main" id="{BC0E317E-F286-4A37-A9FB-F24E9F014984}"/>
              </a:ext>
            </a:extLst>
          </p:cNvPr>
          <p:cNvSpPr>
            <a:spLocks noGrp="1"/>
          </p:cNvSpPr>
          <p:nvPr/>
        </p:nvSpPr>
        <p:spPr>
          <a:xfrm>
            <a:off x="9972675" y="4562475"/>
            <a:ext cx="1295400" cy="666750"/>
          </a:xfrm>
          <a:prstGeom prst="rect">
            <a:avLst/>
          </a:prstGeom>
          <a:noFill/>
          <a:ln w="0">
            <a:noFill/>
            <a:prstDash val="solid"/>
          </a:ln>
        </p:spPr>
        <p:txBody>
          <a:bodyPr anchor="ctr"/>
          <a:lstStyle/>
          <a:p>
            <a:pPr algn="ctr">
              <a:defRPr sz="1350" b="0">
                <a:solidFill>
                  <a:srgbClr val="183544"/>
                </a:solidFill>
              </a:defRPr>
            </a:pPr>
            <a:r>
              <a:rPr sz="1350" b="0">
                <a:solidFill>
                  <a:srgbClr val="183544"/>
                </a:solidFill>
              </a:rPr>
              <a:t>1.73</a:t>
            </a:r>
          </a:p>
        </p:txBody>
      </p:sp>
      <p:sp>
        <p:nvSpPr>
          <p:cNvPr id="76" name="Rounded Rectangle 75">
            <a:extLst>
              <a:ext uri="{FF2B5EF4-FFF2-40B4-BE49-F238E27FC236}">
                <a16:creationId xmlns:a16="http://schemas.microsoft.com/office/drawing/2014/main" id="{82F9DBF8-8E68-4294-8485-5A8B02512714}"/>
              </a:ext>
            </a:extLst>
          </p:cNvPr>
          <p:cNvSpPr>
            <a:spLocks noGrp="1"/>
          </p:cNvSpPr>
          <p:nvPr/>
        </p:nvSpPr>
        <p:spPr>
          <a:xfrm>
            <a:off x="1666875" y="5524500"/>
            <a:ext cx="8858250" cy="571500"/>
          </a:xfrm>
          <a:prstGeom prst="roundRect">
            <a:avLst>
              <a:gd name="adj" fmla="val 13333"/>
            </a:avLst>
          </a:prstGeom>
          <a:solidFill>
            <a:srgbClr val="F9E8E6"/>
          </a:solidFill>
          <a:ln w="0">
            <a:solidFill>
              <a:srgbClr val="F9E8E6"/>
            </a:solidFill>
            <a:prstDash val="solid"/>
          </a:ln>
        </p:spPr>
        <p:txBody>
          <a:bodyPr/>
          <a:lstStyle/>
          <a:p>
            <a:endParaRPr lang="en-IQ"/>
          </a:p>
        </p:txBody>
      </p:sp>
      <p:sp>
        <p:nvSpPr>
          <p:cNvPr id="77" name="Rectangle 76">
            <a:extLst>
              <a:ext uri="{FF2B5EF4-FFF2-40B4-BE49-F238E27FC236}">
                <a16:creationId xmlns:a16="http://schemas.microsoft.com/office/drawing/2014/main" id="{42CA7D9E-FDA8-44A9-91F6-5712977C9FDA}"/>
              </a:ext>
            </a:extLst>
          </p:cNvPr>
          <p:cNvSpPr>
            <a:spLocks noGrp="1"/>
          </p:cNvSpPr>
          <p:nvPr/>
        </p:nvSpPr>
        <p:spPr>
          <a:xfrm>
            <a:off x="1857375" y="5600700"/>
            <a:ext cx="8477250" cy="419100"/>
          </a:xfrm>
          <a:prstGeom prst="rect">
            <a:avLst/>
          </a:prstGeom>
          <a:noFill/>
          <a:ln w="0">
            <a:noFill/>
            <a:prstDash val="solid"/>
          </a:ln>
        </p:spPr>
        <p:txBody>
          <a:bodyPr anchor="ctr"/>
          <a:lstStyle/>
          <a:p>
            <a:pPr algn="ctr">
              <a:defRPr sz="1575" b="1">
                <a:solidFill>
                  <a:srgbClr val="D95D5D"/>
                </a:solidFill>
              </a:defRPr>
            </a:pPr>
            <a:r>
              <a:rPr sz="1575" b="1">
                <a:solidFill>
                  <a:srgbClr val="D95D5D"/>
                </a:solidFill>
              </a:rPr>
              <a:t>The exact optimum 50 was reached 0 times in all four treatments.</a:t>
            </a:r>
          </a:p>
        </p:txBody>
      </p:sp>
    </p:spTree>
    <p:extLst>
      <p:ext uri="{BB962C8B-B14F-4D97-AF65-F5344CB8AC3E}">
        <p14:creationId xmlns:p14="http://schemas.microsoft.com/office/powerpoint/2010/main" val="20903714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9405398-0D04-46EE-9094-F5B94139DC90}"/>
              </a:ext>
            </a:extLst>
          </p:cNvPr>
          <p:cNvSpPr>
            <a:spLocks noGrp="1"/>
          </p:cNvSpPr>
          <p:nvPr/>
        </p:nvSpPr>
        <p:spPr>
          <a:xfrm>
            <a:off x="609600" y="285750"/>
            <a:ext cx="64770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QUALITY EVIDENCE</a:t>
            </a:r>
          </a:p>
        </p:txBody>
      </p:sp>
      <p:sp>
        <p:nvSpPr>
          <p:cNvPr id="2" name="Rectangle 1">
            <a:extLst>
              <a:ext uri="{FF2B5EF4-FFF2-40B4-BE49-F238E27FC236}">
                <a16:creationId xmlns:a16="http://schemas.microsoft.com/office/drawing/2014/main" id="{B12FC403-7464-44A8-8322-E6BA5E87994E}"/>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The budget improves typical quality—but with diminishing returns</a:t>
            </a:r>
          </a:p>
        </p:txBody>
      </p:sp>
      <p:sp>
        <p:nvSpPr>
          <p:cNvPr id="3" name="Rectangle 2">
            <a:extLst>
              <a:ext uri="{FF2B5EF4-FFF2-40B4-BE49-F238E27FC236}">
                <a16:creationId xmlns:a16="http://schemas.microsoft.com/office/drawing/2014/main" id="{E4749CB2-0598-4913-BE83-3DA92A9DDE77}"/>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1D725D57-9724-4813-AF70-0CBAC756AEAD}"/>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2</a:t>
            </a:r>
          </a:p>
        </p:txBody>
      </p:sp>
      <p:sp>
        <p:nvSpPr>
          <p:cNvPr id="5" name="Rectangle 4">
            <a:extLst>
              <a:ext uri="{FF2B5EF4-FFF2-40B4-BE49-F238E27FC236}">
                <a16:creationId xmlns:a16="http://schemas.microsoft.com/office/drawing/2014/main" id="{6361DA93-010A-4F8A-9089-9BEA188AFC46}"/>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24</a:t>
            </a:r>
          </a:p>
        </p:txBody>
      </p:sp>
      <p:graphicFrame>
        <p:nvGraphicFramePr>
          <p:cNvPr id="16" name="Chart"/>
          <p:cNvGraphicFramePr/>
          <p:nvPr/>
        </p:nvGraphicFramePr>
        <p:xfrm>
          <a:off x="809625" y="1524000"/>
          <a:ext cx="8334375" cy="419100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883DBB1C-5801-407B-8E42-014252787CB7}"/>
              </a:ext>
            </a:extLst>
          </p:cNvPr>
          <p:cNvSpPr>
            <a:spLocks noGrp="1"/>
          </p:cNvSpPr>
          <p:nvPr/>
        </p:nvSpPr>
        <p:spPr>
          <a:xfrm>
            <a:off x="9620250" y="2047875"/>
            <a:ext cx="1809750" cy="304800"/>
          </a:xfrm>
          <a:prstGeom prst="rect">
            <a:avLst/>
          </a:prstGeom>
          <a:noFill/>
          <a:ln w="0">
            <a:noFill/>
            <a:prstDash val="solid"/>
          </a:ln>
        </p:spPr>
        <p:txBody>
          <a:bodyPr anchor="ctr"/>
          <a:lstStyle/>
          <a:p>
            <a:pPr algn="ctr">
              <a:defRPr sz="1350" b="1">
                <a:solidFill>
                  <a:srgbClr val="0B9B91"/>
                </a:solidFill>
              </a:defRPr>
            </a:pPr>
            <a:r>
              <a:rPr sz="1350" b="1">
                <a:solidFill>
                  <a:srgbClr val="0B9B91"/>
                </a:solidFill>
              </a:rPr>
              <a:t>Mean improvement</a:t>
            </a:r>
          </a:p>
        </p:txBody>
      </p:sp>
      <p:sp>
        <p:nvSpPr>
          <p:cNvPr id="8" name="Rectangle 7">
            <a:extLst>
              <a:ext uri="{FF2B5EF4-FFF2-40B4-BE49-F238E27FC236}">
                <a16:creationId xmlns:a16="http://schemas.microsoft.com/office/drawing/2014/main" id="{69A5E0BD-E972-4B93-A1AC-F0B994559BF0}"/>
              </a:ext>
            </a:extLst>
          </p:cNvPr>
          <p:cNvSpPr>
            <a:spLocks noGrp="1"/>
          </p:cNvSpPr>
          <p:nvPr/>
        </p:nvSpPr>
        <p:spPr>
          <a:xfrm>
            <a:off x="9429750" y="2428875"/>
            <a:ext cx="2190750" cy="523875"/>
          </a:xfrm>
          <a:prstGeom prst="rect">
            <a:avLst/>
          </a:prstGeom>
          <a:noFill/>
          <a:ln w="0">
            <a:noFill/>
            <a:prstDash val="solid"/>
          </a:ln>
        </p:spPr>
        <p:txBody>
          <a:bodyPr anchor="ctr"/>
          <a:lstStyle/>
          <a:p>
            <a:pPr algn="ctr">
              <a:defRPr sz="2250" b="1">
                <a:solidFill>
                  <a:srgbClr val="092A3D"/>
                </a:solidFill>
              </a:defRPr>
            </a:pPr>
            <a:r>
              <a:rPr sz="2250" b="1">
                <a:solidFill>
                  <a:srgbClr val="092A3D"/>
                </a:solidFill>
              </a:rPr>
              <a:t>69.61 → 54.40</a:t>
            </a:r>
          </a:p>
        </p:txBody>
      </p:sp>
      <p:sp>
        <p:nvSpPr>
          <p:cNvPr id="9" name="Rectangle 8">
            <a:extLst>
              <a:ext uri="{FF2B5EF4-FFF2-40B4-BE49-F238E27FC236}">
                <a16:creationId xmlns:a16="http://schemas.microsoft.com/office/drawing/2014/main" id="{5CACD92A-2040-471F-AF87-2523720EAA7C}"/>
              </a:ext>
            </a:extLst>
          </p:cNvPr>
          <p:cNvSpPr>
            <a:spLocks noGrp="1"/>
          </p:cNvSpPr>
          <p:nvPr/>
        </p:nvSpPr>
        <p:spPr>
          <a:xfrm>
            <a:off x="9620250" y="3667125"/>
            <a:ext cx="1809750" cy="304800"/>
          </a:xfrm>
          <a:prstGeom prst="rect">
            <a:avLst/>
          </a:prstGeom>
          <a:noFill/>
          <a:ln w="0">
            <a:noFill/>
            <a:prstDash val="solid"/>
          </a:ln>
        </p:spPr>
        <p:txBody>
          <a:bodyPr anchor="ctr"/>
          <a:lstStyle/>
          <a:p>
            <a:pPr algn="ctr">
              <a:defRPr sz="1350" b="1">
                <a:solidFill>
                  <a:srgbClr val="58707C"/>
                </a:solidFill>
              </a:defRPr>
            </a:pPr>
            <a:r>
              <a:rPr sz="1350" b="1">
                <a:solidFill>
                  <a:srgbClr val="58707C"/>
                </a:solidFill>
              </a:rPr>
              <a:t>Exact optimum</a:t>
            </a:r>
          </a:p>
        </p:txBody>
      </p:sp>
      <p:sp>
        <p:nvSpPr>
          <p:cNvPr id="10" name="Rectangle 9">
            <a:extLst>
              <a:ext uri="{FF2B5EF4-FFF2-40B4-BE49-F238E27FC236}">
                <a16:creationId xmlns:a16="http://schemas.microsoft.com/office/drawing/2014/main" id="{160A26CB-61A7-426D-AA01-BE34C060ADF5}"/>
              </a:ext>
            </a:extLst>
          </p:cNvPr>
          <p:cNvSpPr>
            <a:spLocks noGrp="1"/>
          </p:cNvSpPr>
          <p:nvPr/>
        </p:nvSpPr>
        <p:spPr>
          <a:xfrm>
            <a:off x="9906000" y="4048125"/>
            <a:ext cx="1238250" cy="619125"/>
          </a:xfrm>
          <a:prstGeom prst="rect">
            <a:avLst/>
          </a:prstGeom>
          <a:noFill/>
          <a:ln w="0">
            <a:noFill/>
            <a:prstDash val="solid"/>
          </a:ln>
        </p:spPr>
        <p:txBody>
          <a:bodyPr anchor="ctr"/>
          <a:lstStyle/>
          <a:p>
            <a:pPr algn="ctr">
              <a:defRPr sz="3150" b="1">
                <a:solidFill>
                  <a:srgbClr val="F2A93B"/>
                </a:solidFill>
              </a:defRPr>
            </a:pPr>
            <a:r>
              <a:rPr sz="3150" b="1">
                <a:solidFill>
                  <a:srgbClr val="F2A93B"/>
                </a:solidFill>
              </a:rPr>
              <a:t>50</a:t>
            </a:r>
          </a:p>
        </p:txBody>
      </p:sp>
    </p:spTree>
    <p:extLst>
      <p:ext uri="{BB962C8B-B14F-4D97-AF65-F5344CB8AC3E}">
        <p14:creationId xmlns:p14="http://schemas.microsoft.com/office/powerpoint/2010/main" val="3697815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0B8FAA90-FAF6-46FA-84E7-8AF9DCB99B70}"/>
              </a:ext>
            </a:extLst>
          </p:cNvPr>
          <p:cNvSpPr>
            <a:spLocks noGrp="1"/>
          </p:cNvSpPr>
          <p:nvPr/>
        </p:nvSpPr>
        <p:spPr>
          <a:xfrm>
            <a:off x="609600" y="285750"/>
            <a:ext cx="64770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SEED EFFECT</a:t>
            </a:r>
          </a:p>
        </p:txBody>
      </p:sp>
      <p:sp>
        <p:nvSpPr>
          <p:cNvPr id="2" name="Rectangle 1">
            <a:extLst>
              <a:ext uri="{FF2B5EF4-FFF2-40B4-BE49-F238E27FC236}">
                <a16:creationId xmlns:a16="http://schemas.microsoft.com/office/drawing/2014/main" id="{A03C83A0-1713-45CC-B785-A36D32A1777F}"/>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Ten seeds produce visibly different answers at the same budget</a:t>
            </a:r>
          </a:p>
        </p:txBody>
      </p:sp>
      <p:sp>
        <p:nvSpPr>
          <p:cNvPr id="3" name="Rectangle 2">
            <a:extLst>
              <a:ext uri="{FF2B5EF4-FFF2-40B4-BE49-F238E27FC236}">
                <a16:creationId xmlns:a16="http://schemas.microsoft.com/office/drawing/2014/main" id="{1474953E-0998-4FB9-ACA6-59DB4D354C6C}"/>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3DA16FFE-F938-4FBE-BBC0-D2FD11CEBC50}"/>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2</a:t>
            </a:r>
          </a:p>
        </p:txBody>
      </p:sp>
      <p:sp>
        <p:nvSpPr>
          <p:cNvPr id="5" name="Rectangle 4">
            <a:extLst>
              <a:ext uri="{FF2B5EF4-FFF2-40B4-BE49-F238E27FC236}">
                <a16:creationId xmlns:a16="http://schemas.microsoft.com/office/drawing/2014/main" id="{90EB2AC1-5D6F-4A16-91ED-C8ED75FBAAFD}"/>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26</a:t>
            </a:r>
          </a:p>
        </p:txBody>
      </p:sp>
      <p:sp>
        <p:nvSpPr>
          <p:cNvPr id="6" name="Rectangle 5">
            <a:extLst>
              <a:ext uri="{FF2B5EF4-FFF2-40B4-BE49-F238E27FC236}">
                <a16:creationId xmlns:a16="http://schemas.microsoft.com/office/drawing/2014/main" id="{E1B9B26D-C2BF-49E1-B0A4-752F83067EDF}"/>
              </a:ext>
            </a:extLst>
          </p:cNvPr>
          <p:cNvSpPr>
            <a:spLocks noGrp="1"/>
          </p:cNvSpPr>
          <p:nvPr/>
        </p:nvSpPr>
        <p:spPr>
          <a:xfrm>
            <a:off x="1000125" y="3124200"/>
            <a:ext cx="400050" cy="2209800"/>
          </a:xfrm>
          <a:prstGeom prst="rect">
            <a:avLst/>
          </a:prstGeom>
          <a:solidFill>
            <a:srgbClr val="2878B5"/>
          </a:solidFill>
          <a:ln w="0">
            <a:solidFill>
              <a:srgbClr val="2878B5"/>
            </a:solidFill>
            <a:prstDash val="solid"/>
          </a:ln>
        </p:spPr>
        <p:txBody>
          <a:bodyPr/>
          <a:lstStyle/>
          <a:p>
            <a:endParaRPr lang="en-IQ"/>
          </a:p>
        </p:txBody>
      </p:sp>
      <p:sp>
        <p:nvSpPr>
          <p:cNvPr id="7" name="Rectangle 6">
            <a:extLst>
              <a:ext uri="{FF2B5EF4-FFF2-40B4-BE49-F238E27FC236}">
                <a16:creationId xmlns:a16="http://schemas.microsoft.com/office/drawing/2014/main" id="{AAECEDDA-DECF-4724-84B0-A9A0FCA9BCE2}"/>
              </a:ext>
            </a:extLst>
          </p:cNvPr>
          <p:cNvSpPr>
            <a:spLocks noGrp="1"/>
          </p:cNvSpPr>
          <p:nvPr/>
        </p:nvSpPr>
        <p:spPr>
          <a:xfrm>
            <a:off x="885825" y="2790825"/>
            <a:ext cx="628650" cy="247650"/>
          </a:xfrm>
          <a:prstGeom prst="rect">
            <a:avLst/>
          </a:prstGeom>
          <a:noFill/>
          <a:ln w="0">
            <a:noFill/>
            <a:prstDash val="solid"/>
          </a:ln>
        </p:spPr>
        <p:txBody>
          <a:bodyPr anchor="ctr"/>
          <a:lstStyle/>
          <a:p>
            <a:pPr algn="ctr">
              <a:defRPr sz="1200" b="1">
                <a:solidFill>
                  <a:srgbClr val="092A3D"/>
                </a:solidFill>
              </a:defRPr>
            </a:pPr>
            <a:r>
              <a:rPr sz="1200" b="1">
                <a:solidFill>
                  <a:srgbClr val="092A3D"/>
                </a:solidFill>
              </a:rPr>
              <a:t>56</a:t>
            </a:r>
          </a:p>
        </p:txBody>
      </p:sp>
      <p:sp>
        <p:nvSpPr>
          <p:cNvPr id="8" name="Rectangle 7">
            <a:extLst>
              <a:ext uri="{FF2B5EF4-FFF2-40B4-BE49-F238E27FC236}">
                <a16:creationId xmlns:a16="http://schemas.microsoft.com/office/drawing/2014/main" id="{2EE27606-5555-4A1C-9AE5-92EA6D912922}"/>
              </a:ext>
            </a:extLst>
          </p:cNvPr>
          <p:cNvSpPr>
            <a:spLocks noGrp="1"/>
          </p:cNvSpPr>
          <p:nvPr/>
        </p:nvSpPr>
        <p:spPr>
          <a:xfrm>
            <a:off x="885825" y="5524500"/>
            <a:ext cx="628650" cy="247650"/>
          </a:xfrm>
          <a:prstGeom prst="rect">
            <a:avLst/>
          </a:prstGeom>
          <a:noFill/>
          <a:ln w="0">
            <a:noFill/>
            <a:prstDash val="solid"/>
          </a:ln>
        </p:spPr>
        <p:txBody>
          <a:bodyPr anchor="ctr"/>
          <a:lstStyle/>
          <a:p>
            <a:pPr algn="ctr">
              <a:defRPr sz="1200" b="1">
                <a:solidFill>
                  <a:srgbClr val="58707C"/>
                </a:solidFill>
              </a:defRPr>
            </a:pPr>
            <a:r>
              <a:rPr sz="1200" b="1">
                <a:solidFill>
                  <a:srgbClr val="58707C"/>
                </a:solidFill>
              </a:rPr>
              <a:t>1</a:t>
            </a:r>
          </a:p>
        </p:txBody>
      </p:sp>
      <p:sp>
        <p:nvSpPr>
          <p:cNvPr id="9" name="Rectangle 8">
            <a:extLst>
              <a:ext uri="{FF2B5EF4-FFF2-40B4-BE49-F238E27FC236}">
                <a16:creationId xmlns:a16="http://schemas.microsoft.com/office/drawing/2014/main" id="{DF24339F-C88D-4E73-A3DE-9E3EEE7ED1CF}"/>
              </a:ext>
            </a:extLst>
          </p:cNvPr>
          <p:cNvSpPr>
            <a:spLocks noGrp="1"/>
          </p:cNvSpPr>
          <p:nvPr/>
        </p:nvSpPr>
        <p:spPr>
          <a:xfrm>
            <a:off x="1800225" y="3124200"/>
            <a:ext cx="400050" cy="2209800"/>
          </a:xfrm>
          <a:prstGeom prst="rect">
            <a:avLst/>
          </a:prstGeom>
          <a:solidFill>
            <a:srgbClr val="2878B5"/>
          </a:solidFill>
          <a:ln w="0">
            <a:solidFill>
              <a:srgbClr val="2878B5"/>
            </a:solidFill>
            <a:prstDash val="solid"/>
          </a:ln>
        </p:spPr>
        <p:txBody>
          <a:bodyPr/>
          <a:lstStyle/>
          <a:p>
            <a:endParaRPr lang="en-IQ"/>
          </a:p>
        </p:txBody>
      </p:sp>
      <p:sp>
        <p:nvSpPr>
          <p:cNvPr id="10" name="Rectangle 9">
            <a:extLst>
              <a:ext uri="{FF2B5EF4-FFF2-40B4-BE49-F238E27FC236}">
                <a16:creationId xmlns:a16="http://schemas.microsoft.com/office/drawing/2014/main" id="{595CE2E5-0115-41E7-BDAB-E8B40BD38A59}"/>
              </a:ext>
            </a:extLst>
          </p:cNvPr>
          <p:cNvSpPr>
            <a:spLocks noGrp="1"/>
          </p:cNvSpPr>
          <p:nvPr/>
        </p:nvSpPr>
        <p:spPr>
          <a:xfrm>
            <a:off x="1685925" y="2790825"/>
            <a:ext cx="628650" cy="247650"/>
          </a:xfrm>
          <a:prstGeom prst="rect">
            <a:avLst/>
          </a:prstGeom>
          <a:noFill/>
          <a:ln w="0">
            <a:noFill/>
            <a:prstDash val="solid"/>
          </a:ln>
        </p:spPr>
        <p:txBody>
          <a:bodyPr anchor="ctr"/>
          <a:lstStyle/>
          <a:p>
            <a:pPr algn="ctr">
              <a:defRPr sz="1200" b="1">
                <a:solidFill>
                  <a:srgbClr val="092A3D"/>
                </a:solidFill>
              </a:defRPr>
            </a:pPr>
            <a:r>
              <a:rPr sz="1200" b="1">
                <a:solidFill>
                  <a:srgbClr val="092A3D"/>
                </a:solidFill>
              </a:rPr>
              <a:t>56</a:t>
            </a:r>
          </a:p>
        </p:txBody>
      </p:sp>
      <p:sp>
        <p:nvSpPr>
          <p:cNvPr id="11" name="Rectangle 10">
            <a:extLst>
              <a:ext uri="{FF2B5EF4-FFF2-40B4-BE49-F238E27FC236}">
                <a16:creationId xmlns:a16="http://schemas.microsoft.com/office/drawing/2014/main" id="{922077E5-ABCD-4F63-81CD-64C5BB08EC60}"/>
              </a:ext>
            </a:extLst>
          </p:cNvPr>
          <p:cNvSpPr>
            <a:spLocks noGrp="1"/>
          </p:cNvSpPr>
          <p:nvPr/>
        </p:nvSpPr>
        <p:spPr>
          <a:xfrm>
            <a:off x="1685925" y="5524500"/>
            <a:ext cx="628650" cy="247650"/>
          </a:xfrm>
          <a:prstGeom prst="rect">
            <a:avLst/>
          </a:prstGeom>
          <a:noFill/>
          <a:ln w="0">
            <a:noFill/>
            <a:prstDash val="solid"/>
          </a:ln>
        </p:spPr>
        <p:txBody>
          <a:bodyPr anchor="ctr"/>
          <a:lstStyle/>
          <a:p>
            <a:pPr algn="ctr">
              <a:defRPr sz="1200" b="1">
                <a:solidFill>
                  <a:srgbClr val="58707C"/>
                </a:solidFill>
              </a:defRPr>
            </a:pPr>
            <a:r>
              <a:rPr sz="1200" b="1">
                <a:solidFill>
                  <a:srgbClr val="58707C"/>
                </a:solidFill>
              </a:rPr>
              <a:t>2</a:t>
            </a:r>
          </a:p>
        </p:txBody>
      </p:sp>
      <p:sp>
        <p:nvSpPr>
          <p:cNvPr id="12" name="Rectangle 11">
            <a:extLst>
              <a:ext uri="{FF2B5EF4-FFF2-40B4-BE49-F238E27FC236}">
                <a16:creationId xmlns:a16="http://schemas.microsoft.com/office/drawing/2014/main" id="{EBB125A3-375C-4E8B-B316-3BF2EB664B14}"/>
              </a:ext>
            </a:extLst>
          </p:cNvPr>
          <p:cNvSpPr>
            <a:spLocks noGrp="1"/>
          </p:cNvSpPr>
          <p:nvPr/>
        </p:nvSpPr>
        <p:spPr>
          <a:xfrm>
            <a:off x="2600325" y="4229100"/>
            <a:ext cx="400050" cy="1104900"/>
          </a:xfrm>
          <a:prstGeom prst="rect">
            <a:avLst/>
          </a:prstGeom>
          <a:solidFill>
            <a:srgbClr val="0B9B91"/>
          </a:solidFill>
          <a:ln w="0">
            <a:solidFill>
              <a:srgbClr val="0B9B91"/>
            </a:solidFill>
            <a:prstDash val="solid"/>
          </a:ln>
        </p:spPr>
        <p:txBody>
          <a:bodyPr/>
          <a:lstStyle/>
          <a:p>
            <a:endParaRPr lang="en-IQ"/>
          </a:p>
        </p:txBody>
      </p:sp>
      <p:sp>
        <p:nvSpPr>
          <p:cNvPr id="13" name="Rectangle 12">
            <a:extLst>
              <a:ext uri="{FF2B5EF4-FFF2-40B4-BE49-F238E27FC236}">
                <a16:creationId xmlns:a16="http://schemas.microsoft.com/office/drawing/2014/main" id="{521CE97A-CBEA-4969-AA0E-2A2012ABA6F7}"/>
              </a:ext>
            </a:extLst>
          </p:cNvPr>
          <p:cNvSpPr>
            <a:spLocks noGrp="1"/>
          </p:cNvSpPr>
          <p:nvPr/>
        </p:nvSpPr>
        <p:spPr>
          <a:xfrm>
            <a:off x="2486025" y="3895725"/>
            <a:ext cx="628650" cy="247650"/>
          </a:xfrm>
          <a:prstGeom prst="rect">
            <a:avLst/>
          </a:prstGeom>
          <a:noFill/>
          <a:ln w="0">
            <a:noFill/>
            <a:prstDash val="solid"/>
          </a:ln>
        </p:spPr>
        <p:txBody>
          <a:bodyPr anchor="ctr"/>
          <a:lstStyle/>
          <a:p>
            <a:pPr algn="ctr">
              <a:defRPr sz="1200" b="1">
                <a:solidFill>
                  <a:srgbClr val="092A3D"/>
                </a:solidFill>
              </a:defRPr>
            </a:pPr>
            <a:r>
              <a:rPr sz="1200" b="1">
                <a:solidFill>
                  <a:srgbClr val="092A3D"/>
                </a:solidFill>
              </a:rPr>
              <a:t>52</a:t>
            </a:r>
          </a:p>
        </p:txBody>
      </p:sp>
      <p:sp>
        <p:nvSpPr>
          <p:cNvPr id="14" name="Rectangle 13">
            <a:extLst>
              <a:ext uri="{FF2B5EF4-FFF2-40B4-BE49-F238E27FC236}">
                <a16:creationId xmlns:a16="http://schemas.microsoft.com/office/drawing/2014/main" id="{25EB82CE-56C2-45C7-8E22-9EDF1EF467CE}"/>
              </a:ext>
            </a:extLst>
          </p:cNvPr>
          <p:cNvSpPr>
            <a:spLocks noGrp="1"/>
          </p:cNvSpPr>
          <p:nvPr/>
        </p:nvSpPr>
        <p:spPr>
          <a:xfrm>
            <a:off x="2486025" y="5524500"/>
            <a:ext cx="628650" cy="247650"/>
          </a:xfrm>
          <a:prstGeom prst="rect">
            <a:avLst/>
          </a:prstGeom>
          <a:noFill/>
          <a:ln w="0">
            <a:noFill/>
            <a:prstDash val="solid"/>
          </a:ln>
        </p:spPr>
        <p:txBody>
          <a:bodyPr anchor="ctr"/>
          <a:lstStyle/>
          <a:p>
            <a:pPr algn="ctr">
              <a:defRPr sz="1200" b="1">
                <a:solidFill>
                  <a:srgbClr val="58707C"/>
                </a:solidFill>
              </a:defRPr>
            </a:pPr>
            <a:r>
              <a:rPr sz="1200" b="1">
                <a:solidFill>
                  <a:srgbClr val="58707C"/>
                </a:solidFill>
              </a:rPr>
              <a:t>3</a:t>
            </a:r>
          </a:p>
        </p:txBody>
      </p:sp>
      <p:sp>
        <p:nvSpPr>
          <p:cNvPr id="15" name="Rectangle 14">
            <a:extLst>
              <a:ext uri="{FF2B5EF4-FFF2-40B4-BE49-F238E27FC236}">
                <a16:creationId xmlns:a16="http://schemas.microsoft.com/office/drawing/2014/main" id="{42E563B8-2F30-4104-BC57-345749582247}"/>
              </a:ext>
            </a:extLst>
          </p:cNvPr>
          <p:cNvSpPr>
            <a:spLocks noGrp="1"/>
          </p:cNvSpPr>
          <p:nvPr/>
        </p:nvSpPr>
        <p:spPr>
          <a:xfrm>
            <a:off x="3400425" y="2295525"/>
            <a:ext cx="400050" cy="3038475"/>
          </a:xfrm>
          <a:prstGeom prst="rect">
            <a:avLst/>
          </a:prstGeom>
          <a:solidFill>
            <a:srgbClr val="D95D5D"/>
          </a:solidFill>
          <a:ln w="0">
            <a:solidFill>
              <a:srgbClr val="D95D5D"/>
            </a:solidFill>
            <a:prstDash val="solid"/>
          </a:ln>
        </p:spPr>
        <p:txBody>
          <a:bodyPr/>
          <a:lstStyle/>
          <a:p>
            <a:endParaRPr lang="en-IQ"/>
          </a:p>
        </p:txBody>
      </p:sp>
      <p:sp>
        <p:nvSpPr>
          <p:cNvPr id="16" name="Rectangle 15">
            <a:extLst>
              <a:ext uri="{FF2B5EF4-FFF2-40B4-BE49-F238E27FC236}">
                <a16:creationId xmlns:a16="http://schemas.microsoft.com/office/drawing/2014/main" id="{8AE90751-48FA-4BC6-9CE1-CA41110EFC7A}"/>
              </a:ext>
            </a:extLst>
          </p:cNvPr>
          <p:cNvSpPr>
            <a:spLocks noGrp="1"/>
          </p:cNvSpPr>
          <p:nvPr/>
        </p:nvSpPr>
        <p:spPr>
          <a:xfrm>
            <a:off x="3286125" y="1962150"/>
            <a:ext cx="628650" cy="247650"/>
          </a:xfrm>
          <a:prstGeom prst="rect">
            <a:avLst/>
          </a:prstGeom>
          <a:noFill/>
          <a:ln w="0">
            <a:noFill/>
            <a:prstDash val="solid"/>
          </a:ln>
        </p:spPr>
        <p:txBody>
          <a:bodyPr anchor="ctr"/>
          <a:lstStyle/>
          <a:p>
            <a:pPr algn="ctr">
              <a:defRPr sz="1200" b="1">
                <a:solidFill>
                  <a:srgbClr val="D95D5D"/>
                </a:solidFill>
              </a:defRPr>
            </a:pPr>
            <a:r>
              <a:rPr sz="1200" b="1">
                <a:solidFill>
                  <a:srgbClr val="D95D5D"/>
                </a:solidFill>
              </a:rPr>
              <a:t>59</a:t>
            </a:r>
          </a:p>
        </p:txBody>
      </p:sp>
      <p:sp>
        <p:nvSpPr>
          <p:cNvPr id="17" name="Rectangle 16">
            <a:extLst>
              <a:ext uri="{FF2B5EF4-FFF2-40B4-BE49-F238E27FC236}">
                <a16:creationId xmlns:a16="http://schemas.microsoft.com/office/drawing/2014/main" id="{28BC61C1-3A06-4F61-AC3D-7E604A38213E}"/>
              </a:ext>
            </a:extLst>
          </p:cNvPr>
          <p:cNvSpPr>
            <a:spLocks noGrp="1"/>
          </p:cNvSpPr>
          <p:nvPr/>
        </p:nvSpPr>
        <p:spPr>
          <a:xfrm>
            <a:off x="3286125" y="5524500"/>
            <a:ext cx="628650" cy="247650"/>
          </a:xfrm>
          <a:prstGeom prst="rect">
            <a:avLst/>
          </a:prstGeom>
          <a:noFill/>
          <a:ln w="0">
            <a:noFill/>
            <a:prstDash val="solid"/>
          </a:ln>
        </p:spPr>
        <p:txBody>
          <a:bodyPr anchor="ctr"/>
          <a:lstStyle/>
          <a:p>
            <a:pPr algn="ctr">
              <a:defRPr sz="1200" b="1">
                <a:solidFill>
                  <a:srgbClr val="58707C"/>
                </a:solidFill>
              </a:defRPr>
            </a:pPr>
            <a:r>
              <a:rPr sz="1200" b="1">
                <a:solidFill>
                  <a:srgbClr val="58707C"/>
                </a:solidFill>
              </a:rPr>
              <a:t>4</a:t>
            </a:r>
          </a:p>
        </p:txBody>
      </p:sp>
      <p:sp>
        <p:nvSpPr>
          <p:cNvPr id="18" name="Rectangle 17">
            <a:extLst>
              <a:ext uri="{FF2B5EF4-FFF2-40B4-BE49-F238E27FC236}">
                <a16:creationId xmlns:a16="http://schemas.microsoft.com/office/drawing/2014/main" id="{4FA83696-6D9A-4608-8FED-AE784EE9519D}"/>
              </a:ext>
            </a:extLst>
          </p:cNvPr>
          <p:cNvSpPr>
            <a:spLocks noGrp="1"/>
          </p:cNvSpPr>
          <p:nvPr/>
        </p:nvSpPr>
        <p:spPr>
          <a:xfrm>
            <a:off x="4200525" y="2571750"/>
            <a:ext cx="400050" cy="2762250"/>
          </a:xfrm>
          <a:prstGeom prst="rect">
            <a:avLst/>
          </a:prstGeom>
          <a:solidFill>
            <a:srgbClr val="2878B5"/>
          </a:solidFill>
          <a:ln w="0">
            <a:solidFill>
              <a:srgbClr val="2878B5"/>
            </a:solidFill>
            <a:prstDash val="solid"/>
          </a:ln>
        </p:spPr>
        <p:txBody>
          <a:bodyPr/>
          <a:lstStyle/>
          <a:p>
            <a:endParaRPr lang="en-IQ"/>
          </a:p>
        </p:txBody>
      </p:sp>
      <p:sp>
        <p:nvSpPr>
          <p:cNvPr id="19" name="Rectangle 18">
            <a:extLst>
              <a:ext uri="{FF2B5EF4-FFF2-40B4-BE49-F238E27FC236}">
                <a16:creationId xmlns:a16="http://schemas.microsoft.com/office/drawing/2014/main" id="{D0919627-A4A5-4BA4-B8F7-758E335D2A71}"/>
              </a:ext>
            </a:extLst>
          </p:cNvPr>
          <p:cNvSpPr>
            <a:spLocks noGrp="1"/>
          </p:cNvSpPr>
          <p:nvPr/>
        </p:nvSpPr>
        <p:spPr>
          <a:xfrm>
            <a:off x="4086225" y="2238375"/>
            <a:ext cx="628650" cy="247650"/>
          </a:xfrm>
          <a:prstGeom prst="rect">
            <a:avLst/>
          </a:prstGeom>
          <a:noFill/>
          <a:ln w="0">
            <a:noFill/>
            <a:prstDash val="solid"/>
          </a:ln>
        </p:spPr>
        <p:txBody>
          <a:bodyPr anchor="ctr"/>
          <a:lstStyle/>
          <a:p>
            <a:pPr algn="ctr">
              <a:defRPr sz="1200" b="1">
                <a:solidFill>
                  <a:srgbClr val="092A3D"/>
                </a:solidFill>
              </a:defRPr>
            </a:pPr>
            <a:r>
              <a:rPr sz="1200" b="1">
                <a:solidFill>
                  <a:srgbClr val="092A3D"/>
                </a:solidFill>
              </a:rPr>
              <a:t>58</a:t>
            </a:r>
          </a:p>
        </p:txBody>
      </p:sp>
      <p:sp>
        <p:nvSpPr>
          <p:cNvPr id="20" name="Rectangle 19">
            <a:extLst>
              <a:ext uri="{FF2B5EF4-FFF2-40B4-BE49-F238E27FC236}">
                <a16:creationId xmlns:a16="http://schemas.microsoft.com/office/drawing/2014/main" id="{93EC8780-357F-47D0-9272-87B462EDDC68}"/>
              </a:ext>
            </a:extLst>
          </p:cNvPr>
          <p:cNvSpPr>
            <a:spLocks noGrp="1"/>
          </p:cNvSpPr>
          <p:nvPr/>
        </p:nvSpPr>
        <p:spPr>
          <a:xfrm>
            <a:off x="4086225" y="5524500"/>
            <a:ext cx="628650" cy="247650"/>
          </a:xfrm>
          <a:prstGeom prst="rect">
            <a:avLst/>
          </a:prstGeom>
          <a:noFill/>
          <a:ln w="0">
            <a:noFill/>
            <a:prstDash val="solid"/>
          </a:ln>
        </p:spPr>
        <p:txBody>
          <a:bodyPr anchor="ctr"/>
          <a:lstStyle/>
          <a:p>
            <a:pPr algn="ctr">
              <a:defRPr sz="1200" b="1">
                <a:solidFill>
                  <a:srgbClr val="58707C"/>
                </a:solidFill>
              </a:defRPr>
            </a:pPr>
            <a:r>
              <a:rPr sz="1200" b="1">
                <a:solidFill>
                  <a:srgbClr val="58707C"/>
                </a:solidFill>
              </a:rPr>
              <a:t>5</a:t>
            </a:r>
          </a:p>
        </p:txBody>
      </p:sp>
      <p:sp>
        <p:nvSpPr>
          <p:cNvPr id="21" name="Rectangle 20">
            <a:extLst>
              <a:ext uri="{FF2B5EF4-FFF2-40B4-BE49-F238E27FC236}">
                <a16:creationId xmlns:a16="http://schemas.microsoft.com/office/drawing/2014/main" id="{59BA70C0-3BCA-4F47-8793-221FAF3B7435}"/>
              </a:ext>
            </a:extLst>
          </p:cNvPr>
          <p:cNvSpPr>
            <a:spLocks noGrp="1"/>
          </p:cNvSpPr>
          <p:nvPr/>
        </p:nvSpPr>
        <p:spPr>
          <a:xfrm>
            <a:off x="5000625" y="3400425"/>
            <a:ext cx="400050" cy="1933575"/>
          </a:xfrm>
          <a:prstGeom prst="rect">
            <a:avLst/>
          </a:prstGeom>
          <a:solidFill>
            <a:srgbClr val="2878B5"/>
          </a:solidFill>
          <a:ln w="0">
            <a:solidFill>
              <a:srgbClr val="2878B5"/>
            </a:solidFill>
            <a:prstDash val="solid"/>
          </a:ln>
        </p:spPr>
        <p:txBody>
          <a:bodyPr/>
          <a:lstStyle/>
          <a:p>
            <a:endParaRPr lang="en-IQ"/>
          </a:p>
        </p:txBody>
      </p:sp>
      <p:sp>
        <p:nvSpPr>
          <p:cNvPr id="22" name="Rectangle 21">
            <a:extLst>
              <a:ext uri="{FF2B5EF4-FFF2-40B4-BE49-F238E27FC236}">
                <a16:creationId xmlns:a16="http://schemas.microsoft.com/office/drawing/2014/main" id="{822B09FD-A450-4227-8377-78119EED5365}"/>
              </a:ext>
            </a:extLst>
          </p:cNvPr>
          <p:cNvSpPr>
            <a:spLocks noGrp="1"/>
          </p:cNvSpPr>
          <p:nvPr/>
        </p:nvSpPr>
        <p:spPr>
          <a:xfrm>
            <a:off x="4886325" y="3067050"/>
            <a:ext cx="628650" cy="247650"/>
          </a:xfrm>
          <a:prstGeom prst="rect">
            <a:avLst/>
          </a:prstGeom>
          <a:noFill/>
          <a:ln w="0">
            <a:noFill/>
            <a:prstDash val="solid"/>
          </a:ln>
        </p:spPr>
        <p:txBody>
          <a:bodyPr anchor="ctr"/>
          <a:lstStyle/>
          <a:p>
            <a:pPr algn="ctr">
              <a:defRPr sz="1200" b="1">
                <a:solidFill>
                  <a:srgbClr val="092A3D"/>
                </a:solidFill>
              </a:defRPr>
            </a:pPr>
            <a:r>
              <a:rPr sz="1200" b="1">
                <a:solidFill>
                  <a:srgbClr val="092A3D"/>
                </a:solidFill>
              </a:rPr>
              <a:t>55</a:t>
            </a:r>
          </a:p>
        </p:txBody>
      </p:sp>
      <p:sp>
        <p:nvSpPr>
          <p:cNvPr id="23" name="Rectangle 22">
            <a:extLst>
              <a:ext uri="{FF2B5EF4-FFF2-40B4-BE49-F238E27FC236}">
                <a16:creationId xmlns:a16="http://schemas.microsoft.com/office/drawing/2014/main" id="{F0B45AEC-26C4-4F5A-B93C-A86212701333}"/>
              </a:ext>
            </a:extLst>
          </p:cNvPr>
          <p:cNvSpPr>
            <a:spLocks noGrp="1"/>
          </p:cNvSpPr>
          <p:nvPr/>
        </p:nvSpPr>
        <p:spPr>
          <a:xfrm>
            <a:off x="4886325" y="5524500"/>
            <a:ext cx="628650" cy="247650"/>
          </a:xfrm>
          <a:prstGeom prst="rect">
            <a:avLst/>
          </a:prstGeom>
          <a:noFill/>
          <a:ln w="0">
            <a:noFill/>
            <a:prstDash val="solid"/>
          </a:ln>
        </p:spPr>
        <p:txBody>
          <a:bodyPr anchor="ctr"/>
          <a:lstStyle/>
          <a:p>
            <a:pPr algn="ctr">
              <a:defRPr sz="1200" b="1">
                <a:solidFill>
                  <a:srgbClr val="58707C"/>
                </a:solidFill>
              </a:defRPr>
            </a:pPr>
            <a:r>
              <a:rPr sz="1200" b="1">
                <a:solidFill>
                  <a:srgbClr val="58707C"/>
                </a:solidFill>
              </a:rPr>
              <a:t>6</a:t>
            </a:r>
          </a:p>
        </p:txBody>
      </p:sp>
      <p:sp>
        <p:nvSpPr>
          <p:cNvPr id="24" name="Rectangle 23">
            <a:extLst>
              <a:ext uri="{FF2B5EF4-FFF2-40B4-BE49-F238E27FC236}">
                <a16:creationId xmlns:a16="http://schemas.microsoft.com/office/drawing/2014/main" id="{5A7A78A3-8EF4-420F-9BA5-A56DFFB4369A}"/>
              </a:ext>
            </a:extLst>
          </p:cNvPr>
          <p:cNvSpPr>
            <a:spLocks noGrp="1"/>
          </p:cNvSpPr>
          <p:nvPr/>
        </p:nvSpPr>
        <p:spPr>
          <a:xfrm>
            <a:off x="5800725" y="2571750"/>
            <a:ext cx="400050" cy="2762250"/>
          </a:xfrm>
          <a:prstGeom prst="rect">
            <a:avLst/>
          </a:prstGeom>
          <a:solidFill>
            <a:srgbClr val="2878B5"/>
          </a:solidFill>
          <a:ln w="0">
            <a:solidFill>
              <a:srgbClr val="2878B5"/>
            </a:solidFill>
            <a:prstDash val="solid"/>
          </a:ln>
        </p:spPr>
        <p:txBody>
          <a:bodyPr/>
          <a:lstStyle/>
          <a:p>
            <a:endParaRPr lang="en-IQ"/>
          </a:p>
        </p:txBody>
      </p:sp>
      <p:sp>
        <p:nvSpPr>
          <p:cNvPr id="25" name="Rectangle 24">
            <a:extLst>
              <a:ext uri="{FF2B5EF4-FFF2-40B4-BE49-F238E27FC236}">
                <a16:creationId xmlns:a16="http://schemas.microsoft.com/office/drawing/2014/main" id="{6045AAB0-FF47-4D76-9BF9-765009DCF907}"/>
              </a:ext>
            </a:extLst>
          </p:cNvPr>
          <p:cNvSpPr>
            <a:spLocks noGrp="1"/>
          </p:cNvSpPr>
          <p:nvPr/>
        </p:nvSpPr>
        <p:spPr>
          <a:xfrm>
            <a:off x="5686425" y="2238375"/>
            <a:ext cx="628650" cy="247650"/>
          </a:xfrm>
          <a:prstGeom prst="rect">
            <a:avLst/>
          </a:prstGeom>
          <a:noFill/>
          <a:ln w="0">
            <a:noFill/>
            <a:prstDash val="solid"/>
          </a:ln>
        </p:spPr>
        <p:txBody>
          <a:bodyPr anchor="ctr"/>
          <a:lstStyle/>
          <a:p>
            <a:pPr algn="ctr">
              <a:defRPr sz="1200" b="1">
                <a:solidFill>
                  <a:srgbClr val="092A3D"/>
                </a:solidFill>
              </a:defRPr>
            </a:pPr>
            <a:r>
              <a:rPr sz="1200" b="1">
                <a:solidFill>
                  <a:srgbClr val="092A3D"/>
                </a:solidFill>
              </a:rPr>
              <a:t>58</a:t>
            </a:r>
          </a:p>
        </p:txBody>
      </p:sp>
      <p:sp>
        <p:nvSpPr>
          <p:cNvPr id="26" name="Rectangle 25">
            <a:extLst>
              <a:ext uri="{FF2B5EF4-FFF2-40B4-BE49-F238E27FC236}">
                <a16:creationId xmlns:a16="http://schemas.microsoft.com/office/drawing/2014/main" id="{D394CCA6-15A9-4212-BD93-560930174713}"/>
              </a:ext>
            </a:extLst>
          </p:cNvPr>
          <p:cNvSpPr>
            <a:spLocks noGrp="1"/>
          </p:cNvSpPr>
          <p:nvPr/>
        </p:nvSpPr>
        <p:spPr>
          <a:xfrm>
            <a:off x="5686425" y="5524500"/>
            <a:ext cx="628650" cy="247650"/>
          </a:xfrm>
          <a:prstGeom prst="rect">
            <a:avLst/>
          </a:prstGeom>
          <a:noFill/>
          <a:ln w="0">
            <a:noFill/>
            <a:prstDash val="solid"/>
          </a:ln>
        </p:spPr>
        <p:txBody>
          <a:bodyPr anchor="ctr"/>
          <a:lstStyle/>
          <a:p>
            <a:pPr algn="ctr">
              <a:defRPr sz="1200" b="1">
                <a:solidFill>
                  <a:srgbClr val="58707C"/>
                </a:solidFill>
              </a:defRPr>
            </a:pPr>
            <a:r>
              <a:rPr sz="1200" b="1">
                <a:solidFill>
                  <a:srgbClr val="58707C"/>
                </a:solidFill>
              </a:rPr>
              <a:t>7</a:t>
            </a:r>
          </a:p>
        </p:txBody>
      </p:sp>
      <p:sp>
        <p:nvSpPr>
          <p:cNvPr id="27" name="Rectangle 26">
            <a:extLst>
              <a:ext uri="{FF2B5EF4-FFF2-40B4-BE49-F238E27FC236}">
                <a16:creationId xmlns:a16="http://schemas.microsoft.com/office/drawing/2014/main" id="{AC13EDC6-110B-482F-A414-8B82030964B3}"/>
              </a:ext>
            </a:extLst>
          </p:cNvPr>
          <p:cNvSpPr>
            <a:spLocks noGrp="1"/>
          </p:cNvSpPr>
          <p:nvPr/>
        </p:nvSpPr>
        <p:spPr>
          <a:xfrm>
            <a:off x="6600825" y="4229100"/>
            <a:ext cx="400050" cy="1104900"/>
          </a:xfrm>
          <a:prstGeom prst="rect">
            <a:avLst/>
          </a:prstGeom>
          <a:solidFill>
            <a:srgbClr val="0B9B91"/>
          </a:solidFill>
          <a:ln w="0">
            <a:solidFill>
              <a:srgbClr val="0B9B91"/>
            </a:solidFill>
            <a:prstDash val="solid"/>
          </a:ln>
        </p:spPr>
        <p:txBody>
          <a:bodyPr/>
          <a:lstStyle/>
          <a:p>
            <a:endParaRPr lang="en-IQ"/>
          </a:p>
        </p:txBody>
      </p:sp>
      <p:sp>
        <p:nvSpPr>
          <p:cNvPr id="28" name="Rectangle 27">
            <a:extLst>
              <a:ext uri="{FF2B5EF4-FFF2-40B4-BE49-F238E27FC236}">
                <a16:creationId xmlns:a16="http://schemas.microsoft.com/office/drawing/2014/main" id="{0E6DD64A-9F72-4F96-8B1D-EC744CCE5936}"/>
              </a:ext>
            </a:extLst>
          </p:cNvPr>
          <p:cNvSpPr>
            <a:spLocks noGrp="1"/>
          </p:cNvSpPr>
          <p:nvPr/>
        </p:nvSpPr>
        <p:spPr>
          <a:xfrm>
            <a:off x="6486525" y="3895725"/>
            <a:ext cx="628650" cy="247650"/>
          </a:xfrm>
          <a:prstGeom prst="rect">
            <a:avLst/>
          </a:prstGeom>
          <a:noFill/>
          <a:ln w="0">
            <a:noFill/>
            <a:prstDash val="solid"/>
          </a:ln>
        </p:spPr>
        <p:txBody>
          <a:bodyPr anchor="ctr"/>
          <a:lstStyle/>
          <a:p>
            <a:pPr algn="ctr">
              <a:defRPr sz="1200" b="1">
                <a:solidFill>
                  <a:srgbClr val="092A3D"/>
                </a:solidFill>
              </a:defRPr>
            </a:pPr>
            <a:r>
              <a:rPr sz="1200" b="1">
                <a:solidFill>
                  <a:srgbClr val="092A3D"/>
                </a:solidFill>
              </a:rPr>
              <a:t>52</a:t>
            </a:r>
          </a:p>
        </p:txBody>
      </p:sp>
      <p:sp>
        <p:nvSpPr>
          <p:cNvPr id="29" name="Rectangle 28">
            <a:extLst>
              <a:ext uri="{FF2B5EF4-FFF2-40B4-BE49-F238E27FC236}">
                <a16:creationId xmlns:a16="http://schemas.microsoft.com/office/drawing/2014/main" id="{3CF6EC7E-1AA3-473A-909B-0EB563C8D1FA}"/>
              </a:ext>
            </a:extLst>
          </p:cNvPr>
          <p:cNvSpPr>
            <a:spLocks noGrp="1"/>
          </p:cNvSpPr>
          <p:nvPr/>
        </p:nvSpPr>
        <p:spPr>
          <a:xfrm>
            <a:off x="6486525" y="5524500"/>
            <a:ext cx="628650" cy="247650"/>
          </a:xfrm>
          <a:prstGeom prst="rect">
            <a:avLst/>
          </a:prstGeom>
          <a:noFill/>
          <a:ln w="0">
            <a:noFill/>
            <a:prstDash val="solid"/>
          </a:ln>
        </p:spPr>
        <p:txBody>
          <a:bodyPr anchor="ctr"/>
          <a:lstStyle/>
          <a:p>
            <a:pPr algn="ctr">
              <a:defRPr sz="1200" b="1">
                <a:solidFill>
                  <a:srgbClr val="58707C"/>
                </a:solidFill>
              </a:defRPr>
            </a:pPr>
            <a:r>
              <a:rPr sz="1200" b="1">
                <a:solidFill>
                  <a:srgbClr val="58707C"/>
                </a:solidFill>
              </a:rPr>
              <a:t>8</a:t>
            </a:r>
          </a:p>
        </p:txBody>
      </p:sp>
      <p:sp>
        <p:nvSpPr>
          <p:cNvPr id="30" name="Rectangle 29">
            <a:extLst>
              <a:ext uri="{FF2B5EF4-FFF2-40B4-BE49-F238E27FC236}">
                <a16:creationId xmlns:a16="http://schemas.microsoft.com/office/drawing/2014/main" id="{A2B4DB89-3421-4648-AAEC-7EEA60E0378D}"/>
              </a:ext>
            </a:extLst>
          </p:cNvPr>
          <p:cNvSpPr>
            <a:spLocks noGrp="1"/>
          </p:cNvSpPr>
          <p:nvPr/>
        </p:nvSpPr>
        <p:spPr>
          <a:xfrm>
            <a:off x="7400925" y="4229100"/>
            <a:ext cx="400050" cy="1104900"/>
          </a:xfrm>
          <a:prstGeom prst="rect">
            <a:avLst/>
          </a:prstGeom>
          <a:solidFill>
            <a:srgbClr val="0B9B91"/>
          </a:solidFill>
          <a:ln w="0">
            <a:solidFill>
              <a:srgbClr val="0B9B91"/>
            </a:solidFill>
            <a:prstDash val="solid"/>
          </a:ln>
        </p:spPr>
        <p:txBody>
          <a:bodyPr/>
          <a:lstStyle/>
          <a:p>
            <a:endParaRPr lang="en-IQ"/>
          </a:p>
        </p:txBody>
      </p:sp>
      <p:sp>
        <p:nvSpPr>
          <p:cNvPr id="31" name="Rectangle 30">
            <a:extLst>
              <a:ext uri="{FF2B5EF4-FFF2-40B4-BE49-F238E27FC236}">
                <a16:creationId xmlns:a16="http://schemas.microsoft.com/office/drawing/2014/main" id="{922704A4-84C0-42FB-ABC8-4A676A84CEF7}"/>
              </a:ext>
            </a:extLst>
          </p:cNvPr>
          <p:cNvSpPr>
            <a:spLocks noGrp="1"/>
          </p:cNvSpPr>
          <p:nvPr/>
        </p:nvSpPr>
        <p:spPr>
          <a:xfrm>
            <a:off x="7286625" y="3895725"/>
            <a:ext cx="628650" cy="247650"/>
          </a:xfrm>
          <a:prstGeom prst="rect">
            <a:avLst/>
          </a:prstGeom>
          <a:noFill/>
          <a:ln w="0">
            <a:noFill/>
            <a:prstDash val="solid"/>
          </a:ln>
        </p:spPr>
        <p:txBody>
          <a:bodyPr anchor="ctr"/>
          <a:lstStyle/>
          <a:p>
            <a:pPr algn="ctr">
              <a:defRPr sz="1200" b="1">
                <a:solidFill>
                  <a:srgbClr val="092A3D"/>
                </a:solidFill>
              </a:defRPr>
            </a:pPr>
            <a:r>
              <a:rPr sz="1200" b="1">
                <a:solidFill>
                  <a:srgbClr val="092A3D"/>
                </a:solidFill>
              </a:rPr>
              <a:t>52</a:t>
            </a:r>
          </a:p>
        </p:txBody>
      </p:sp>
      <p:sp>
        <p:nvSpPr>
          <p:cNvPr id="32" name="Rectangle 31">
            <a:extLst>
              <a:ext uri="{FF2B5EF4-FFF2-40B4-BE49-F238E27FC236}">
                <a16:creationId xmlns:a16="http://schemas.microsoft.com/office/drawing/2014/main" id="{94BEF1D9-969C-45D3-80E1-CAD4E4BC248F}"/>
              </a:ext>
            </a:extLst>
          </p:cNvPr>
          <p:cNvSpPr>
            <a:spLocks noGrp="1"/>
          </p:cNvSpPr>
          <p:nvPr/>
        </p:nvSpPr>
        <p:spPr>
          <a:xfrm>
            <a:off x="7286625" y="5524500"/>
            <a:ext cx="628650" cy="247650"/>
          </a:xfrm>
          <a:prstGeom prst="rect">
            <a:avLst/>
          </a:prstGeom>
          <a:noFill/>
          <a:ln w="0">
            <a:noFill/>
            <a:prstDash val="solid"/>
          </a:ln>
        </p:spPr>
        <p:txBody>
          <a:bodyPr anchor="ctr"/>
          <a:lstStyle/>
          <a:p>
            <a:pPr algn="ctr">
              <a:defRPr sz="1200" b="1">
                <a:solidFill>
                  <a:srgbClr val="58707C"/>
                </a:solidFill>
              </a:defRPr>
            </a:pPr>
            <a:r>
              <a:rPr sz="1200" b="1">
                <a:solidFill>
                  <a:srgbClr val="58707C"/>
                </a:solidFill>
              </a:rPr>
              <a:t>9</a:t>
            </a:r>
          </a:p>
        </p:txBody>
      </p:sp>
      <p:sp>
        <p:nvSpPr>
          <p:cNvPr id="33" name="Rectangle 32">
            <a:extLst>
              <a:ext uri="{FF2B5EF4-FFF2-40B4-BE49-F238E27FC236}">
                <a16:creationId xmlns:a16="http://schemas.microsoft.com/office/drawing/2014/main" id="{15F4875A-92F3-4799-A2C0-0D10C3529D1C}"/>
              </a:ext>
            </a:extLst>
          </p:cNvPr>
          <p:cNvSpPr>
            <a:spLocks noGrp="1"/>
          </p:cNvSpPr>
          <p:nvPr/>
        </p:nvSpPr>
        <p:spPr>
          <a:xfrm>
            <a:off x="8201025" y="3124200"/>
            <a:ext cx="400050" cy="2209800"/>
          </a:xfrm>
          <a:prstGeom prst="rect">
            <a:avLst/>
          </a:prstGeom>
          <a:solidFill>
            <a:srgbClr val="2878B5"/>
          </a:solidFill>
          <a:ln w="0">
            <a:solidFill>
              <a:srgbClr val="2878B5"/>
            </a:solidFill>
            <a:prstDash val="solid"/>
          </a:ln>
        </p:spPr>
        <p:txBody>
          <a:bodyPr/>
          <a:lstStyle/>
          <a:p>
            <a:endParaRPr lang="en-IQ"/>
          </a:p>
        </p:txBody>
      </p:sp>
      <p:sp>
        <p:nvSpPr>
          <p:cNvPr id="34" name="Rectangle 33">
            <a:extLst>
              <a:ext uri="{FF2B5EF4-FFF2-40B4-BE49-F238E27FC236}">
                <a16:creationId xmlns:a16="http://schemas.microsoft.com/office/drawing/2014/main" id="{0C34E089-9990-4DE6-87B9-9E2437948241}"/>
              </a:ext>
            </a:extLst>
          </p:cNvPr>
          <p:cNvSpPr>
            <a:spLocks noGrp="1"/>
          </p:cNvSpPr>
          <p:nvPr/>
        </p:nvSpPr>
        <p:spPr>
          <a:xfrm>
            <a:off x="8086725" y="2790825"/>
            <a:ext cx="628650" cy="247650"/>
          </a:xfrm>
          <a:prstGeom prst="rect">
            <a:avLst/>
          </a:prstGeom>
          <a:noFill/>
          <a:ln w="0">
            <a:noFill/>
            <a:prstDash val="solid"/>
          </a:ln>
        </p:spPr>
        <p:txBody>
          <a:bodyPr anchor="ctr"/>
          <a:lstStyle/>
          <a:p>
            <a:pPr algn="ctr">
              <a:defRPr sz="1200" b="1">
                <a:solidFill>
                  <a:srgbClr val="092A3D"/>
                </a:solidFill>
              </a:defRPr>
            </a:pPr>
            <a:r>
              <a:rPr sz="1200" b="1">
                <a:solidFill>
                  <a:srgbClr val="092A3D"/>
                </a:solidFill>
              </a:rPr>
              <a:t>56</a:t>
            </a:r>
          </a:p>
        </p:txBody>
      </p:sp>
      <p:sp>
        <p:nvSpPr>
          <p:cNvPr id="35" name="Rectangle 34">
            <a:extLst>
              <a:ext uri="{FF2B5EF4-FFF2-40B4-BE49-F238E27FC236}">
                <a16:creationId xmlns:a16="http://schemas.microsoft.com/office/drawing/2014/main" id="{B252BA3C-9A6C-4D9C-A62D-2F51008847F5}"/>
              </a:ext>
            </a:extLst>
          </p:cNvPr>
          <p:cNvSpPr>
            <a:spLocks noGrp="1"/>
          </p:cNvSpPr>
          <p:nvPr/>
        </p:nvSpPr>
        <p:spPr>
          <a:xfrm>
            <a:off x="8086725" y="5524500"/>
            <a:ext cx="628650" cy="247650"/>
          </a:xfrm>
          <a:prstGeom prst="rect">
            <a:avLst/>
          </a:prstGeom>
          <a:noFill/>
          <a:ln w="0">
            <a:noFill/>
            <a:prstDash val="solid"/>
          </a:ln>
        </p:spPr>
        <p:txBody>
          <a:bodyPr anchor="ctr"/>
          <a:lstStyle/>
          <a:p>
            <a:pPr algn="ctr">
              <a:defRPr sz="1200" b="1">
                <a:solidFill>
                  <a:srgbClr val="58707C"/>
                </a:solidFill>
              </a:defRPr>
            </a:pPr>
            <a:r>
              <a:rPr sz="1200" b="1">
                <a:solidFill>
                  <a:srgbClr val="58707C"/>
                </a:solidFill>
              </a:rPr>
              <a:t>10</a:t>
            </a:r>
          </a:p>
        </p:txBody>
      </p:sp>
      <p:sp>
        <p:nvSpPr>
          <p:cNvPr id="36" name="Rectangle 35">
            <a:extLst>
              <a:ext uri="{FF2B5EF4-FFF2-40B4-BE49-F238E27FC236}">
                <a16:creationId xmlns:a16="http://schemas.microsoft.com/office/drawing/2014/main" id="{2744855B-3212-4AFA-ABB4-53FC57A0CC87}"/>
              </a:ext>
            </a:extLst>
          </p:cNvPr>
          <p:cNvSpPr>
            <a:spLocks noGrp="1"/>
          </p:cNvSpPr>
          <p:nvPr/>
        </p:nvSpPr>
        <p:spPr>
          <a:xfrm>
            <a:off x="2190750" y="5953125"/>
            <a:ext cx="5334000" cy="238125"/>
          </a:xfrm>
          <a:prstGeom prst="rect">
            <a:avLst/>
          </a:prstGeom>
          <a:noFill/>
          <a:ln w="0">
            <a:noFill/>
            <a:prstDash val="solid"/>
          </a:ln>
        </p:spPr>
        <p:txBody>
          <a:bodyPr anchor="ctr"/>
          <a:lstStyle/>
          <a:p>
            <a:pPr algn="ctr">
              <a:defRPr sz="1125" b="1">
                <a:solidFill>
                  <a:srgbClr val="58707C"/>
                </a:solidFill>
              </a:defRPr>
            </a:pPr>
            <a:r>
              <a:rPr sz="1125" b="1">
                <a:solidFill>
                  <a:srgbClr val="58707C"/>
                </a:solidFill>
              </a:rPr>
              <a:t>RANDOM SEED (budget = 1,000 evaluations)</a:t>
            </a:r>
          </a:p>
        </p:txBody>
      </p:sp>
      <p:sp>
        <p:nvSpPr>
          <p:cNvPr id="37" name="Rectangle 36">
            <a:extLst>
              <a:ext uri="{FF2B5EF4-FFF2-40B4-BE49-F238E27FC236}">
                <a16:creationId xmlns:a16="http://schemas.microsoft.com/office/drawing/2014/main" id="{E6E03A61-8C25-4222-AED6-0BC1C414E72F}"/>
              </a:ext>
            </a:extLst>
          </p:cNvPr>
          <p:cNvSpPr>
            <a:spLocks noGrp="1"/>
          </p:cNvSpPr>
          <p:nvPr/>
        </p:nvSpPr>
        <p:spPr>
          <a:xfrm>
            <a:off x="9906000" y="2190750"/>
            <a:ext cx="1143000" cy="552450"/>
          </a:xfrm>
          <a:prstGeom prst="rect">
            <a:avLst/>
          </a:prstGeom>
          <a:noFill/>
          <a:ln w="0">
            <a:noFill/>
            <a:prstDash val="solid"/>
          </a:ln>
        </p:spPr>
        <p:txBody>
          <a:bodyPr anchor="ctr"/>
          <a:lstStyle/>
          <a:p>
            <a:pPr algn="ctr">
              <a:defRPr sz="2700" b="1">
                <a:solidFill>
                  <a:srgbClr val="0B9B91"/>
                </a:solidFill>
              </a:defRPr>
            </a:pPr>
            <a:r>
              <a:rPr sz="2700" b="1">
                <a:solidFill>
                  <a:srgbClr val="0B9B91"/>
                </a:solidFill>
              </a:rPr>
              <a:t>52</a:t>
            </a:r>
          </a:p>
        </p:txBody>
      </p:sp>
      <p:sp>
        <p:nvSpPr>
          <p:cNvPr id="38" name="Rectangle 37">
            <a:extLst>
              <a:ext uri="{FF2B5EF4-FFF2-40B4-BE49-F238E27FC236}">
                <a16:creationId xmlns:a16="http://schemas.microsoft.com/office/drawing/2014/main" id="{6F9035BA-A21C-4F90-B88B-686582A28E81}"/>
              </a:ext>
            </a:extLst>
          </p:cNvPr>
          <p:cNvSpPr>
            <a:spLocks noGrp="1"/>
          </p:cNvSpPr>
          <p:nvPr/>
        </p:nvSpPr>
        <p:spPr>
          <a:xfrm>
            <a:off x="9572625" y="2714625"/>
            <a:ext cx="1809750" cy="333375"/>
          </a:xfrm>
          <a:prstGeom prst="rect">
            <a:avLst/>
          </a:prstGeom>
          <a:noFill/>
          <a:ln w="0">
            <a:noFill/>
            <a:prstDash val="solid"/>
          </a:ln>
        </p:spPr>
        <p:txBody>
          <a:bodyPr anchor="ctr"/>
          <a:lstStyle/>
          <a:p>
            <a:pPr algn="ctr">
              <a:defRPr sz="1350" b="1">
                <a:solidFill>
                  <a:srgbClr val="58707C"/>
                </a:solidFill>
              </a:defRPr>
            </a:pPr>
            <a:r>
              <a:rPr sz="1350" b="1">
                <a:solidFill>
                  <a:srgbClr val="58707C"/>
                </a:solidFill>
              </a:rPr>
              <a:t>best shown</a:t>
            </a:r>
          </a:p>
        </p:txBody>
      </p:sp>
      <p:sp>
        <p:nvSpPr>
          <p:cNvPr id="39" name="Rectangle 38">
            <a:extLst>
              <a:ext uri="{FF2B5EF4-FFF2-40B4-BE49-F238E27FC236}">
                <a16:creationId xmlns:a16="http://schemas.microsoft.com/office/drawing/2014/main" id="{79D62609-3D5B-49CE-A6EC-EDC579BFC17A}"/>
              </a:ext>
            </a:extLst>
          </p:cNvPr>
          <p:cNvSpPr>
            <a:spLocks noGrp="1"/>
          </p:cNvSpPr>
          <p:nvPr/>
        </p:nvSpPr>
        <p:spPr>
          <a:xfrm>
            <a:off x="9906000" y="3810000"/>
            <a:ext cx="1143000" cy="552450"/>
          </a:xfrm>
          <a:prstGeom prst="rect">
            <a:avLst/>
          </a:prstGeom>
          <a:noFill/>
          <a:ln w="0">
            <a:noFill/>
            <a:prstDash val="solid"/>
          </a:ln>
        </p:spPr>
        <p:txBody>
          <a:bodyPr anchor="ctr"/>
          <a:lstStyle/>
          <a:p>
            <a:pPr algn="ctr">
              <a:defRPr sz="2700" b="1">
                <a:solidFill>
                  <a:srgbClr val="D95D5D"/>
                </a:solidFill>
              </a:defRPr>
            </a:pPr>
            <a:r>
              <a:rPr sz="2700" b="1">
                <a:solidFill>
                  <a:srgbClr val="D95D5D"/>
                </a:solidFill>
              </a:rPr>
              <a:t>59</a:t>
            </a:r>
          </a:p>
        </p:txBody>
      </p:sp>
      <p:sp>
        <p:nvSpPr>
          <p:cNvPr id="40" name="Rectangle 39">
            <a:extLst>
              <a:ext uri="{FF2B5EF4-FFF2-40B4-BE49-F238E27FC236}">
                <a16:creationId xmlns:a16="http://schemas.microsoft.com/office/drawing/2014/main" id="{2BA4AC71-42C3-4BBF-A671-97C55527A0CD}"/>
              </a:ext>
            </a:extLst>
          </p:cNvPr>
          <p:cNvSpPr>
            <a:spLocks noGrp="1"/>
          </p:cNvSpPr>
          <p:nvPr/>
        </p:nvSpPr>
        <p:spPr>
          <a:xfrm>
            <a:off x="9572625" y="4333875"/>
            <a:ext cx="1809750" cy="333375"/>
          </a:xfrm>
          <a:prstGeom prst="rect">
            <a:avLst/>
          </a:prstGeom>
          <a:noFill/>
          <a:ln w="0">
            <a:noFill/>
            <a:prstDash val="solid"/>
          </a:ln>
        </p:spPr>
        <p:txBody>
          <a:bodyPr anchor="ctr"/>
          <a:lstStyle/>
          <a:p>
            <a:pPr algn="ctr">
              <a:defRPr sz="1350" b="1">
                <a:solidFill>
                  <a:srgbClr val="58707C"/>
                </a:solidFill>
              </a:defRPr>
            </a:pPr>
            <a:r>
              <a:rPr sz="1350" b="1">
                <a:solidFill>
                  <a:srgbClr val="58707C"/>
                </a:solidFill>
              </a:rPr>
              <a:t>worst shown</a:t>
            </a:r>
          </a:p>
        </p:txBody>
      </p:sp>
    </p:spTree>
    <p:extLst>
      <p:ext uri="{BB962C8B-B14F-4D97-AF65-F5344CB8AC3E}">
        <p14:creationId xmlns:p14="http://schemas.microsoft.com/office/powerpoint/2010/main" val="13739620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4D2282EA-0AA1-4648-90E6-94E00A1FEE3C}"/>
              </a:ext>
            </a:extLst>
          </p:cNvPr>
          <p:cNvSpPr>
            <a:spLocks noGrp="1"/>
          </p:cNvSpPr>
          <p:nvPr/>
        </p:nvSpPr>
        <p:spPr>
          <a:xfrm>
            <a:off x="609600" y="285750"/>
            <a:ext cx="64770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INTERPRETATION</a:t>
            </a:r>
          </a:p>
        </p:txBody>
      </p:sp>
      <p:sp>
        <p:nvSpPr>
          <p:cNvPr id="2" name="Rectangle 1">
            <a:extLst>
              <a:ext uri="{FF2B5EF4-FFF2-40B4-BE49-F238E27FC236}">
                <a16:creationId xmlns:a16="http://schemas.microsoft.com/office/drawing/2014/main" id="{A0A14558-1F75-4718-9B59-4F034C8758B8}"/>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What this experiment supports—and what it does not</a:t>
            </a:r>
          </a:p>
        </p:txBody>
      </p:sp>
      <p:sp>
        <p:nvSpPr>
          <p:cNvPr id="3" name="Rectangle 2">
            <a:extLst>
              <a:ext uri="{FF2B5EF4-FFF2-40B4-BE49-F238E27FC236}">
                <a16:creationId xmlns:a16="http://schemas.microsoft.com/office/drawing/2014/main" id="{19C622D1-B706-4134-BA0C-540FC4E06D86}"/>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1372D229-A5C8-47A0-80FB-BA4E3875807A}"/>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2</a:t>
            </a:r>
          </a:p>
        </p:txBody>
      </p:sp>
      <p:sp>
        <p:nvSpPr>
          <p:cNvPr id="5" name="Rectangle 4">
            <a:extLst>
              <a:ext uri="{FF2B5EF4-FFF2-40B4-BE49-F238E27FC236}">
                <a16:creationId xmlns:a16="http://schemas.microsoft.com/office/drawing/2014/main" id="{51B14CA1-68A9-46C7-9206-748C5FAF0870}"/>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27</a:t>
            </a:r>
          </a:p>
        </p:txBody>
      </p:sp>
      <p:sp>
        <p:nvSpPr>
          <p:cNvPr id="6" name="Rectangle 5">
            <a:extLst>
              <a:ext uri="{FF2B5EF4-FFF2-40B4-BE49-F238E27FC236}">
                <a16:creationId xmlns:a16="http://schemas.microsoft.com/office/drawing/2014/main" id="{DF83C2EB-5940-497C-ACC5-E986C2B4DDE5}"/>
              </a:ext>
            </a:extLst>
          </p:cNvPr>
          <p:cNvSpPr>
            <a:spLocks noGrp="1"/>
          </p:cNvSpPr>
          <p:nvPr/>
        </p:nvSpPr>
        <p:spPr>
          <a:xfrm>
            <a:off x="1000125" y="1571625"/>
            <a:ext cx="3810000" cy="419100"/>
          </a:xfrm>
          <a:prstGeom prst="rect">
            <a:avLst/>
          </a:prstGeom>
          <a:noFill/>
          <a:ln w="0">
            <a:noFill/>
            <a:prstDash val="solid"/>
          </a:ln>
        </p:spPr>
        <p:txBody>
          <a:bodyPr anchor="ctr"/>
          <a:lstStyle/>
          <a:p>
            <a:pPr algn="ctr">
              <a:defRPr sz="2025" b="1">
                <a:solidFill>
                  <a:srgbClr val="0B9B91"/>
                </a:solidFill>
              </a:defRPr>
            </a:pPr>
            <a:r>
              <a:rPr sz="2025" b="1">
                <a:solidFill>
                  <a:srgbClr val="0B9B91"/>
                </a:solidFill>
              </a:rPr>
              <a:t>SUPPORTED</a:t>
            </a:r>
          </a:p>
        </p:txBody>
      </p:sp>
      <p:sp>
        <p:nvSpPr>
          <p:cNvPr id="7" name="Oval 6">
            <a:extLst>
              <a:ext uri="{FF2B5EF4-FFF2-40B4-BE49-F238E27FC236}">
                <a16:creationId xmlns:a16="http://schemas.microsoft.com/office/drawing/2014/main" id="{A5FFC541-71D0-4BB2-B7CC-E95FC5EF210C}"/>
              </a:ext>
            </a:extLst>
          </p:cNvPr>
          <p:cNvSpPr>
            <a:spLocks noGrp="1"/>
          </p:cNvSpPr>
          <p:nvPr/>
        </p:nvSpPr>
        <p:spPr>
          <a:xfrm>
            <a:off x="1047750" y="2381250"/>
            <a:ext cx="114300" cy="114300"/>
          </a:xfrm>
          <a:prstGeom prst="ellipse">
            <a:avLst/>
          </a:prstGeom>
          <a:solidFill>
            <a:srgbClr val="0B9B91"/>
          </a:solidFill>
          <a:ln w="0">
            <a:solidFill>
              <a:srgbClr val="0B9B91"/>
            </a:solidFill>
            <a:prstDash val="solid"/>
          </a:ln>
        </p:spPr>
        <p:txBody>
          <a:bodyPr/>
          <a:lstStyle/>
          <a:p>
            <a:endParaRPr lang="en-IQ"/>
          </a:p>
        </p:txBody>
      </p:sp>
      <p:sp>
        <p:nvSpPr>
          <p:cNvPr id="8" name="Rectangle 7">
            <a:extLst>
              <a:ext uri="{FF2B5EF4-FFF2-40B4-BE49-F238E27FC236}">
                <a16:creationId xmlns:a16="http://schemas.microsoft.com/office/drawing/2014/main" id="{1A8EEE4E-E5D4-42FC-84BC-19BEDD91697A}"/>
              </a:ext>
            </a:extLst>
          </p:cNvPr>
          <p:cNvSpPr>
            <a:spLocks noGrp="1"/>
          </p:cNvSpPr>
          <p:nvPr/>
        </p:nvSpPr>
        <p:spPr>
          <a:xfrm>
            <a:off x="1323975" y="2190750"/>
            <a:ext cx="4200525" cy="695325"/>
          </a:xfrm>
          <a:prstGeom prst="rect">
            <a:avLst/>
          </a:prstGeom>
          <a:noFill/>
          <a:ln w="0">
            <a:noFill/>
            <a:prstDash val="solid"/>
          </a:ln>
        </p:spPr>
        <p:txBody>
          <a:bodyPr anchor="ctr"/>
          <a:lstStyle/>
          <a:p>
            <a:pPr algn="l">
              <a:defRPr sz="1500" b="0">
                <a:solidFill>
                  <a:srgbClr val="183544"/>
                </a:solidFill>
              </a:defRPr>
            </a:pPr>
            <a:r>
              <a:rPr sz="1500" b="0">
                <a:solidFill>
                  <a:srgbClr val="183544"/>
                </a:solidFill>
              </a:rPr>
              <a:t>more evaluations improved mean result</a:t>
            </a:r>
          </a:p>
        </p:txBody>
      </p:sp>
      <p:sp>
        <p:nvSpPr>
          <p:cNvPr id="9" name="Oval 8">
            <a:extLst>
              <a:ext uri="{FF2B5EF4-FFF2-40B4-BE49-F238E27FC236}">
                <a16:creationId xmlns:a16="http://schemas.microsoft.com/office/drawing/2014/main" id="{3A3D4DB0-A107-474E-9A0C-B57954E044A6}"/>
              </a:ext>
            </a:extLst>
          </p:cNvPr>
          <p:cNvSpPr>
            <a:spLocks noGrp="1"/>
          </p:cNvSpPr>
          <p:nvPr/>
        </p:nvSpPr>
        <p:spPr>
          <a:xfrm>
            <a:off x="1047750" y="3076575"/>
            <a:ext cx="114300" cy="114300"/>
          </a:xfrm>
          <a:prstGeom prst="ellipse">
            <a:avLst/>
          </a:prstGeom>
          <a:solidFill>
            <a:srgbClr val="0B9B91"/>
          </a:solidFill>
          <a:ln w="0">
            <a:solidFill>
              <a:srgbClr val="0B9B91"/>
            </a:solidFill>
            <a:prstDash val="solid"/>
          </a:ln>
        </p:spPr>
        <p:txBody>
          <a:bodyPr/>
          <a:lstStyle/>
          <a:p>
            <a:endParaRPr lang="en-IQ"/>
          </a:p>
        </p:txBody>
      </p:sp>
      <p:sp>
        <p:nvSpPr>
          <p:cNvPr id="10" name="Rectangle 9">
            <a:extLst>
              <a:ext uri="{FF2B5EF4-FFF2-40B4-BE49-F238E27FC236}">
                <a16:creationId xmlns:a16="http://schemas.microsoft.com/office/drawing/2014/main" id="{7F43A698-FEDD-49B9-9D9C-47D482CF4D44}"/>
              </a:ext>
            </a:extLst>
          </p:cNvPr>
          <p:cNvSpPr>
            <a:spLocks noGrp="1"/>
          </p:cNvSpPr>
          <p:nvPr/>
        </p:nvSpPr>
        <p:spPr>
          <a:xfrm>
            <a:off x="1323975" y="2886075"/>
            <a:ext cx="4200525" cy="695325"/>
          </a:xfrm>
          <a:prstGeom prst="rect">
            <a:avLst/>
          </a:prstGeom>
          <a:noFill/>
          <a:ln w="0">
            <a:noFill/>
            <a:prstDash val="solid"/>
          </a:ln>
        </p:spPr>
        <p:txBody>
          <a:bodyPr anchor="ctr"/>
          <a:lstStyle/>
          <a:p>
            <a:pPr algn="l">
              <a:defRPr sz="1500" b="0">
                <a:solidFill>
                  <a:srgbClr val="183544"/>
                </a:solidFill>
              </a:defRPr>
            </a:pPr>
            <a:r>
              <a:rPr sz="1500" b="0">
                <a:solidFill>
                  <a:srgbClr val="183544"/>
                </a:solidFill>
              </a:rPr>
              <a:t>larger budgets reduced variation</a:t>
            </a:r>
          </a:p>
        </p:txBody>
      </p:sp>
      <p:sp>
        <p:nvSpPr>
          <p:cNvPr id="11" name="Oval 10">
            <a:extLst>
              <a:ext uri="{FF2B5EF4-FFF2-40B4-BE49-F238E27FC236}">
                <a16:creationId xmlns:a16="http://schemas.microsoft.com/office/drawing/2014/main" id="{1553002A-25CB-4645-9D7D-7871E3DDFA03}"/>
              </a:ext>
            </a:extLst>
          </p:cNvPr>
          <p:cNvSpPr>
            <a:spLocks noGrp="1"/>
          </p:cNvSpPr>
          <p:nvPr/>
        </p:nvSpPr>
        <p:spPr>
          <a:xfrm>
            <a:off x="1047750" y="3771900"/>
            <a:ext cx="114300" cy="114300"/>
          </a:xfrm>
          <a:prstGeom prst="ellipse">
            <a:avLst/>
          </a:prstGeom>
          <a:solidFill>
            <a:srgbClr val="0B9B91"/>
          </a:solidFill>
          <a:ln w="0">
            <a:solidFill>
              <a:srgbClr val="0B9B91"/>
            </a:solidFill>
            <a:prstDash val="solid"/>
          </a:ln>
        </p:spPr>
        <p:txBody>
          <a:bodyPr/>
          <a:lstStyle/>
          <a:p>
            <a:endParaRPr lang="en-IQ"/>
          </a:p>
        </p:txBody>
      </p:sp>
      <p:sp>
        <p:nvSpPr>
          <p:cNvPr id="12" name="Rectangle 11">
            <a:extLst>
              <a:ext uri="{FF2B5EF4-FFF2-40B4-BE49-F238E27FC236}">
                <a16:creationId xmlns:a16="http://schemas.microsoft.com/office/drawing/2014/main" id="{6CA00996-58CA-4335-A79D-D87B3D94E756}"/>
              </a:ext>
            </a:extLst>
          </p:cNvPr>
          <p:cNvSpPr>
            <a:spLocks noGrp="1"/>
          </p:cNvSpPr>
          <p:nvPr/>
        </p:nvSpPr>
        <p:spPr>
          <a:xfrm>
            <a:off x="1323975" y="3581400"/>
            <a:ext cx="4200525" cy="695325"/>
          </a:xfrm>
          <a:prstGeom prst="rect">
            <a:avLst/>
          </a:prstGeom>
          <a:noFill/>
          <a:ln w="0">
            <a:noFill/>
            <a:prstDash val="solid"/>
          </a:ln>
        </p:spPr>
        <p:txBody>
          <a:bodyPr anchor="ctr"/>
          <a:lstStyle/>
          <a:p>
            <a:pPr algn="l">
              <a:defRPr sz="1500" b="0">
                <a:solidFill>
                  <a:srgbClr val="183544"/>
                </a:solidFill>
              </a:defRPr>
            </a:pPr>
            <a:r>
              <a:rPr sz="1500" b="0">
                <a:solidFill>
                  <a:srgbClr val="183544"/>
                </a:solidFill>
              </a:rPr>
              <a:t>100+ evaluations found feasibility in all runs</a:t>
            </a:r>
          </a:p>
        </p:txBody>
      </p:sp>
      <p:sp>
        <p:nvSpPr>
          <p:cNvPr id="13" name="Oval 12">
            <a:extLst>
              <a:ext uri="{FF2B5EF4-FFF2-40B4-BE49-F238E27FC236}">
                <a16:creationId xmlns:a16="http://schemas.microsoft.com/office/drawing/2014/main" id="{5332C00B-6E1B-4224-9D05-5441FF11DFD1}"/>
              </a:ext>
            </a:extLst>
          </p:cNvPr>
          <p:cNvSpPr>
            <a:spLocks noGrp="1"/>
          </p:cNvSpPr>
          <p:nvPr/>
        </p:nvSpPr>
        <p:spPr>
          <a:xfrm>
            <a:off x="1047750" y="4467225"/>
            <a:ext cx="114300" cy="114300"/>
          </a:xfrm>
          <a:prstGeom prst="ellipse">
            <a:avLst/>
          </a:prstGeom>
          <a:solidFill>
            <a:srgbClr val="0B9B91"/>
          </a:solidFill>
          <a:ln w="0">
            <a:solidFill>
              <a:srgbClr val="0B9B91"/>
            </a:solidFill>
            <a:prstDash val="solid"/>
          </a:ln>
        </p:spPr>
        <p:txBody>
          <a:bodyPr/>
          <a:lstStyle/>
          <a:p>
            <a:endParaRPr lang="en-IQ"/>
          </a:p>
        </p:txBody>
      </p:sp>
      <p:sp>
        <p:nvSpPr>
          <p:cNvPr id="14" name="Rectangle 13">
            <a:extLst>
              <a:ext uri="{FF2B5EF4-FFF2-40B4-BE49-F238E27FC236}">
                <a16:creationId xmlns:a16="http://schemas.microsoft.com/office/drawing/2014/main" id="{8F39E061-BC07-462D-BC31-A304A8D0110F}"/>
              </a:ext>
            </a:extLst>
          </p:cNvPr>
          <p:cNvSpPr>
            <a:spLocks noGrp="1"/>
          </p:cNvSpPr>
          <p:nvPr/>
        </p:nvSpPr>
        <p:spPr>
          <a:xfrm>
            <a:off x="1323975" y="4276725"/>
            <a:ext cx="4200525" cy="695325"/>
          </a:xfrm>
          <a:prstGeom prst="rect">
            <a:avLst/>
          </a:prstGeom>
          <a:noFill/>
          <a:ln w="0">
            <a:noFill/>
            <a:prstDash val="solid"/>
          </a:ln>
        </p:spPr>
        <p:txBody>
          <a:bodyPr anchor="ctr"/>
          <a:lstStyle/>
          <a:p>
            <a:pPr algn="l">
              <a:defRPr sz="1500" b="0">
                <a:solidFill>
                  <a:srgbClr val="183544"/>
                </a:solidFill>
              </a:defRPr>
            </a:pPr>
            <a:r>
              <a:rPr sz="1500" b="0">
                <a:solidFill>
                  <a:srgbClr val="183544"/>
                </a:solidFill>
              </a:rPr>
              <a:t>random search supplied a strong baseline</a:t>
            </a:r>
          </a:p>
        </p:txBody>
      </p:sp>
      <p:sp>
        <p:nvSpPr>
          <p:cNvPr id="15" name="Rectangle 14">
            <a:extLst>
              <a:ext uri="{FF2B5EF4-FFF2-40B4-BE49-F238E27FC236}">
                <a16:creationId xmlns:a16="http://schemas.microsoft.com/office/drawing/2014/main" id="{BB8F3CA5-DD01-43C9-BBF6-0E1CCA4846CF}"/>
              </a:ext>
            </a:extLst>
          </p:cNvPr>
          <p:cNvSpPr>
            <a:spLocks noGrp="1"/>
          </p:cNvSpPr>
          <p:nvPr/>
        </p:nvSpPr>
        <p:spPr>
          <a:xfrm>
            <a:off x="7000875" y="1571625"/>
            <a:ext cx="3810000" cy="419100"/>
          </a:xfrm>
          <a:prstGeom prst="rect">
            <a:avLst/>
          </a:prstGeom>
          <a:noFill/>
          <a:ln w="0">
            <a:noFill/>
            <a:prstDash val="solid"/>
          </a:ln>
        </p:spPr>
        <p:txBody>
          <a:bodyPr anchor="ctr"/>
          <a:lstStyle/>
          <a:p>
            <a:pPr algn="ctr">
              <a:defRPr sz="2025" b="1">
                <a:solidFill>
                  <a:srgbClr val="D95D5D"/>
                </a:solidFill>
              </a:defRPr>
            </a:pPr>
            <a:r>
              <a:rPr sz="2025" b="1">
                <a:solidFill>
                  <a:srgbClr val="D95D5D"/>
                </a:solidFill>
              </a:rPr>
              <a:t>NOT SUPPORTED</a:t>
            </a:r>
          </a:p>
        </p:txBody>
      </p:sp>
      <p:sp>
        <p:nvSpPr>
          <p:cNvPr id="16" name="Oval 15">
            <a:extLst>
              <a:ext uri="{FF2B5EF4-FFF2-40B4-BE49-F238E27FC236}">
                <a16:creationId xmlns:a16="http://schemas.microsoft.com/office/drawing/2014/main" id="{62C7E6B1-FBFF-453D-93F6-E83D3CA2E1D8}"/>
              </a:ext>
            </a:extLst>
          </p:cNvPr>
          <p:cNvSpPr>
            <a:spLocks noGrp="1"/>
          </p:cNvSpPr>
          <p:nvPr/>
        </p:nvSpPr>
        <p:spPr>
          <a:xfrm>
            <a:off x="7048500" y="2381250"/>
            <a:ext cx="114300" cy="114300"/>
          </a:xfrm>
          <a:prstGeom prst="ellipse">
            <a:avLst/>
          </a:prstGeom>
          <a:solidFill>
            <a:srgbClr val="D95D5D"/>
          </a:solidFill>
          <a:ln w="0">
            <a:solidFill>
              <a:srgbClr val="D95D5D"/>
            </a:solidFill>
            <a:prstDash val="solid"/>
          </a:ln>
        </p:spPr>
        <p:txBody>
          <a:bodyPr/>
          <a:lstStyle/>
          <a:p>
            <a:endParaRPr lang="en-IQ"/>
          </a:p>
        </p:txBody>
      </p:sp>
      <p:sp>
        <p:nvSpPr>
          <p:cNvPr id="17" name="Rectangle 16">
            <a:extLst>
              <a:ext uri="{FF2B5EF4-FFF2-40B4-BE49-F238E27FC236}">
                <a16:creationId xmlns:a16="http://schemas.microsoft.com/office/drawing/2014/main" id="{A9496821-8673-42A1-A1A6-EE3C619C5348}"/>
              </a:ext>
            </a:extLst>
          </p:cNvPr>
          <p:cNvSpPr>
            <a:spLocks noGrp="1"/>
          </p:cNvSpPr>
          <p:nvPr/>
        </p:nvSpPr>
        <p:spPr>
          <a:xfrm>
            <a:off x="7324725" y="2190750"/>
            <a:ext cx="4200525" cy="695325"/>
          </a:xfrm>
          <a:prstGeom prst="rect">
            <a:avLst/>
          </a:prstGeom>
          <a:noFill/>
          <a:ln w="0">
            <a:noFill/>
            <a:prstDash val="solid"/>
          </a:ln>
        </p:spPr>
        <p:txBody>
          <a:bodyPr anchor="ctr"/>
          <a:lstStyle/>
          <a:p>
            <a:pPr algn="l">
              <a:defRPr sz="1500" b="0">
                <a:solidFill>
                  <a:srgbClr val="183544"/>
                </a:solidFill>
              </a:defRPr>
            </a:pPr>
            <a:r>
              <a:rPr sz="1500" b="0">
                <a:solidFill>
                  <a:srgbClr val="183544"/>
                </a:solidFill>
              </a:rPr>
              <a:t>random search found the optimum</a:t>
            </a:r>
          </a:p>
        </p:txBody>
      </p:sp>
      <p:sp>
        <p:nvSpPr>
          <p:cNvPr id="18" name="Oval 17">
            <a:extLst>
              <a:ext uri="{FF2B5EF4-FFF2-40B4-BE49-F238E27FC236}">
                <a16:creationId xmlns:a16="http://schemas.microsoft.com/office/drawing/2014/main" id="{06F73E6C-22E8-41D3-96FA-61597AAB62E1}"/>
              </a:ext>
            </a:extLst>
          </p:cNvPr>
          <p:cNvSpPr>
            <a:spLocks noGrp="1"/>
          </p:cNvSpPr>
          <p:nvPr/>
        </p:nvSpPr>
        <p:spPr>
          <a:xfrm>
            <a:off x="7048500" y="3076575"/>
            <a:ext cx="114300" cy="114300"/>
          </a:xfrm>
          <a:prstGeom prst="ellipse">
            <a:avLst/>
          </a:prstGeom>
          <a:solidFill>
            <a:srgbClr val="D95D5D"/>
          </a:solidFill>
          <a:ln w="0">
            <a:solidFill>
              <a:srgbClr val="D95D5D"/>
            </a:solidFill>
            <a:prstDash val="solid"/>
          </a:ln>
        </p:spPr>
        <p:txBody>
          <a:bodyPr/>
          <a:lstStyle/>
          <a:p>
            <a:endParaRPr lang="en-IQ"/>
          </a:p>
        </p:txBody>
      </p:sp>
      <p:sp>
        <p:nvSpPr>
          <p:cNvPr id="19" name="Rectangle 18">
            <a:extLst>
              <a:ext uri="{FF2B5EF4-FFF2-40B4-BE49-F238E27FC236}">
                <a16:creationId xmlns:a16="http://schemas.microsoft.com/office/drawing/2014/main" id="{5E02D695-0672-4F3A-936C-99A7D0CE9756}"/>
              </a:ext>
            </a:extLst>
          </p:cNvPr>
          <p:cNvSpPr>
            <a:spLocks noGrp="1"/>
          </p:cNvSpPr>
          <p:nvPr/>
        </p:nvSpPr>
        <p:spPr>
          <a:xfrm>
            <a:off x="7324725" y="2886075"/>
            <a:ext cx="4200525" cy="695325"/>
          </a:xfrm>
          <a:prstGeom prst="rect">
            <a:avLst/>
          </a:prstGeom>
          <a:noFill/>
          <a:ln w="0">
            <a:noFill/>
            <a:prstDash val="solid"/>
          </a:ln>
        </p:spPr>
        <p:txBody>
          <a:bodyPr anchor="ctr"/>
          <a:lstStyle/>
          <a:p>
            <a:pPr algn="l">
              <a:defRPr sz="1500" b="0">
                <a:solidFill>
                  <a:srgbClr val="183544"/>
                </a:solidFill>
              </a:defRPr>
            </a:pPr>
            <a:r>
              <a:rPr sz="1500" b="0">
                <a:solidFill>
                  <a:srgbClr val="183544"/>
                </a:solidFill>
              </a:rPr>
              <a:t>5,000 evaluations are always sufficient</a:t>
            </a:r>
          </a:p>
        </p:txBody>
      </p:sp>
      <p:sp>
        <p:nvSpPr>
          <p:cNvPr id="20" name="Oval 19">
            <a:extLst>
              <a:ext uri="{FF2B5EF4-FFF2-40B4-BE49-F238E27FC236}">
                <a16:creationId xmlns:a16="http://schemas.microsoft.com/office/drawing/2014/main" id="{32AAF791-29D6-45B5-B9C6-CBF75215D7AB}"/>
              </a:ext>
            </a:extLst>
          </p:cNvPr>
          <p:cNvSpPr>
            <a:spLocks noGrp="1"/>
          </p:cNvSpPr>
          <p:nvPr/>
        </p:nvSpPr>
        <p:spPr>
          <a:xfrm>
            <a:off x="7048500" y="3771900"/>
            <a:ext cx="114300" cy="114300"/>
          </a:xfrm>
          <a:prstGeom prst="ellipse">
            <a:avLst/>
          </a:prstGeom>
          <a:solidFill>
            <a:srgbClr val="D95D5D"/>
          </a:solidFill>
          <a:ln w="0">
            <a:solidFill>
              <a:srgbClr val="D95D5D"/>
            </a:solidFill>
            <a:prstDash val="solid"/>
          </a:ln>
        </p:spPr>
        <p:txBody>
          <a:bodyPr/>
          <a:lstStyle/>
          <a:p>
            <a:endParaRPr lang="en-IQ"/>
          </a:p>
        </p:txBody>
      </p:sp>
      <p:sp>
        <p:nvSpPr>
          <p:cNvPr id="21" name="Rectangle 20">
            <a:extLst>
              <a:ext uri="{FF2B5EF4-FFF2-40B4-BE49-F238E27FC236}">
                <a16:creationId xmlns:a16="http://schemas.microsoft.com/office/drawing/2014/main" id="{52DDED83-54C0-40E2-996A-D4E87E1044B6}"/>
              </a:ext>
            </a:extLst>
          </p:cNvPr>
          <p:cNvSpPr>
            <a:spLocks noGrp="1"/>
          </p:cNvSpPr>
          <p:nvPr/>
        </p:nvSpPr>
        <p:spPr>
          <a:xfrm>
            <a:off x="7324725" y="3581400"/>
            <a:ext cx="4200525" cy="695325"/>
          </a:xfrm>
          <a:prstGeom prst="rect">
            <a:avLst/>
          </a:prstGeom>
          <a:noFill/>
          <a:ln w="0">
            <a:noFill/>
            <a:prstDash val="solid"/>
          </a:ln>
        </p:spPr>
        <p:txBody>
          <a:bodyPr anchor="ctr"/>
          <a:lstStyle/>
          <a:p>
            <a:pPr algn="l">
              <a:defRPr sz="1500" b="0">
                <a:solidFill>
                  <a:srgbClr val="183544"/>
                </a:solidFill>
              </a:defRPr>
            </a:pPr>
            <a:r>
              <a:rPr sz="1500" b="0">
                <a:solidFill>
                  <a:srgbClr val="183544"/>
                </a:solidFill>
              </a:rPr>
              <a:t>seed 7 is representative</a:t>
            </a:r>
          </a:p>
        </p:txBody>
      </p:sp>
      <p:sp>
        <p:nvSpPr>
          <p:cNvPr id="22" name="Oval 21">
            <a:extLst>
              <a:ext uri="{FF2B5EF4-FFF2-40B4-BE49-F238E27FC236}">
                <a16:creationId xmlns:a16="http://schemas.microsoft.com/office/drawing/2014/main" id="{C3116562-078C-43D1-B8E5-EBE2FDB6D2C7}"/>
              </a:ext>
            </a:extLst>
          </p:cNvPr>
          <p:cNvSpPr>
            <a:spLocks noGrp="1"/>
          </p:cNvSpPr>
          <p:nvPr/>
        </p:nvSpPr>
        <p:spPr>
          <a:xfrm>
            <a:off x="7048500" y="4467225"/>
            <a:ext cx="114300" cy="114300"/>
          </a:xfrm>
          <a:prstGeom prst="ellipse">
            <a:avLst/>
          </a:prstGeom>
          <a:solidFill>
            <a:srgbClr val="D95D5D"/>
          </a:solidFill>
          <a:ln w="0">
            <a:solidFill>
              <a:srgbClr val="D95D5D"/>
            </a:solidFill>
            <a:prstDash val="solid"/>
          </a:ln>
        </p:spPr>
        <p:txBody>
          <a:bodyPr/>
          <a:lstStyle/>
          <a:p>
            <a:endParaRPr lang="en-IQ"/>
          </a:p>
        </p:txBody>
      </p:sp>
      <p:sp>
        <p:nvSpPr>
          <p:cNvPr id="23" name="Rectangle 22">
            <a:extLst>
              <a:ext uri="{FF2B5EF4-FFF2-40B4-BE49-F238E27FC236}">
                <a16:creationId xmlns:a16="http://schemas.microsoft.com/office/drawing/2014/main" id="{3ECE3ADC-AF57-41BB-B4B9-A7B5D571EC2B}"/>
              </a:ext>
            </a:extLst>
          </p:cNvPr>
          <p:cNvSpPr>
            <a:spLocks noGrp="1"/>
          </p:cNvSpPr>
          <p:nvPr/>
        </p:nvSpPr>
        <p:spPr>
          <a:xfrm>
            <a:off x="7324725" y="4276725"/>
            <a:ext cx="4200525" cy="695325"/>
          </a:xfrm>
          <a:prstGeom prst="rect">
            <a:avLst/>
          </a:prstGeom>
          <a:noFill/>
          <a:ln w="0">
            <a:noFill/>
            <a:prstDash val="solid"/>
          </a:ln>
        </p:spPr>
        <p:txBody>
          <a:bodyPr anchor="ctr"/>
          <a:lstStyle/>
          <a:p>
            <a:pPr algn="l">
              <a:defRPr sz="1500" b="0">
                <a:solidFill>
                  <a:srgbClr val="183544"/>
                </a:solidFill>
              </a:defRPr>
            </a:pPr>
            <a:r>
              <a:rPr sz="1500" b="0">
                <a:solidFill>
                  <a:srgbClr val="183544"/>
                </a:solidFill>
              </a:rPr>
              <a:t>the method will scale well to every problem</a:t>
            </a:r>
          </a:p>
        </p:txBody>
      </p:sp>
      <p:sp>
        <p:nvSpPr>
          <p:cNvPr id="24" name="Rounded Rectangle 23">
            <a:extLst>
              <a:ext uri="{FF2B5EF4-FFF2-40B4-BE49-F238E27FC236}">
                <a16:creationId xmlns:a16="http://schemas.microsoft.com/office/drawing/2014/main" id="{7082473B-3C65-40C2-A35B-1EC5D92BA3A2}"/>
              </a:ext>
            </a:extLst>
          </p:cNvPr>
          <p:cNvSpPr>
            <a:spLocks noGrp="1"/>
          </p:cNvSpPr>
          <p:nvPr/>
        </p:nvSpPr>
        <p:spPr>
          <a:xfrm>
            <a:off x="2381250" y="5429250"/>
            <a:ext cx="7429500" cy="590550"/>
          </a:xfrm>
          <a:prstGeom prst="roundRect">
            <a:avLst>
              <a:gd name="adj" fmla="val 12903"/>
            </a:avLst>
          </a:prstGeom>
          <a:solidFill>
            <a:srgbClr val="092A3D"/>
          </a:solidFill>
          <a:ln w="0">
            <a:solidFill>
              <a:srgbClr val="092A3D"/>
            </a:solidFill>
            <a:prstDash val="solid"/>
          </a:ln>
        </p:spPr>
        <p:txBody>
          <a:bodyPr/>
          <a:lstStyle/>
          <a:p>
            <a:endParaRPr lang="en-IQ"/>
          </a:p>
        </p:txBody>
      </p:sp>
      <p:sp>
        <p:nvSpPr>
          <p:cNvPr id="25" name="Rectangle 24">
            <a:extLst>
              <a:ext uri="{FF2B5EF4-FFF2-40B4-BE49-F238E27FC236}">
                <a16:creationId xmlns:a16="http://schemas.microsoft.com/office/drawing/2014/main" id="{83F2EC26-BBBC-4796-8689-4DD34C1FECFB}"/>
              </a:ext>
            </a:extLst>
          </p:cNvPr>
          <p:cNvSpPr>
            <a:spLocks noGrp="1"/>
          </p:cNvSpPr>
          <p:nvPr/>
        </p:nvSpPr>
        <p:spPr>
          <a:xfrm>
            <a:off x="2571750" y="5505450"/>
            <a:ext cx="7048500" cy="438150"/>
          </a:xfrm>
          <a:prstGeom prst="rect">
            <a:avLst/>
          </a:prstGeom>
          <a:noFill/>
          <a:ln w="0">
            <a:noFill/>
            <a:prstDash val="solid"/>
          </a:ln>
        </p:spPr>
        <p:txBody>
          <a:bodyPr anchor="ctr"/>
          <a:lstStyle/>
          <a:p>
            <a:pPr algn="ctr">
              <a:defRPr sz="1650" b="1">
                <a:solidFill>
                  <a:srgbClr val="FFFFFF"/>
                </a:solidFill>
              </a:defRPr>
            </a:pPr>
            <a:r>
              <a:rPr sz="1650" b="1">
                <a:solidFill>
                  <a:srgbClr val="FFFFFF"/>
                </a:solidFill>
              </a:rPr>
              <a:t>A scientific conclusion stays inside the evidence.</a:t>
            </a:r>
          </a:p>
        </p:txBody>
      </p:sp>
    </p:spTree>
    <p:extLst>
      <p:ext uri="{BB962C8B-B14F-4D97-AF65-F5344CB8AC3E}">
        <p14:creationId xmlns:p14="http://schemas.microsoft.com/office/powerpoint/2010/main" val="19777998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C586AB6F-128C-44C4-A30D-1446EFDBCE94}"/>
              </a:ext>
            </a:extLst>
          </p:cNvPr>
          <p:cNvSpPr>
            <a:spLocks noGrp="1"/>
          </p:cNvSpPr>
          <p:nvPr/>
        </p:nvSpPr>
        <p:spPr>
          <a:xfrm>
            <a:off x="609600" y="285750"/>
            <a:ext cx="64770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METHOD JUDGMENT</a:t>
            </a:r>
          </a:p>
        </p:txBody>
      </p:sp>
      <p:sp>
        <p:nvSpPr>
          <p:cNvPr id="2" name="Rectangle 1">
            <a:extLst>
              <a:ext uri="{FF2B5EF4-FFF2-40B4-BE49-F238E27FC236}">
                <a16:creationId xmlns:a16="http://schemas.microsoft.com/office/drawing/2014/main" id="{84915311-CEB8-4C4A-8648-65FF14642963}"/>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Random search is valuable because it is a transparent baseline</a:t>
            </a:r>
          </a:p>
        </p:txBody>
      </p:sp>
      <p:sp>
        <p:nvSpPr>
          <p:cNvPr id="3" name="Rectangle 2">
            <a:extLst>
              <a:ext uri="{FF2B5EF4-FFF2-40B4-BE49-F238E27FC236}">
                <a16:creationId xmlns:a16="http://schemas.microsoft.com/office/drawing/2014/main" id="{0B65BE4A-CEF0-45B4-8FF1-CFBD9A8AF3C2}"/>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23863E07-FEC0-4E24-BA56-A2062F548747}"/>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2</a:t>
            </a:r>
          </a:p>
        </p:txBody>
      </p:sp>
      <p:sp>
        <p:nvSpPr>
          <p:cNvPr id="5" name="Rectangle 4">
            <a:extLst>
              <a:ext uri="{FF2B5EF4-FFF2-40B4-BE49-F238E27FC236}">
                <a16:creationId xmlns:a16="http://schemas.microsoft.com/office/drawing/2014/main" id="{9FBADA11-1215-482E-BF79-633B8A1BA41C}"/>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28</a:t>
            </a:r>
          </a:p>
        </p:txBody>
      </p:sp>
      <p:sp>
        <p:nvSpPr>
          <p:cNvPr id="6" name="Rounded Rectangle 5">
            <a:extLst>
              <a:ext uri="{FF2B5EF4-FFF2-40B4-BE49-F238E27FC236}">
                <a16:creationId xmlns:a16="http://schemas.microsoft.com/office/drawing/2014/main" id="{F92A75C9-98E0-4655-AFB2-3C1ACC72CD47}"/>
              </a:ext>
            </a:extLst>
          </p:cNvPr>
          <p:cNvSpPr>
            <a:spLocks noGrp="1"/>
          </p:cNvSpPr>
          <p:nvPr/>
        </p:nvSpPr>
        <p:spPr>
          <a:xfrm>
            <a:off x="762000" y="1619250"/>
            <a:ext cx="4857750" cy="3429000"/>
          </a:xfrm>
          <a:prstGeom prst="roundRect">
            <a:avLst>
              <a:gd name="adj" fmla="val 2222"/>
            </a:avLst>
          </a:prstGeom>
          <a:solidFill>
            <a:srgbClr val="E6F3F2"/>
          </a:solidFill>
          <a:ln w="19050">
            <a:solidFill>
              <a:srgbClr val="0B9B91"/>
            </a:solidFill>
            <a:prstDash val="solid"/>
          </a:ln>
        </p:spPr>
        <p:txBody>
          <a:bodyPr/>
          <a:lstStyle/>
          <a:p>
            <a:endParaRPr lang="en-IQ"/>
          </a:p>
        </p:txBody>
      </p:sp>
      <p:sp>
        <p:nvSpPr>
          <p:cNvPr id="7" name="Rectangle 6">
            <a:extLst>
              <a:ext uri="{FF2B5EF4-FFF2-40B4-BE49-F238E27FC236}">
                <a16:creationId xmlns:a16="http://schemas.microsoft.com/office/drawing/2014/main" id="{40A12EE2-A7B1-4FE9-A919-FE489E0BC7F0}"/>
              </a:ext>
            </a:extLst>
          </p:cNvPr>
          <p:cNvSpPr>
            <a:spLocks noGrp="1"/>
          </p:cNvSpPr>
          <p:nvPr/>
        </p:nvSpPr>
        <p:spPr>
          <a:xfrm>
            <a:off x="1190625" y="1952625"/>
            <a:ext cx="4000500" cy="361950"/>
          </a:xfrm>
          <a:prstGeom prst="rect">
            <a:avLst/>
          </a:prstGeom>
          <a:noFill/>
          <a:ln w="0">
            <a:noFill/>
            <a:prstDash val="solid"/>
          </a:ln>
        </p:spPr>
        <p:txBody>
          <a:bodyPr anchor="ctr"/>
          <a:lstStyle/>
          <a:p>
            <a:pPr algn="ctr">
              <a:defRPr sz="1875" b="1">
                <a:solidFill>
                  <a:srgbClr val="0B9B91"/>
                </a:solidFill>
              </a:defRPr>
            </a:pPr>
            <a:r>
              <a:rPr sz="1875" b="1">
                <a:solidFill>
                  <a:srgbClr val="0B9B91"/>
                </a:solidFill>
              </a:rPr>
              <a:t>STRENGTHS</a:t>
            </a:r>
          </a:p>
        </p:txBody>
      </p:sp>
      <p:sp>
        <p:nvSpPr>
          <p:cNvPr id="8" name="Oval 7">
            <a:extLst>
              <a:ext uri="{FF2B5EF4-FFF2-40B4-BE49-F238E27FC236}">
                <a16:creationId xmlns:a16="http://schemas.microsoft.com/office/drawing/2014/main" id="{71FB8755-811F-450C-8981-D698F1672541}"/>
              </a:ext>
            </a:extLst>
          </p:cNvPr>
          <p:cNvSpPr>
            <a:spLocks noGrp="1"/>
          </p:cNvSpPr>
          <p:nvPr/>
        </p:nvSpPr>
        <p:spPr>
          <a:xfrm>
            <a:off x="1333500" y="2762250"/>
            <a:ext cx="114300" cy="114300"/>
          </a:xfrm>
          <a:prstGeom prst="ellipse">
            <a:avLst/>
          </a:prstGeom>
          <a:solidFill>
            <a:srgbClr val="0B9B91"/>
          </a:solidFill>
          <a:ln w="0">
            <a:solidFill>
              <a:srgbClr val="0B9B91"/>
            </a:solidFill>
            <a:prstDash val="solid"/>
          </a:ln>
        </p:spPr>
        <p:txBody>
          <a:bodyPr/>
          <a:lstStyle/>
          <a:p>
            <a:endParaRPr lang="en-IQ"/>
          </a:p>
        </p:txBody>
      </p:sp>
      <p:sp>
        <p:nvSpPr>
          <p:cNvPr id="9" name="Rectangle 8">
            <a:extLst>
              <a:ext uri="{FF2B5EF4-FFF2-40B4-BE49-F238E27FC236}">
                <a16:creationId xmlns:a16="http://schemas.microsoft.com/office/drawing/2014/main" id="{72C8BEF4-016A-482B-8541-F76E6B294542}"/>
              </a:ext>
            </a:extLst>
          </p:cNvPr>
          <p:cNvSpPr>
            <a:spLocks noGrp="1"/>
          </p:cNvSpPr>
          <p:nvPr/>
        </p:nvSpPr>
        <p:spPr>
          <a:xfrm>
            <a:off x="1609725" y="2571750"/>
            <a:ext cx="3438525" cy="504825"/>
          </a:xfrm>
          <a:prstGeom prst="rect">
            <a:avLst/>
          </a:prstGeom>
          <a:noFill/>
          <a:ln w="0">
            <a:noFill/>
            <a:prstDash val="solid"/>
          </a:ln>
        </p:spPr>
        <p:txBody>
          <a:bodyPr anchor="ctr"/>
          <a:lstStyle/>
          <a:p>
            <a:pPr algn="l">
              <a:defRPr sz="1425" b="0">
                <a:solidFill>
                  <a:srgbClr val="183544"/>
                </a:solidFill>
              </a:defRPr>
            </a:pPr>
            <a:r>
              <a:rPr sz="1425" b="0">
                <a:solidFill>
                  <a:srgbClr val="183544"/>
                </a:solidFill>
              </a:rPr>
              <a:t>very easy to implement</a:t>
            </a:r>
          </a:p>
        </p:txBody>
      </p:sp>
      <p:sp>
        <p:nvSpPr>
          <p:cNvPr id="10" name="Oval 9">
            <a:extLst>
              <a:ext uri="{FF2B5EF4-FFF2-40B4-BE49-F238E27FC236}">
                <a16:creationId xmlns:a16="http://schemas.microsoft.com/office/drawing/2014/main" id="{FDD8E31B-4E2D-4969-A145-2EE1F596FCB0}"/>
              </a:ext>
            </a:extLst>
          </p:cNvPr>
          <p:cNvSpPr>
            <a:spLocks noGrp="1"/>
          </p:cNvSpPr>
          <p:nvPr/>
        </p:nvSpPr>
        <p:spPr>
          <a:xfrm>
            <a:off x="1333500" y="3267075"/>
            <a:ext cx="114300" cy="114300"/>
          </a:xfrm>
          <a:prstGeom prst="ellipse">
            <a:avLst/>
          </a:prstGeom>
          <a:solidFill>
            <a:srgbClr val="0B9B91"/>
          </a:solidFill>
          <a:ln w="0">
            <a:solidFill>
              <a:srgbClr val="0B9B91"/>
            </a:solidFill>
            <a:prstDash val="solid"/>
          </a:ln>
        </p:spPr>
        <p:txBody>
          <a:bodyPr/>
          <a:lstStyle/>
          <a:p>
            <a:endParaRPr lang="en-IQ"/>
          </a:p>
        </p:txBody>
      </p:sp>
      <p:sp>
        <p:nvSpPr>
          <p:cNvPr id="11" name="Rectangle 10">
            <a:extLst>
              <a:ext uri="{FF2B5EF4-FFF2-40B4-BE49-F238E27FC236}">
                <a16:creationId xmlns:a16="http://schemas.microsoft.com/office/drawing/2014/main" id="{BFDFE61D-DABF-450E-BA0E-4486A17177A3}"/>
              </a:ext>
            </a:extLst>
          </p:cNvPr>
          <p:cNvSpPr>
            <a:spLocks noGrp="1"/>
          </p:cNvSpPr>
          <p:nvPr/>
        </p:nvSpPr>
        <p:spPr>
          <a:xfrm>
            <a:off x="1609725" y="3076575"/>
            <a:ext cx="3438525" cy="504825"/>
          </a:xfrm>
          <a:prstGeom prst="rect">
            <a:avLst/>
          </a:prstGeom>
          <a:noFill/>
          <a:ln w="0">
            <a:noFill/>
            <a:prstDash val="solid"/>
          </a:ln>
        </p:spPr>
        <p:txBody>
          <a:bodyPr anchor="ctr"/>
          <a:lstStyle/>
          <a:p>
            <a:pPr algn="l">
              <a:defRPr sz="1425" b="0">
                <a:solidFill>
                  <a:srgbClr val="183544"/>
                </a:solidFill>
              </a:defRPr>
            </a:pPr>
            <a:r>
              <a:rPr sz="1425" b="0">
                <a:solidFill>
                  <a:srgbClr val="183544"/>
                </a:solidFill>
              </a:rPr>
              <a:t>no derivatives required</a:t>
            </a:r>
          </a:p>
        </p:txBody>
      </p:sp>
      <p:sp>
        <p:nvSpPr>
          <p:cNvPr id="12" name="Oval 11">
            <a:extLst>
              <a:ext uri="{FF2B5EF4-FFF2-40B4-BE49-F238E27FC236}">
                <a16:creationId xmlns:a16="http://schemas.microsoft.com/office/drawing/2014/main" id="{A7C43C80-2476-4791-8492-E132193C8C16}"/>
              </a:ext>
            </a:extLst>
          </p:cNvPr>
          <p:cNvSpPr>
            <a:spLocks noGrp="1"/>
          </p:cNvSpPr>
          <p:nvPr/>
        </p:nvSpPr>
        <p:spPr>
          <a:xfrm>
            <a:off x="1333500" y="3771900"/>
            <a:ext cx="114300" cy="114300"/>
          </a:xfrm>
          <a:prstGeom prst="ellipse">
            <a:avLst/>
          </a:prstGeom>
          <a:solidFill>
            <a:srgbClr val="0B9B91"/>
          </a:solidFill>
          <a:ln w="0">
            <a:solidFill>
              <a:srgbClr val="0B9B91"/>
            </a:solidFill>
            <a:prstDash val="solid"/>
          </a:ln>
        </p:spPr>
        <p:txBody>
          <a:bodyPr/>
          <a:lstStyle/>
          <a:p>
            <a:endParaRPr lang="en-IQ"/>
          </a:p>
        </p:txBody>
      </p:sp>
      <p:sp>
        <p:nvSpPr>
          <p:cNvPr id="13" name="Rectangle 12">
            <a:extLst>
              <a:ext uri="{FF2B5EF4-FFF2-40B4-BE49-F238E27FC236}">
                <a16:creationId xmlns:a16="http://schemas.microsoft.com/office/drawing/2014/main" id="{F0FFC676-03D1-494D-885E-73417B36BCA5}"/>
              </a:ext>
            </a:extLst>
          </p:cNvPr>
          <p:cNvSpPr>
            <a:spLocks noGrp="1"/>
          </p:cNvSpPr>
          <p:nvPr/>
        </p:nvSpPr>
        <p:spPr>
          <a:xfrm>
            <a:off x="1609725" y="3581400"/>
            <a:ext cx="3438525" cy="504825"/>
          </a:xfrm>
          <a:prstGeom prst="rect">
            <a:avLst/>
          </a:prstGeom>
          <a:noFill/>
          <a:ln w="0">
            <a:noFill/>
            <a:prstDash val="solid"/>
          </a:ln>
        </p:spPr>
        <p:txBody>
          <a:bodyPr anchor="ctr"/>
          <a:lstStyle/>
          <a:p>
            <a:pPr algn="l">
              <a:defRPr sz="1425" b="0">
                <a:solidFill>
                  <a:srgbClr val="183544"/>
                </a:solidFill>
              </a:defRPr>
            </a:pPr>
            <a:r>
              <a:rPr sz="1425" b="0">
                <a:solidFill>
                  <a:srgbClr val="183544"/>
                </a:solidFill>
              </a:rPr>
              <a:t>broad global sampling</a:t>
            </a:r>
          </a:p>
        </p:txBody>
      </p:sp>
      <p:sp>
        <p:nvSpPr>
          <p:cNvPr id="14" name="Oval 13">
            <a:extLst>
              <a:ext uri="{FF2B5EF4-FFF2-40B4-BE49-F238E27FC236}">
                <a16:creationId xmlns:a16="http://schemas.microsoft.com/office/drawing/2014/main" id="{B499E992-EFEF-45A0-A14F-F3F2CDE48F1B}"/>
              </a:ext>
            </a:extLst>
          </p:cNvPr>
          <p:cNvSpPr>
            <a:spLocks noGrp="1"/>
          </p:cNvSpPr>
          <p:nvPr/>
        </p:nvSpPr>
        <p:spPr>
          <a:xfrm>
            <a:off x="1333500" y="4276725"/>
            <a:ext cx="114300" cy="114300"/>
          </a:xfrm>
          <a:prstGeom prst="ellipse">
            <a:avLst/>
          </a:prstGeom>
          <a:solidFill>
            <a:srgbClr val="0B9B91"/>
          </a:solidFill>
          <a:ln w="0">
            <a:solidFill>
              <a:srgbClr val="0B9B91"/>
            </a:solidFill>
            <a:prstDash val="solid"/>
          </a:ln>
        </p:spPr>
        <p:txBody>
          <a:bodyPr/>
          <a:lstStyle/>
          <a:p>
            <a:endParaRPr lang="en-IQ"/>
          </a:p>
        </p:txBody>
      </p:sp>
      <p:sp>
        <p:nvSpPr>
          <p:cNvPr id="15" name="Rectangle 14">
            <a:extLst>
              <a:ext uri="{FF2B5EF4-FFF2-40B4-BE49-F238E27FC236}">
                <a16:creationId xmlns:a16="http://schemas.microsoft.com/office/drawing/2014/main" id="{D9F082B5-4FC4-4B22-95D5-2E260DF1AB8D}"/>
              </a:ext>
            </a:extLst>
          </p:cNvPr>
          <p:cNvSpPr>
            <a:spLocks noGrp="1"/>
          </p:cNvSpPr>
          <p:nvPr/>
        </p:nvSpPr>
        <p:spPr>
          <a:xfrm>
            <a:off x="1609725" y="4086225"/>
            <a:ext cx="3438525" cy="504825"/>
          </a:xfrm>
          <a:prstGeom prst="rect">
            <a:avLst/>
          </a:prstGeom>
          <a:noFill/>
          <a:ln w="0">
            <a:noFill/>
            <a:prstDash val="solid"/>
          </a:ln>
        </p:spPr>
        <p:txBody>
          <a:bodyPr anchor="ctr"/>
          <a:lstStyle/>
          <a:p>
            <a:pPr algn="l">
              <a:defRPr sz="1425" b="0">
                <a:solidFill>
                  <a:srgbClr val="183544"/>
                </a:solidFill>
              </a:defRPr>
            </a:pPr>
            <a:r>
              <a:rPr sz="1425" b="0">
                <a:solidFill>
                  <a:srgbClr val="183544"/>
                </a:solidFill>
              </a:rPr>
              <a:t>naturally parallel</a:t>
            </a:r>
          </a:p>
        </p:txBody>
      </p:sp>
      <p:sp>
        <p:nvSpPr>
          <p:cNvPr id="16" name="Oval 15">
            <a:extLst>
              <a:ext uri="{FF2B5EF4-FFF2-40B4-BE49-F238E27FC236}">
                <a16:creationId xmlns:a16="http://schemas.microsoft.com/office/drawing/2014/main" id="{915BACB4-2A2A-49CA-AD6D-C247C2C7EF7A}"/>
              </a:ext>
            </a:extLst>
          </p:cNvPr>
          <p:cNvSpPr>
            <a:spLocks noGrp="1"/>
          </p:cNvSpPr>
          <p:nvPr/>
        </p:nvSpPr>
        <p:spPr>
          <a:xfrm>
            <a:off x="1333500" y="4781550"/>
            <a:ext cx="114300" cy="114300"/>
          </a:xfrm>
          <a:prstGeom prst="ellipse">
            <a:avLst/>
          </a:prstGeom>
          <a:solidFill>
            <a:srgbClr val="0B9B91"/>
          </a:solidFill>
          <a:ln w="0">
            <a:solidFill>
              <a:srgbClr val="0B9B91"/>
            </a:solidFill>
            <a:prstDash val="solid"/>
          </a:ln>
        </p:spPr>
        <p:txBody>
          <a:bodyPr/>
          <a:lstStyle/>
          <a:p>
            <a:endParaRPr lang="en-IQ"/>
          </a:p>
        </p:txBody>
      </p:sp>
      <p:sp>
        <p:nvSpPr>
          <p:cNvPr id="17" name="Rectangle 16">
            <a:extLst>
              <a:ext uri="{FF2B5EF4-FFF2-40B4-BE49-F238E27FC236}">
                <a16:creationId xmlns:a16="http://schemas.microsoft.com/office/drawing/2014/main" id="{A61D0DE6-BEA2-43E8-A64C-0B6D2F97CA7B}"/>
              </a:ext>
            </a:extLst>
          </p:cNvPr>
          <p:cNvSpPr>
            <a:spLocks noGrp="1"/>
          </p:cNvSpPr>
          <p:nvPr/>
        </p:nvSpPr>
        <p:spPr>
          <a:xfrm>
            <a:off x="1609725" y="4591050"/>
            <a:ext cx="3438525" cy="504825"/>
          </a:xfrm>
          <a:prstGeom prst="rect">
            <a:avLst/>
          </a:prstGeom>
          <a:noFill/>
          <a:ln w="0">
            <a:noFill/>
            <a:prstDash val="solid"/>
          </a:ln>
        </p:spPr>
        <p:txBody>
          <a:bodyPr anchor="ctr"/>
          <a:lstStyle/>
          <a:p>
            <a:pPr algn="l">
              <a:defRPr sz="1425" b="0">
                <a:solidFill>
                  <a:srgbClr val="183544"/>
                </a:solidFill>
              </a:defRPr>
            </a:pPr>
            <a:r>
              <a:rPr sz="1425" b="0">
                <a:solidFill>
                  <a:srgbClr val="183544"/>
                </a:solidFill>
              </a:rPr>
              <a:t>excellent debugging baseline</a:t>
            </a:r>
          </a:p>
        </p:txBody>
      </p:sp>
      <p:sp>
        <p:nvSpPr>
          <p:cNvPr id="18" name="Rounded Rectangle 17">
            <a:extLst>
              <a:ext uri="{FF2B5EF4-FFF2-40B4-BE49-F238E27FC236}">
                <a16:creationId xmlns:a16="http://schemas.microsoft.com/office/drawing/2014/main" id="{E72E8CD9-CB19-4DB2-AEA8-BA97D888D49E}"/>
              </a:ext>
            </a:extLst>
          </p:cNvPr>
          <p:cNvSpPr>
            <a:spLocks noGrp="1"/>
          </p:cNvSpPr>
          <p:nvPr/>
        </p:nvSpPr>
        <p:spPr>
          <a:xfrm>
            <a:off x="6572250" y="1619250"/>
            <a:ext cx="4857750" cy="3429000"/>
          </a:xfrm>
          <a:prstGeom prst="roundRect">
            <a:avLst>
              <a:gd name="adj" fmla="val 2222"/>
            </a:avLst>
          </a:prstGeom>
          <a:solidFill>
            <a:srgbClr val="F9E8E6"/>
          </a:solidFill>
          <a:ln w="19050">
            <a:solidFill>
              <a:srgbClr val="D95D5D"/>
            </a:solidFill>
            <a:prstDash val="solid"/>
          </a:ln>
        </p:spPr>
        <p:txBody>
          <a:bodyPr/>
          <a:lstStyle/>
          <a:p>
            <a:endParaRPr lang="en-IQ"/>
          </a:p>
        </p:txBody>
      </p:sp>
      <p:sp>
        <p:nvSpPr>
          <p:cNvPr id="19" name="Rectangle 18">
            <a:extLst>
              <a:ext uri="{FF2B5EF4-FFF2-40B4-BE49-F238E27FC236}">
                <a16:creationId xmlns:a16="http://schemas.microsoft.com/office/drawing/2014/main" id="{DAB0DEF3-DAD9-4CB7-9CBC-BAF3B2912822}"/>
              </a:ext>
            </a:extLst>
          </p:cNvPr>
          <p:cNvSpPr>
            <a:spLocks noGrp="1"/>
          </p:cNvSpPr>
          <p:nvPr/>
        </p:nvSpPr>
        <p:spPr>
          <a:xfrm>
            <a:off x="7000875" y="1952625"/>
            <a:ext cx="4000500" cy="361950"/>
          </a:xfrm>
          <a:prstGeom prst="rect">
            <a:avLst/>
          </a:prstGeom>
          <a:noFill/>
          <a:ln w="0">
            <a:noFill/>
            <a:prstDash val="solid"/>
          </a:ln>
        </p:spPr>
        <p:txBody>
          <a:bodyPr anchor="ctr"/>
          <a:lstStyle/>
          <a:p>
            <a:pPr algn="ctr">
              <a:defRPr sz="1875" b="1">
                <a:solidFill>
                  <a:srgbClr val="D95D5D"/>
                </a:solidFill>
              </a:defRPr>
            </a:pPr>
            <a:r>
              <a:rPr sz="1875" b="1">
                <a:solidFill>
                  <a:srgbClr val="D95D5D"/>
                </a:solidFill>
              </a:rPr>
              <a:t>LIMITATIONS</a:t>
            </a:r>
          </a:p>
        </p:txBody>
      </p:sp>
      <p:sp>
        <p:nvSpPr>
          <p:cNvPr id="20" name="Oval 19">
            <a:extLst>
              <a:ext uri="{FF2B5EF4-FFF2-40B4-BE49-F238E27FC236}">
                <a16:creationId xmlns:a16="http://schemas.microsoft.com/office/drawing/2014/main" id="{3115B4C2-9952-4BB3-BA63-05CFF3FC020B}"/>
              </a:ext>
            </a:extLst>
          </p:cNvPr>
          <p:cNvSpPr>
            <a:spLocks noGrp="1"/>
          </p:cNvSpPr>
          <p:nvPr/>
        </p:nvSpPr>
        <p:spPr>
          <a:xfrm>
            <a:off x="7143750" y="2762250"/>
            <a:ext cx="114300" cy="114300"/>
          </a:xfrm>
          <a:prstGeom prst="ellipse">
            <a:avLst/>
          </a:prstGeom>
          <a:solidFill>
            <a:srgbClr val="D95D5D"/>
          </a:solidFill>
          <a:ln w="0">
            <a:solidFill>
              <a:srgbClr val="D95D5D"/>
            </a:solidFill>
            <a:prstDash val="solid"/>
          </a:ln>
        </p:spPr>
        <p:txBody>
          <a:bodyPr/>
          <a:lstStyle/>
          <a:p>
            <a:endParaRPr lang="en-IQ"/>
          </a:p>
        </p:txBody>
      </p:sp>
      <p:sp>
        <p:nvSpPr>
          <p:cNvPr id="21" name="Rectangle 20">
            <a:extLst>
              <a:ext uri="{FF2B5EF4-FFF2-40B4-BE49-F238E27FC236}">
                <a16:creationId xmlns:a16="http://schemas.microsoft.com/office/drawing/2014/main" id="{ED7CDD28-5C9A-40D0-900B-43C2AC357DCE}"/>
              </a:ext>
            </a:extLst>
          </p:cNvPr>
          <p:cNvSpPr>
            <a:spLocks noGrp="1"/>
          </p:cNvSpPr>
          <p:nvPr/>
        </p:nvSpPr>
        <p:spPr>
          <a:xfrm>
            <a:off x="7419975" y="2571750"/>
            <a:ext cx="3438525" cy="504825"/>
          </a:xfrm>
          <a:prstGeom prst="rect">
            <a:avLst/>
          </a:prstGeom>
          <a:noFill/>
          <a:ln w="0">
            <a:noFill/>
            <a:prstDash val="solid"/>
          </a:ln>
        </p:spPr>
        <p:txBody>
          <a:bodyPr anchor="ctr"/>
          <a:lstStyle/>
          <a:p>
            <a:pPr algn="l">
              <a:defRPr sz="1425" b="0">
                <a:solidFill>
                  <a:srgbClr val="183544"/>
                </a:solidFill>
              </a:defRPr>
            </a:pPr>
            <a:r>
              <a:rPr sz="1425" b="0">
                <a:solidFill>
                  <a:srgbClr val="183544"/>
                </a:solidFill>
              </a:rPr>
              <a:t>does not learn from samples</a:t>
            </a:r>
          </a:p>
        </p:txBody>
      </p:sp>
      <p:sp>
        <p:nvSpPr>
          <p:cNvPr id="22" name="Oval 21">
            <a:extLst>
              <a:ext uri="{FF2B5EF4-FFF2-40B4-BE49-F238E27FC236}">
                <a16:creationId xmlns:a16="http://schemas.microsoft.com/office/drawing/2014/main" id="{3D46E605-CB82-4409-AB20-C1FD6F3D4B11}"/>
              </a:ext>
            </a:extLst>
          </p:cNvPr>
          <p:cNvSpPr>
            <a:spLocks noGrp="1"/>
          </p:cNvSpPr>
          <p:nvPr/>
        </p:nvSpPr>
        <p:spPr>
          <a:xfrm>
            <a:off x="7143750" y="3267075"/>
            <a:ext cx="114300" cy="114300"/>
          </a:xfrm>
          <a:prstGeom prst="ellipse">
            <a:avLst/>
          </a:prstGeom>
          <a:solidFill>
            <a:srgbClr val="D95D5D"/>
          </a:solidFill>
          <a:ln w="0">
            <a:solidFill>
              <a:srgbClr val="D95D5D"/>
            </a:solidFill>
            <a:prstDash val="solid"/>
          </a:ln>
        </p:spPr>
        <p:txBody>
          <a:bodyPr/>
          <a:lstStyle/>
          <a:p>
            <a:endParaRPr lang="en-IQ"/>
          </a:p>
        </p:txBody>
      </p:sp>
      <p:sp>
        <p:nvSpPr>
          <p:cNvPr id="23" name="Rectangle 22">
            <a:extLst>
              <a:ext uri="{FF2B5EF4-FFF2-40B4-BE49-F238E27FC236}">
                <a16:creationId xmlns:a16="http://schemas.microsoft.com/office/drawing/2014/main" id="{3CB580BC-452F-40B2-8703-4F48CAEA8DAE}"/>
              </a:ext>
            </a:extLst>
          </p:cNvPr>
          <p:cNvSpPr>
            <a:spLocks noGrp="1"/>
          </p:cNvSpPr>
          <p:nvPr/>
        </p:nvSpPr>
        <p:spPr>
          <a:xfrm>
            <a:off x="7419975" y="3076575"/>
            <a:ext cx="3438525" cy="504825"/>
          </a:xfrm>
          <a:prstGeom prst="rect">
            <a:avLst/>
          </a:prstGeom>
          <a:noFill/>
          <a:ln w="0">
            <a:noFill/>
            <a:prstDash val="solid"/>
          </a:ln>
        </p:spPr>
        <p:txBody>
          <a:bodyPr anchor="ctr"/>
          <a:lstStyle/>
          <a:p>
            <a:pPr algn="l">
              <a:defRPr sz="1425" b="0">
                <a:solidFill>
                  <a:srgbClr val="183544"/>
                </a:solidFill>
              </a:defRPr>
            </a:pPr>
            <a:r>
              <a:rPr sz="1425" b="0">
                <a:solidFill>
                  <a:srgbClr val="183544"/>
                </a:solidFill>
              </a:rPr>
              <a:t>many infeasible evaluations</a:t>
            </a:r>
          </a:p>
        </p:txBody>
      </p:sp>
      <p:sp>
        <p:nvSpPr>
          <p:cNvPr id="24" name="Oval 23">
            <a:extLst>
              <a:ext uri="{FF2B5EF4-FFF2-40B4-BE49-F238E27FC236}">
                <a16:creationId xmlns:a16="http://schemas.microsoft.com/office/drawing/2014/main" id="{51E7CA84-C2E1-416A-9AB1-03C645352EFD}"/>
              </a:ext>
            </a:extLst>
          </p:cNvPr>
          <p:cNvSpPr>
            <a:spLocks noGrp="1"/>
          </p:cNvSpPr>
          <p:nvPr/>
        </p:nvSpPr>
        <p:spPr>
          <a:xfrm>
            <a:off x="7143750" y="3771900"/>
            <a:ext cx="114300" cy="114300"/>
          </a:xfrm>
          <a:prstGeom prst="ellipse">
            <a:avLst/>
          </a:prstGeom>
          <a:solidFill>
            <a:srgbClr val="D95D5D"/>
          </a:solidFill>
          <a:ln w="0">
            <a:solidFill>
              <a:srgbClr val="D95D5D"/>
            </a:solidFill>
            <a:prstDash val="solid"/>
          </a:ln>
        </p:spPr>
        <p:txBody>
          <a:bodyPr/>
          <a:lstStyle/>
          <a:p>
            <a:endParaRPr lang="en-IQ"/>
          </a:p>
        </p:txBody>
      </p:sp>
      <p:sp>
        <p:nvSpPr>
          <p:cNvPr id="25" name="Rectangle 24">
            <a:extLst>
              <a:ext uri="{FF2B5EF4-FFF2-40B4-BE49-F238E27FC236}">
                <a16:creationId xmlns:a16="http://schemas.microsoft.com/office/drawing/2014/main" id="{E28FBFC1-D80B-45A6-838B-C940DF39A038}"/>
              </a:ext>
            </a:extLst>
          </p:cNvPr>
          <p:cNvSpPr>
            <a:spLocks noGrp="1"/>
          </p:cNvSpPr>
          <p:nvPr/>
        </p:nvSpPr>
        <p:spPr>
          <a:xfrm>
            <a:off x="7419975" y="3581400"/>
            <a:ext cx="3438525" cy="504825"/>
          </a:xfrm>
          <a:prstGeom prst="rect">
            <a:avLst/>
          </a:prstGeom>
          <a:noFill/>
          <a:ln w="0">
            <a:noFill/>
            <a:prstDash val="solid"/>
          </a:ln>
        </p:spPr>
        <p:txBody>
          <a:bodyPr anchor="ctr"/>
          <a:lstStyle/>
          <a:p>
            <a:pPr algn="l">
              <a:defRPr sz="1425" b="0">
                <a:solidFill>
                  <a:srgbClr val="183544"/>
                </a:solidFill>
              </a:defRPr>
            </a:pPr>
            <a:r>
              <a:rPr sz="1425" b="0">
                <a:solidFill>
                  <a:srgbClr val="183544"/>
                </a:solidFill>
              </a:rPr>
              <a:t>no optimality proof</a:t>
            </a:r>
          </a:p>
        </p:txBody>
      </p:sp>
      <p:sp>
        <p:nvSpPr>
          <p:cNvPr id="26" name="Oval 25">
            <a:extLst>
              <a:ext uri="{FF2B5EF4-FFF2-40B4-BE49-F238E27FC236}">
                <a16:creationId xmlns:a16="http://schemas.microsoft.com/office/drawing/2014/main" id="{EB23EF58-3FEC-4BA4-BFAC-5B803C948173}"/>
              </a:ext>
            </a:extLst>
          </p:cNvPr>
          <p:cNvSpPr>
            <a:spLocks noGrp="1"/>
          </p:cNvSpPr>
          <p:nvPr/>
        </p:nvSpPr>
        <p:spPr>
          <a:xfrm>
            <a:off x="7143750" y="4276725"/>
            <a:ext cx="114300" cy="114300"/>
          </a:xfrm>
          <a:prstGeom prst="ellipse">
            <a:avLst/>
          </a:prstGeom>
          <a:solidFill>
            <a:srgbClr val="D95D5D"/>
          </a:solidFill>
          <a:ln w="0">
            <a:solidFill>
              <a:srgbClr val="D95D5D"/>
            </a:solidFill>
            <a:prstDash val="solid"/>
          </a:ln>
        </p:spPr>
        <p:txBody>
          <a:bodyPr/>
          <a:lstStyle/>
          <a:p>
            <a:endParaRPr lang="en-IQ"/>
          </a:p>
        </p:txBody>
      </p:sp>
      <p:sp>
        <p:nvSpPr>
          <p:cNvPr id="27" name="Rectangle 26">
            <a:extLst>
              <a:ext uri="{FF2B5EF4-FFF2-40B4-BE49-F238E27FC236}">
                <a16:creationId xmlns:a16="http://schemas.microsoft.com/office/drawing/2014/main" id="{A249B137-76AC-4460-916B-CBD5B592F232}"/>
              </a:ext>
            </a:extLst>
          </p:cNvPr>
          <p:cNvSpPr>
            <a:spLocks noGrp="1"/>
          </p:cNvSpPr>
          <p:nvPr/>
        </p:nvSpPr>
        <p:spPr>
          <a:xfrm>
            <a:off x="7419975" y="4086225"/>
            <a:ext cx="3438525" cy="504825"/>
          </a:xfrm>
          <a:prstGeom prst="rect">
            <a:avLst/>
          </a:prstGeom>
          <a:noFill/>
          <a:ln w="0">
            <a:noFill/>
            <a:prstDash val="solid"/>
          </a:ln>
        </p:spPr>
        <p:txBody>
          <a:bodyPr anchor="ctr"/>
          <a:lstStyle/>
          <a:p>
            <a:pPr algn="l">
              <a:defRPr sz="1425" b="0">
                <a:solidFill>
                  <a:srgbClr val="183544"/>
                </a:solidFill>
              </a:defRPr>
            </a:pPr>
            <a:r>
              <a:rPr sz="1425" b="0">
                <a:solidFill>
                  <a:srgbClr val="183544"/>
                </a:solidFill>
              </a:rPr>
              <a:t>rare good regions are hard to hit</a:t>
            </a:r>
          </a:p>
        </p:txBody>
      </p:sp>
      <p:sp>
        <p:nvSpPr>
          <p:cNvPr id="28" name="Oval 27">
            <a:extLst>
              <a:ext uri="{FF2B5EF4-FFF2-40B4-BE49-F238E27FC236}">
                <a16:creationId xmlns:a16="http://schemas.microsoft.com/office/drawing/2014/main" id="{AAE8D430-3BF0-4D5F-BFBB-B24D2324F58A}"/>
              </a:ext>
            </a:extLst>
          </p:cNvPr>
          <p:cNvSpPr>
            <a:spLocks noGrp="1"/>
          </p:cNvSpPr>
          <p:nvPr/>
        </p:nvSpPr>
        <p:spPr>
          <a:xfrm>
            <a:off x="7143750" y="4781550"/>
            <a:ext cx="114300" cy="114300"/>
          </a:xfrm>
          <a:prstGeom prst="ellipse">
            <a:avLst/>
          </a:prstGeom>
          <a:solidFill>
            <a:srgbClr val="D95D5D"/>
          </a:solidFill>
          <a:ln w="0">
            <a:solidFill>
              <a:srgbClr val="D95D5D"/>
            </a:solidFill>
            <a:prstDash val="solid"/>
          </a:ln>
        </p:spPr>
        <p:txBody>
          <a:bodyPr/>
          <a:lstStyle/>
          <a:p>
            <a:endParaRPr lang="en-IQ"/>
          </a:p>
        </p:txBody>
      </p:sp>
      <p:sp>
        <p:nvSpPr>
          <p:cNvPr id="29" name="Rectangle 28">
            <a:extLst>
              <a:ext uri="{FF2B5EF4-FFF2-40B4-BE49-F238E27FC236}">
                <a16:creationId xmlns:a16="http://schemas.microsoft.com/office/drawing/2014/main" id="{22A93C9E-B642-4C87-A763-1A74D1E2B116}"/>
              </a:ext>
            </a:extLst>
          </p:cNvPr>
          <p:cNvSpPr>
            <a:spLocks noGrp="1"/>
          </p:cNvSpPr>
          <p:nvPr/>
        </p:nvSpPr>
        <p:spPr>
          <a:xfrm>
            <a:off x="7419975" y="4591050"/>
            <a:ext cx="3438525" cy="504825"/>
          </a:xfrm>
          <a:prstGeom prst="rect">
            <a:avLst/>
          </a:prstGeom>
          <a:noFill/>
          <a:ln w="0">
            <a:noFill/>
            <a:prstDash val="solid"/>
          </a:ln>
        </p:spPr>
        <p:txBody>
          <a:bodyPr anchor="ctr"/>
          <a:lstStyle/>
          <a:p>
            <a:pPr algn="l">
              <a:defRPr sz="1425" b="0">
                <a:solidFill>
                  <a:srgbClr val="183544"/>
                </a:solidFill>
              </a:defRPr>
            </a:pPr>
            <a:r>
              <a:rPr sz="1425" b="0">
                <a:solidFill>
                  <a:srgbClr val="183544"/>
                </a:solidFill>
              </a:rPr>
              <a:t>performance depends on distribution</a:t>
            </a:r>
          </a:p>
        </p:txBody>
      </p:sp>
      <p:sp>
        <p:nvSpPr>
          <p:cNvPr id="30" name="Rectangle 29">
            <a:extLst>
              <a:ext uri="{FF2B5EF4-FFF2-40B4-BE49-F238E27FC236}">
                <a16:creationId xmlns:a16="http://schemas.microsoft.com/office/drawing/2014/main" id="{FB3D0CC1-EDA4-471A-B34A-339D51EFFC86}"/>
              </a:ext>
            </a:extLst>
          </p:cNvPr>
          <p:cNvSpPr>
            <a:spLocks noGrp="1"/>
          </p:cNvSpPr>
          <p:nvPr/>
        </p:nvSpPr>
        <p:spPr>
          <a:xfrm>
            <a:off x="1809750" y="5572125"/>
            <a:ext cx="8572500" cy="361950"/>
          </a:xfrm>
          <a:prstGeom prst="rect">
            <a:avLst/>
          </a:prstGeom>
          <a:noFill/>
          <a:ln w="0">
            <a:noFill/>
            <a:prstDash val="solid"/>
          </a:ln>
        </p:spPr>
        <p:txBody>
          <a:bodyPr anchor="ctr"/>
          <a:lstStyle/>
          <a:p>
            <a:pPr algn="ctr">
              <a:defRPr sz="1650" b="1">
                <a:solidFill>
                  <a:srgbClr val="092A3D"/>
                </a:solidFill>
              </a:defRPr>
            </a:pPr>
            <a:r>
              <a:rPr sz="1650" b="1">
                <a:solidFill>
                  <a:srgbClr val="092A3D"/>
                </a:solidFill>
              </a:rPr>
              <a:t>Simple does not mean useless; it means its assumptions are visible.</a:t>
            </a:r>
          </a:p>
        </p:txBody>
      </p:sp>
    </p:spTree>
    <p:extLst>
      <p:ext uri="{BB962C8B-B14F-4D97-AF65-F5344CB8AC3E}">
        <p14:creationId xmlns:p14="http://schemas.microsoft.com/office/powerpoint/2010/main" val="458366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13EBD54-BF92-4990-A23A-6A3D1E9426BF}"/>
              </a:ext>
            </a:extLst>
          </p:cNvPr>
          <p:cNvSpPr>
            <a:spLocks noGrp="1"/>
          </p:cNvSpPr>
          <p:nvPr/>
        </p:nvSpPr>
        <p:spPr>
          <a:xfrm>
            <a:off x="609600" y="285750"/>
            <a:ext cx="64770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EXTENSIONS</a:t>
            </a:r>
          </a:p>
        </p:txBody>
      </p:sp>
      <p:sp>
        <p:nvSpPr>
          <p:cNvPr id="2" name="Rectangle 1">
            <a:extLst>
              <a:ext uri="{FF2B5EF4-FFF2-40B4-BE49-F238E27FC236}">
                <a16:creationId xmlns:a16="http://schemas.microsoft.com/office/drawing/2014/main" id="{6CE8F79A-37FB-423E-9BC5-A9857BC85085}"/>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Three modifications address different weaknesses</a:t>
            </a:r>
          </a:p>
        </p:txBody>
      </p:sp>
      <p:sp>
        <p:nvSpPr>
          <p:cNvPr id="3" name="Rectangle 2">
            <a:extLst>
              <a:ext uri="{FF2B5EF4-FFF2-40B4-BE49-F238E27FC236}">
                <a16:creationId xmlns:a16="http://schemas.microsoft.com/office/drawing/2014/main" id="{38631FCD-6D8B-44FF-8B52-3FCCD3EAB669}"/>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E5DCAFC3-1F2F-4087-B9A6-08E852BE815D}"/>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2</a:t>
            </a:r>
          </a:p>
        </p:txBody>
      </p:sp>
      <p:sp>
        <p:nvSpPr>
          <p:cNvPr id="5" name="Rectangle 4">
            <a:extLst>
              <a:ext uri="{FF2B5EF4-FFF2-40B4-BE49-F238E27FC236}">
                <a16:creationId xmlns:a16="http://schemas.microsoft.com/office/drawing/2014/main" id="{69421A9F-E8F9-48DD-A47D-78BA38A41BF0}"/>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29</a:t>
            </a:r>
          </a:p>
        </p:txBody>
      </p:sp>
      <p:sp>
        <p:nvSpPr>
          <p:cNvPr id="6" name="Rectangle 5">
            <a:extLst>
              <a:ext uri="{FF2B5EF4-FFF2-40B4-BE49-F238E27FC236}">
                <a16:creationId xmlns:a16="http://schemas.microsoft.com/office/drawing/2014/main" id="{F199A155-D5CF-4076-8EE7-6031AB0DD9C4}"/>
              </a:ext>
            </a:extLst>
          </p:cNvPr>
          <p:cNvSpPr>
            <a:spLocks noGrp="1"/>
          </p:cNvSpPr>
          <p:nvPr/>
        </p:nvSpPr>
        <p:spPr>
          <a:xfrm>
            <a:off x="809625" y="1666875"/>
            <a:ext cx="3143250" cy="381000"/>
          </a:xfrm>
          <a:prstGeom prst="rect">
            <a:avLst/>
          </a:prstGeom>
          <a:noFill/>
          <a:ln w="0">
            <a:noFill/>
            <a:prstDash val="solid"/>
          </a:ln>
        </p:spPr>
        <p:txBody>
          <a:bodyPr anchor="ctr"/>
          <a:lstStyle/>
          <a:p>
            <a:pPr algn="ctr">
              <a:defRPr sz="1725" b="1">
                <a:solidFill>
                  <a:srgbClr val="0B9B91"/>
                </a:solidFill>
              </a:defRPr>
            </a:pPr>
            <a:r>
              <a:rPr sz="1725" b="1">
                <a:solidFill>
                  <a:srgbClr val="0B9B91"/>
                </a:solidFill>
              </a:rPr>
              <a:t>FEASIBLE GENERATOR</a:t>
            </a:r>
          </a:p>
        </p:txBody>
      </p:sp>
      <p:sp>
        <p:nvSpPr>
          <p:cNvPr id="7" name="Rectangle 6">
            <a:extLst>
              <a:ext uri="{FF2B5EF4-FFF2-40B4-BE49-F238E27FC236}">
                <a16:creationId xmlns:a16="http://schemas.microsoft.com/office/drawing/2014/main" id="{1A3D03F3-DBED-4413-B4FD-6038BDD2A033}"/>
              </a:ext>
            </a:extLst>
          </p:cNvPr>
          <p:cNvSpPr>
            <a:spLocks noGrp="1"/>
          </p:cNvSpPr>
          <p:nvPr/>
        </p:nvSpPr>
        <p:spPr>
          <a:xfrm>
            <a:off x="809625" y="2333625"/>
            <a:ext cx="3143250" cy="666750"/>
          </a:xfrm>
          <a:prstGeom prst="rect">
            <a:avLst/>
          </a:prstGeom>
          <a:noFill/>
          <a:ln w="0">
            <a:noFill/>
            <a:prstDash val="solid"/>
          </a:ln>
        </p:spPr>
        <p:txBody>
          <a:bodyPr anchor="ctr"/>
          <a:lstStyle/>
          <a:p>
            <a:pPr algn="ctr">
              <a:defRPr sz="1500" b="1">
                <a:solidFill>
                  <a:srgbClr val="183544"/>
                </a:solidFill>
              </a:defRPr>
            </a:pPr>
            <a:r>
              <a:rPr sz="1500" b="1">
                <a:solidFill>
                  <a:srgbClr val="183544"/>
                </a:solidFill>
              </a:rPr>
              <a:t>construct candidates that respect capacity</a:t>
            </a:r>
          </a:p>
        </p:txBody>
      </p:sp>
      <p:sp>
        <p:nvSpPr>
          <p:cNvPr id="8" name="Rectangle 7">
            <a:extLst>
              <a:ext uri="{FF2B5EF4-FFF2-40B4-BE49-F238E27FC236}">
                <a16:creationId xmlns:a16="http://schemas.microsoft.com/office/drawing/2014/main" id="{96CC5D8D-92AB-420D-984D-16EF0B543420}"/>
              </a:ext>
            </a:extLst>
          </p:cNvPr>
          <p:cNvSpPr>
            <a:spLocks noGrp="1"/>
          </p:cNvSpPr>
          <p:nvPr/>
        </p:nvSpPr>
        <p:spPr>
          <a:xfrm>
            <a:off x="809625" y="3286125"/>
            <a:ext cx="3143250" cy="333375"/>
          </a:xfrm>
          <a:prstGeom prst="rect">
            <a:avLst/>
          </a:prstGeom>
          <a:noFill/>
          <a:ln w="0">
            <a:noFill/>
            <a:prstDash val="solid"/>
          </a:ln>
        </p:spPr>
        <p:txBody>
          <a:bodyPr anchor="ctr"/>
          <a:lstStyle/>
          <a:p>
            <a:pPr algn="ctr">
              <a:defRPr sz="1425" b="1">
                <a:solidFill>
                  <a:srgbClr val="58707C"/>
                </a:solidFill>
              </a:defRPr>
            </a:pPr>
            <a:r>
              <a:rPr sz="1425" b="1">
                <a:solidFill>
                  <a:srgbClr val="58707C"/>
                </a:solidFill>
              </a:rPr>
              <a:t>reduces waste</a:t>
            </a:r>
          </a:p>
        </p:txBody>
      </p:sp>
      <p:sp>
        <p:nvSpPr>
          <p:cNvPr id="9" name="Rectangle 8">
            <a:extLst>
              <a:ext uri="{FF2B5EF4-FFF2-40B4-BE49-F238E27FC236}">
                <a16:creationId xmlns:a16="http://schemas.microsoft.com/office/drawing/2014/main" id="{F27527A1-CA45-4A4D-BEC8-3E4BFE7077DF}"/>
              </a:ext>
            </a:extLst>
          </p:cNvPr>
          <p:cNvSpPr>
            <a:spLocks noGrp="1"/>
          </p:cNvSpPr>
          <p:nvPr/>
        </p:nvSpPr>
        <p:spPr>
          <a:xfrm>
            <a:off x="4524375" y="1666875"/>
            <a:ext cx="3143250" cy="381000"/>
          </a:xfrm>
          <a:prstGeom prst="rect">
            <a:avLst/>
          </a:prstGeom>
          <a:noFill/>
          <a:ln w="0">
            <a:noFill/>
            <a:prstDash val="solid"/>
          </a:ln>
        </p:spPr>
        <p:txBody>
          <a:bodyPr anchor="ctr"/>
          <a:lstStyle/>
          <a:p>
            <a:pPr algn="ctr">
              <a:defRPr sz="1725" b="1">
                <a:solidFill>
                  <a:srgbClr val="2878B5"/>
                </a:solidFill>
              </a:defRPr>
            </a:pPr>
            <a:r>
              <a:rPr sz="1725" b="1">
                <a:solidFill>
                  <a:srgbClr val="2878B5"/>
                </a:solidFill>
              </a:rPr>
              <a:t>BIASED SAMPLING</a:t>
            </a:r>
          </a:p>
        </p:txBody>
      </p:sp>
      <p:sp>
        <p:nvSpPr>
          <p:cNvPr id="10" name="Rectangle 9">
            <a:extLst>
              <a:ext uri="{FF2B5EF4-FFF2-40B4-BE49-F238E27FC236}">
                <a16:creationId xmlns:a16="http://schemas.microsoft.com/office/drawing/2014/main" id="{19D45D16-83C1-4ED6-BC39-2FB48486E0E7}"/>
              </a:ext>
            </a:extLst>
          </p:cNvPr>
          <p:cNvSpPr>
            <a:spLocks noGrp="1"/>
          </p:cNvSpPr>
          <p:nvPr/>
        </p:nvSpPr>
        <p:spPr>
          <a:xfrm>
            <a:off x="4524375" y="2333625"/>
            <a:ext cx="3143250" cy="666750"/>
          </a:xfrm>
          <a:prstGeom prst="rect">
            <a:avLst/>
          </a:prstGeom>
          <a:noFill/>
          <a:ln w="0">
            <a:noFill/>
            <a:prstDash val="solid"/>
          </a:ln>
        </p:spPr>
        <p:txBody>
          <a:bodyPr anchor="ctr"/>
          <a:lstStyle/>
          <a:p>
            <a:pPr algn="ctr">
              <a:defRPr sz="1500" b="1">
                <a:solidFill>
                  <a:srgbClr val="183544"/>
                </a:solidFill>
              </a:defRPr>
            </a:pPr>
            <a:r>
              <a:rPr sz="1500" b="1">
                <a:solidFill>
                  <a:srgbClr val="183544"/>
                </a:solidFill>
              </a:rPr>
              <a:t>sample promising servers more often</a:t>
            </a:r>
          </a:p>
        </p:txBody>
      </p:sp>
      <p:sp>
        <p:nvSpPr>
          <p:cNvPr id="11" name="Rectangle 10">
            <a:extLst>
              <a:ext uri="{FF2B5EF4-FFF2-40B4-BE49-F238E27FC236}">
                <a16:creationId xmlns:a16="http://schemas.microsoft.com/office/drawing/2014/main" id="{C1D5E880-63E9-4CAC-A84E-A953912C4950}"/>
              </a:ext>
            </a:extLst>
          </p:cNvPr>
          <p:cNvSpPr>
            <a:spLocks noGrp="1"/>
          </p:cNvSpPr>
          <p:nvPr/>
        </p:nvSpPr>
        <p:spPr>
          <a:xfrm>
            <a:off x="4524375" y="3286125"/>
            <a:ext cx="3143250" cy="333375"/>
          </a:xfrm>
          <a:prstGeom prst="rect">
            <a:avLst/>
          </a:prstGeom>
          <a:noFill/>
          <a:ln w="0">
            <a:noFill/>
            <a:prstDash val="solid"/>
          </a:ln>
        </p:spPr>
        <p:txBody>
          <a:bodyPr anchor="ctr"/>
          <a:lstStyle/>
          <a:p>
            <a:pPr algn="ctr">
              <a:defRPr sz="1425" b="1">
                <a:solidFill>
                  <a:srgbClr val="58707C"/>
                </a:solidFill>
              </a:defRPr>
            </a:pPr>
            <a:r>
              <a:rPr sz="1425" b="1">
                <a:solidFill>
                  <a:srgbClr val="58707C"/>
                </a:solidFill>
              </a:rPr>
              <a:t>uses problem knowledge</a:t>
            </a:r>
          </a:p>
        </p:txBody>
      </p:sp>
      <p:sp>
        <p:nvSpPr>
          <p:cNvPr id="12" name="Rectangle 11">
            <a:extLst>
              <a:ext uri="{FF2B5EF4-FFF2-40B4-BE49-F238E27FC236}">
                <a16:creationId xmlns:a16="http://schemas.microsoft.com/office/drawing/2014/main" id="{A46D672E-D849-4A7A-B228-9F9F51E6571F}"/>
              </a:ext>
            </a:extLst>
          </p:cNvPr>
          <p:cNvSpPr>
            <a:spLocks noGrp="1"/>
          </p:cNvSpPr>
          <p:nvPr/>
        </p:nvSpPr>
        <p:spPr>
          <a:xfrm>
            <a:off x="8239125" y="1666875"/>
            <a:ext cx="3143250" cy="381000"/>
          </a:xfrm>
          <a:prstGeom prst="rect">
            <a:avLst/>
          </a:prstGeom>
          <a:noFill/>
          <a:ln w="0">
            <a:noFill/>
            <a:prstDash val="solid"/>
          </a:ln>
        </p:spPr>
        <p:txBody>
          <a:bodyPr anchor="ctr"/>
          <a:lstStyle/>
          <a:p>
            <a:pPr algn="ctr">
              <a:defRPr sz="1725" b="1">
                <a:solidFill>
                  <a:srgbClr val="F2A93B"/>
                </a:solidFill>
              </a:defRPr>
            </a:pPr>
            <a:r>
              <a:rPr sz="1725" b="1">
                <a:solidFill>
                  <a:srgbClr val="F2A93B"/>
                </a:solidFill>
              </a:rPr>
              <a:t>RESTART + LOCAL SEARCH</a:t>
            </a:r>
          </a:p>
        </p:txBody>
      </p:sp>
      <p:sp>
        <p:nvSpPr>
          <p:cNvPr id="13" name="Rectangle 12">
            <a:extLst>
              <a:ext uri="{FF2B5EF4-FFF2-40B4-BE49-F238E27FC236}">
                <a16:creationId xmlns:a16="http://schemas.microsoft.com/office/drawing/2014/main" id="{8FF06EF5-1173-4BC8-B281-0292387C55DF}"/>
              </a:ext>
            </a:extLst>
          </p:cNvPr>
          <p:cNvSpPr>
            <a:spLocks noGrp="1"/>
          </p:cNvSpPr>
          <p:nvPr/>
        </p:nvSpPr>
        <p:spPr>
          <a:xfrm>
            <a:off x="8239125" y="2333625"/>
            <a:ext cx="3143250" cy="666750"/>
          </a:xfrm>
          <a:prstGeom prst="rect">
            <a:avLst/>
          </a:prstGeom>
          <a:noFill/>
          <a:ln w="0">
            <a:noFill/>
            <a:prstDash val="solid"/>
          </a:ln>
        </p:spPr>
        <p:txBody>
          <a:bodyPr anchor="ctr"/>
          <a:lstStyle/>
          <a:p>
            <a:pPr algn="ctr">
              <a:defRPr sz="1500" b="1">
                <a:solidFill>
                  <a:srgbClr val="183544"/>
                </a:solidFill>
              </a:defRPr>
            </a:pPr>
            <a:r>
              <a:rPr sz="1500" b="1">
                <a:solidFill>
                  <a:srgbClr val="183544"/>
                </a:solidFill>
              </a:rPr>
              <a:t>sample globally, then improve locally</a:t>
            </a:r>
          </a:p>
        </p:txBody>
      </p:sp>
      <p:sp>
        <p:nvSpPr>
          <p:cNvPr id="14" name="Rectangle 13">
            <a:extLst>
              <a:ext uri="{FF2B5EF4-FFF2-40B4-BE49-F238E27FC236}">
                <a16:creationId xmlns:a16="http://schemas.microsoft.com/office/drawing/2014/main" id="{19D73564-D38D-4BBE-AABA-49C199E181EB}"/>
              </a:ext>
            </a:extLst>
          </p:cNvPr>
          <p:cNvSpPr>
            <a:spLocks noGrp="1"/>
          </p:cNvSpPr>
          <p:nvPr/>
        </p:nvSpPr>
        <p:spPr>
          <a:xfrm>
            <a:off x="8239125" y="3286125"/>
            <a:ext cx="3143250" cy="333375"/>
          </a:xfrm>
          <a:prstGeom prst="rect">
            <a:avLst/>
          </a:prstGeom>
          <a:noFill/>
          <a:ln w="0">
            <a:noFill/>
            <a:prstDash val="solid"/>
          </a:ln>
        </p:spPr>
        <p:txBody>
          <a:bodyPr anchor="ctr"/>
          <a:lstStyle/>
          <a:p>
            <a:pPr algn="ctr">
              <a:defRPr sz="1425" b="1">
                <a:solidFill>
                  <a:srgbClr val="58707C"/>
                </a:solidFill>
              </a:defRPr>
            </a:pPr>
            <a:r>
              <a:rPr sz="1425" b="1">
                <a:solidFill>
                  <a:srgbClr val="58707C"/>
                </a:solidFill>
              </a:rPr>
              <a:t>connects to later methods</a:t>
            </a:r>
          </a:p>
        </p:txBody>
      </p:sp>
      <p:sp>
        <p:nvSpPr>
          <p:cNvPr id="15" name="Rounded Rectangle 14">
            <a:extLst>
              <a:ext uri="{FF2B5EF4-FFF2-40B4-BE49-F238E27FC236}">
                <a16:creationId xmlns:a16="http://schemas.microsoft.com/office/drawing/2014/main" id="{D924471B-9D56-4635-B3D6-83246B186EDF}"/>
              </a:ext>
            </a:extLst>
          </p:cNvPr>
          <p:cNvSpPr>
            <a:spLocks noGrp="1"/>
          </p:cNvSpPr>
          <p:nvPr/>
        </p:nvSpPr>
        <p:spPr>
          <a:xfrm>
            <a:off x="1714500" y="5048250"/>
            <a:ext cx="8763000" cy="619125"/>
          </a:xfrm>
          <a:prstGeom prst="roundRect">
            <a:avLst>
              <a:gd name="adj" fmla="val 12308"/>
            </a:avLst>
          </a:prstGeom>
          <a:solidFill>
            <a:srgbClr val="092A3D"/>
          </a:solidFill>
          <a:ln w="0">
            <a:solidFill>
              <a:srgbClr val="092A3D"/>
            </a:solidFill>
            <a:prstDash val="solid"/>
          </a:ln>
        </p:spPr>
        <p:txBody>
          <a:bodyPr/>
          <a:lstStyle/>
          <a:p>
            <a:endParaRPr lang="en-IQ"/>
          </a:p>
        </p:txBody>
      </p:sp>
      <p:sp>
        <p:nvSpPr>
          <p:cNvPr id="16" name="Rectangle 15">
            <a:extLst>
              <a:ext uri="{FF2B5EF4-FFF2-40B4-BE49-F238E27FC236}">
                <a16:creationId xmlns:a16="http://schemas.microsoft.com/office/drawing/2014/main" id="{8AA63E5D-7204-4B07-BB72-630389563E91}"/>
              </a:ext>
            </a:extLst>
          </p:cNvPr>
          <p:cNvSpPr>
            <a:spLocks noGrp="1"/>
          </p:cNvSpPr>
          <p:nvPr/>
        </p:nvSpPr>
        <p:spPr>
          <a:xfrm>
            <a:off x="1905000" y="5124450"/>
            <a:ext cx="8382000" cy="466725"/>
          </a:xfrm>
          <a:prstGeom prst="rect">
            <a:avLst/>
          </a:prstGeom>
          <a:noFill/>
          <a:ln w="0">
            <a:noFill/>
            <a:prstDash val="solid"/>
          </a:ln>
        </p:spPr>
        <p:txBody>
          <a:bodyPr anchor="ctr"/>
          <a:lstStyle/>
          <a:p>
            <a:pPr algn="ctr">
              <a:defRPr sz="1650" b="1">
                <a:solidFill>
                  <a:srgbClr val="FFFFFF"/>
                </a:solidFill>
              </a:defRPr>
            </a:pPr>
            <a:r>
              <a:rPr sz="1650" b="1">
                <a:solidFill>
                  <a:srgbClr val="FFFFFF"/>
                </a:solidFill>
              </a:rPr>
              <a:t>Every improvement changes the algorithm—and must be evaluated fairly.</a:t>
            </a:r>
          </a:p>
        </p:txBody>
      </p:sp>
    </p:spTree>
    <p:extLst>
      <p:ext uri="{BB962C8B-B14F-4D97-AF65-F5344CB8AC3E}">
        <p14:creationId xmlns:p14="http://schemas.microsoft.com/office/powerpoint/2010/main" val="5380471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C64F455E-7EAA-49B1-8C57-93A732826DDA}"/>
              </a:ext>
            </a:extLst>
          </p:cNvPr>
          <p:cNvSpPr>
            <a:spLocks noGrp="1"/>
          </p:cNvSpPr>
          <p:nvPr/>
        </p:nvSpPr>
        <p:spPr>
          <a:xfrm>
            <a:off x="609600" y="285750"/>
            <a:ext cx="64770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ASSESSMENT</a:t>
            </a:r>
          </a:p>
        </p:txBody>
      </p:sp>
      <p:sp>
        <p:nvSpPr>
          <p:cNvPr id="2" name="Rectangle 1">
            <a:extLst>
              <a:ext uri="{FF2B5EF4-FFF2-40B4-BE49-F238E27FC236}">
                <a16:creationId xmlns:a16="http://schemas.microsoft.com/office/drawing/2014/main" id="{79F924FA-3129-4793-BFE1-6D2CEA112E97}"/>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A strong report answers four questions</a:t>
            </a:r>
          </a:p>
        </p:txBody>
      </p:sp>
      <p:sp>
        <p:nvSpPr>
          <p:cNvPr id="3" name="Rectangle 2">
            <a:extLst>
              <a:ext uri="{FF2B5EF4-FFF2-40B4-BE49-F238E27FC236}">
                <a16:creationId xmlns:a16="http://schemas.microsoft.com/office/drawing/2014/main" id="{61D4404F-DE0F-4952-9794-1094ACE94135}"/>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BFB1CFEC-D5FE-4A22-BA55-7F404482D628}"/>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2</a:t>
            </a:r>
          </a:p>
        </p:txBody>
      </p:sp>
      <p:sp>
        <p:nvSpPr>
          <p:cNvPr id="5" name="Rectangle 4">
            <a:extLst>
              <a:ext uri="{FF2B5EF4-FFF2-40B4-BE49-F238E27FC236}">
                <a16:creationId xmlns:a16="http://schemas.microsoft.com/office/drawing/2014/main" id="{464FD772-4B71-46DB-9B1F-CFA57154E755}"/>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31</a:t>
            </a:r>
          </a:p>
        </p:txBody>
      </p:sp>
      <p:sp>
        <p:nvSpPr>
          <p:cNvPr id="6" name="Rectangle 5">
            <a:extLst>
              <a:ext uri="{FF2B5EF4-FFF2-40B4-BE49-F238E27FC236}">
                <a16:creationId xmlns:a16="http://schemas.microsoft.com/office/drawing/2014/main" id="{541227BB-D0FC-4216-8728-3ADE664CE9A7}"/>
              </a:ext>
            </a:extLst>
          </p:cNvPr>
          <p:cNvSpPr>
            <a:spLocks noGrp="1"/>
          </p:cNvSpPr>
          <p:nvPr/>
        </p:nvSpPr>
        <p:spPr>
          <a:xfrm>
            <a:off x="1000125" y="1476375"/>
            <a:ext cx="523875" cy="619125"/>
          </a:xfrm>
          <a:prstGeom prst="rect">
            <a:avLst/>
          </a:prstGeom>
          <a:noFill/>
          <a:ln w="0">
            <a:noFill/>
            <a:prstDash val="solid"/>
          </a:ln>
        </p:spPr>
        <p:txBody>
          <a:bodyPr anchor="ctr"/>
          <a:lstStyle/>
          <a:p>
            <a:pPr algn="ctr">
              <a:defRPr sz="1800" b="1">
                <a:solidFill>
                  <a:srgbClr val="F2A93B"/>
                </a:solidFill>
              </a:defRPr>
            </a:pPr>
            <a:r>
              <a:rPr sz="1800" b="1">
                <a:solidFill>
                  <a:srgbClr val="F2A93B"/>
                </a:solidFill>
              </a:rPr>
              <a:t>1</a:t>
            </a:r>
          </a:p>
        </p:txBody>
      </p:sp>
      <p:sp>
        <p:nvSpPr>
          <p:cNvPr id="7" name="Rectangle 6">
            <a:extLst>
              <a:ext uri="{FF2B5EF4-FFF2-40B4-BE49-F238E27FC236}">
                <a16:creationId xmlns:a16="http://schemas.microsoft.com/office/drawing/2014/main" id="{7540A559-F3EB-4EF2-BA5C-9C9515D6575E}"/>
              </a:ext>
            </a:extLst>
          </p:cNvPr>
          <p:cNvSpPr>
            <a:spLocks noGrp="1"/>
          </p:cNvSpPr>
          <p:nvPr/>
        </p:nvSpPr>
        <p:spPr>
          <a:xfrm>
            <a:off x="1809750" y="1476375"/>
            <a:ext cx="1809750" cy="619125"/>
          </a:xfrm>
          <a:prstGeom prst="rect">
            <a:avLst/>
          </a:prstGeom>
          <a:noFill/>
          <a:ln w="0">
            <a:noFill/>
            <a:prstDash val="solid"/>
          </a:ln>
        </p:spPr>
        <p:txBody>
          <a:bodyPr anchor="ctr"/>
          <a:lstStyle/>
          <a:p>
            <a:pPr algn="l">
              <a:defRPr sz="1575" b="1">
                <a:solidFill>
                  <a:srgbClr val="0B9B91"/>
                </a:solidFill>
              </a:defRPr>
            </a:pPr>
            <a:r>
              <a:rPr sz="1575" b="1">
                <a:solidFill>
                  <a:srgbClr val="0B9B91"/>
                </a:solidFill>
              </a:rPr>
              <a:t>MODEL</a:t>
            </a:r>
          </a:p>
        </p:txBody>
      </p:sp>
      <p:sp>
        <p:nvSpPr>
          <p:cNvPr id="8" name="Rectangle 7">
            <a:extLst>
              <a:ext uri="{FF2B5EF4-FFF2-40B4-BE49-F238E27FC236}">
                <a16:creationId xmlns:a16="http://schemas.microsoft.com/office/drawing/2014/main" id="{135B3A5D-1BD3-4DB7-BF03-1ED360F79472}"/>
              </a:ext>
            </a:extLst>
          </p:cNvPr>
          <p:cNvSpPr>
            <a:spLocks noGrp="1"/>
          </p:cNvSpPr>
          <p:nvPr/>
        </p:nvSpPr>
        <p:spPr>
          <a:xfrm>
            <a:off x="4000500" y="1476375"/>
            <a:ext cx="6858000" cy="619125"/>
          </a:xfrm>
          <a:prstGeom prst="rect">
            <a:avLst/>
          </a:prstGeom>
          <a:noFill/>
          <a:ln w="0">
            <a:noFill/>
            <a:prstDash val="solid"/>
          </a:ln>
        </p:spPr>
        <p:txBody>
          <a:bodyPr anchor="ctr"/>
          <a:lstStyle/>
          <a:p>
            <a:pPr algn="l">
              <a:defRPr sz="1650" b="0">
                <a:solidFill>
                  <a:srgbClr val="183544"/>
                </a:solidFill>
              </a:defRPr>
            </a:pPr>
            <a:r>
              <a:rPr sz="1650" b="0">
                <a:solidFill>
                  <a:srgbClr val="183544"/>
                </a:solidFill>
              </a:rPr>
              <a:t>What exactly was optimized?</a:t>
            </a:r>
          </a:p>
        </p:txBody>
      </p:sp>
      <p:sp>
        <p:nvSpPr>
          <p:cNvPr id="9" name="Rectangle 8">
            <a:extLst>
              <a:ext uri="{FF2B5EF4-FFF2-40B4-BE49-F238E27FC236}">
                <a16:creationId xmlns:a16="http://schemas.microsoft.com/office/drawing/2014/main" id="{45ED70F2-66CB-477D-AD0B-75A38762F78D}"/>
              </a:ext>
            </a:extLst>
          </p:cNvPr>
          <p:cNvSpPr>
            <a:spLocks noGrp="1"/>
          </p:cNvSpPr>
          <p:nvPr/>
        </p:nvSpPr>
        <p:spPr>
          <a:xfrm>
            <a:off x="1000125" y="2543175"/>
            <a:ext cx="523875" cy="619125"/>
          </a:xfrm>
          <a:prstGeom prst="rect">
            <a:avLst/>
          </a:prstGeom>
          <a:noFill/>
          <a:ln w="0">
            <a:noFill/>
            <a:prstDash val="solid"/>
          </a:ln>
        </p:spPr>
        <p:txBody>
          <a:bodyPr anchor="ctr"/>
          <a:lstStyle/>
          <a:p>
            <a:pPr algn="ctr">
              <a:defRPr sz="1800" b="1">
                <a:solidFill>
                  <a:srgbClr val="F2A93B"/>
                </a:solidFill>
              </a:defRPr>
            </a:pPr>
            <a:r>
              <a:rPr sz="1800" b="1">
                <a:solidFill>
                  <a:srgbClr val="F2A93B"/>
                </a:solidFill>
              </a:rPr>
              <a:t>2</a:t>
            </a:r>
          </a:p>
        </p:txBody>
      </p:sp>
      <p:sp>
        <p:nvSpPr>
          <p:cNvPr id="10" name="Rectangle 9">
            <a:extLst>
              <a:ext uri="{FF2B5EF4-FFF2-40B4-BE49-F238E27FC236}">
                <a16:creationId xmlns:a16="http://schemas.microsoft.com/office/drawing/2014/main" id="{91CA2416-1323-4118-AAE8-67021DDC72A2}"/>
              </a:ext>
            </a:extLst>
          </p:cNvPr>
          <p:cNvSpPr>
            <a:spLocks noGrp="1"/>
          </p:cNvSpPr>
          <p:nvPr/>
        </p:nvSpPr>
        <p:spPr>
          <a:xfrm>
            <a:off x="1809750" y="2543175"/>
            <a:ext cx="1809750" cy="619125"/>
          </a:xfrm>
          <a:prstGeom prst="rect">
            <a:avLst/>
          </a:prstGeom>
          <a:noFill/>
          <a:ln w="0">
            <a:noFill/>
            <a:prstDash val="solid"/>
          </a:ln>
        </p:spPr>
        <p:txBody>
          <a:bodyPr anchor="ctr"/>
          <a:lstStyle/>
          <a:p>
            <a:pPr algn="l">
              <a:defRPr sz="1575" b="1">
                <a:solidFill>
                  <a:srgbClr val="2878B5"/>
                </a:solidFill>
              </a:defRPr>
            </a:pPr>
            <a:r>
              <a:rPr sz="1575" b="1">
                <a:solidFill>
                  <a:srgbClr val="2878B5"/>
                </a:solidFill>
              </a:rPr>
              <a:t>METHOD</a:t>
            </a:r>
          </a:p>
        </p:txBody>
      </p:sp>
      <p:sp>
        <p:nvSpPr>
          <p:cNvPr id="11" name="Rectangle 10">
            <a:extLst>
              <a:ext uri="{FF2B5EF4-FFF2-40B4-BE49-F238E27FC236}">
                <a16:creationId xmlns:a16="http://schemas.microsoft.com/office/drawing/2014/main" id="{737115A3-6E56-44C1-9A58-72DF194CEB40}"/>
              </a:ext>
            </a:extLst>
          </p:cNvPr>
          <p:cNvSpPr>
            <a:spLocks noGrp="1"/>
          </p:cNvSpPr>
          <p:nvPr/>
        </p:nvSpPr>
        <p:spPr>
          <a:xfrm>
            <a:off x="4000500" y="2543175"/>
            <a:ext cx="6858000" cy="619125"/>
          </a:xfrm>
          <a:prstGeom prst="rect">
            <a:avLst/>
          </a:prstGeom>
          <a:noFill/>
          <a:ln w="0">
            <a:noFill/>
            <a:prstDash val="solid"/>
          </a:ln>
        </p:spPr>
        <p:txBody>
          <a:bodyPr anchor="ctr"/>
          <a:lstStyle/>
          <a:p>
            <a:pPr algn="l">
              <a:defRPr sz="1650" b="0">
                <a:solidFill>
                  <a:srgbClr val="183544"/>
                </a:solidFill>
              </a:defRPr>
            </a:pPr>
            <a:r>
              <a:rPr sz="1650" b="0">
                <a:solidFill>
                  <a:srgbClr val="183544"/>
                </a:solidFill>
              </a:rPr>
              <a:t>How were candidates generated and evaluated?</a:t>
            </a:r>
          </a:p>
        </p:txBody>
      </p:sp>
      <p:sp>
        <p:nvSpPr>
          <p:cNvPr id="12" name="Rectangle 11">
            <a:extLst>
              <a:ext uri="{FF2B5EF4-FFF2-40B4-BE49-F238E27FC236}">
                <a16:creationId xmlns:a16="http://schemas.microsoft.com/office/drawing/2014/main" id="{1318F5D2-A54C-4898-B44B-76ED6A0978AC}"/>
              </a:ext>
            </a:extLst>
          </p:cNvPr>
          <p:cNvSpPr>
            <a:spLocks noGrp="1"/>
          </p:cNvSpPr>
          <p:nvPr/>
        </p:nvSpPr>
        <p:spPr>
          <a:xfrm>
            <a:off x="1000125" y="3609975"/>
            <a:ext cx="523875" cy="619125"/>
          </a:xfrm>
          <a:prstGeom prst="rect">
            <a:avLst/>
          </a:prstGeom>
          <a:noFill/>
          <a:ln w="0">
            <a:noFill/>
            <a:prstDash val="solid"/>
          </a:ln>
        </p:spPr>
        <p:txBody>
          <a:bodyPr anchor="ctr"/>
          <a:lstStyle/>
          <a:p>
            <a:pPr algn="ctr">
              <a:defRPr sz="1800" b="1">
                <a:solidFill>
                  <a:srgbClr val="F2A93B"/>
                </a:solidFill>
              </a:defRPr>
            </a:pPr>
            <a:r>
              <a:rPr sz="1800" b="1">
                <a:solidFill>
                  <a:srgbClr val="F2A93B"/>
                </a:solidFill>
              </a:rPr>
              <a:t>3</a:t>
            </a:r>
          </a:p>
        </p:txBody>
      </p:sp>
      <p:sp>
        <p:nvSpPr>
          <p:cNvPr id="13" name="Rectangle 12">
            <a:extLst>
              <a:ext uri="{FF2B5EF4-FFF2-40B4-BE49-F238E27FC236}">
                <a16:creationId xmlns:a16="http://schemas.microsoft.com/office/drawing/2014/main" id="{50E933A3-0CBE-4752-B46D-5F0FB5AF7A90}"/>
              </a:ext>
            </a:extLst>
          </p:cNvPr>
          <p:cNvSpPr>
            <a:spLocks noGrp="1"/>
          </p:cNvSpPr>
          <p:nvPr/>
        </p:nvSpPr>
        <p:spPr>
          <a:xfrm>
            <a:off x="1809750" y="3609975"/>
            <a:ext cx="1809750" cy="619125"/>
          </a:xfrm>
          <a:prstGeom prst="rect">
            <a:avLst/>
          </a:prstGeom>
          <a:noFill/>
          <a:ln w="0">
            <a:noFill/>
            <a:prstDash val="solid"/>
          </a:ln>
        </p:spPr>
        <p:txBody>
          <a:bodyPr anchor="ctr"/>
          <a:lstStyle/>
          <a:p>
            <a:pPr algn="l">
              <a:defRPr sz="1575" b="1">
                <a:solidFill>
                  <a:srgbClr val="2C9976"/>
                </a:solidFill>
              </a:defRPr>
            </a:pPr>
            <a:r>
              <a:rPr sz="1575" b="1">
                <a:solidFill>
                  <a:srgbClr val="2C9976"/>
                </a:solidFill>
              </a:rPr>
              <a:t>EVIDENCE</a:t>
            </a:r>
          </a:p>
        </p:txBody>
      </p:sp>
      <p:sp>
        <p:nvSpPr>
          <p:cNvPr id="14" name="Rectangle 13">
            <a:extLst>
              <a:ext uri="{FF2B5EF4-FFF2-40B4-BE49-F238E27FC236}">
                <a16:creationId xmlns:a16="http://schemas.microsoft.com/office/drawing/2014/main" id="{0F29DCA7-6413-4210-8ACE-518713A5CF8D}"/>
              </a:ext>
            </a:extLst>
          </p:cNvPr>
          <p:cNvSpPr>
            <a:spLocks noGrp="1"/>
          </p:cNvSpPr>
          <p:nvPr/>
        </p:nvSpPr>
        <p:spPr>
          <a:xfrm>
            <a:off x="4000500" y="3609975"/>
            <a:ext cx="6858000" cy="619125"/>
          </a:xfrm>
          <a:prstGeom prst="rect">
            <a:avLst/>
          </a:prstGeom>
          <a:noFill/>
          <a:ln w="0">
            <a:noFill/>
            <a:prstDash val="solid"/>
          </a:ln>
        </p:spPr>
        <p:txBody>
          <a:bodyPr anchor="ctr"/>
          <a:lstStyle/>
          <a:p>
            <a:pPr algn="l">
              <a:defRPr sz="1650" b="0">
                <a:solidFill>
                  <a:srgbClr val="183544"/>
                </a:solidFill>
              </a:defRPr>
            </a:pPr>
            <a:r>
              <a:rPr sz="1650" b="0">
                <a:solidFill>
                  <a:srgbClr val="183544"/>
                </a:solidFill>
              </a:rPr>
              <a:t>What happened across repeated runs?</a:t>
            </a:r>
          </a:p>
        </p:txBody>
      </p:sp>
      <p:sp>
        <p:nvSpPr>
          <p:cNvPr id="15" name="Rectangle 14">
            <a:extLst>
              <a:ext uri="{FF2B5EF4-FFF2-40B4-BE49-F238E27FC236}">
                <a16:creationId xmlns:a16="http://schemas.microsoft.com/office/drawing/2014/main" id="{DC6A9802-3EF3-4761-978B-82F686EAB8CD}"/>
              </a:ext>
            </a:extLst>
          </p:cNvPr>
          <p:cNvSpPr>
            <a:spLocks noGrp="1"/>
          </p:cNvSpPr>
          <p:nvPr/>
        </p:nvSpPr>
        <p:spPr>
          <a:xfrm>
            <a:off x="1000125" y="4676775"/>
            <a:ext cx="523875" cy="619125"/>
          </a:xfrm>
          <a:prstGeom prst="rect">
            <a:avLst/>
          </a:prstGeom>
          <a:noFill/>
          <a:ln w="0">
            <a:noFill/>
            <a:prstDash val="solid"/>
          </a:ln>
        </p:spPr>
        <p:txBody>
          <a:bodyPr anchor="ctr"/>
          <a:lstStyle/>
          <a:p>
            <a:pPr algn="ctr">
              <a:defRPr sz="1800" b="1">
                <a:solidFill>
                  <a:srgbClr val="F2A93B"/>
                </a:solidFill>
              </a:defRPr>
            </a:pPr>
            <a:r>
              <a:rPr sz="1800" b="1">
                <a:solidFill>
                  <a:srgbClr val="F2A93B"/>
                </a:solidFill>
              </a:rPr>
              <a:t>4</a:t>
            </a:r>
          </a:p>
        </p:txBody>
      </p:sp>
      <p:sp>
        <p:nvSpPr>
          <p:cNvPr id="16" name="Rectangle 15">
            <a:extLst>
              <a:ext uri="{FF2B5EF4-FFF2-40B4-BE49-F238E27FC236}">
                <a16:creationId xmlns:a16="http://schemas.microsoft.com/office/drawing/2014/main" id="{E8E98B36-91E4-46A8-BBFA-EB074320D4FB}"/>
              </a:ext>
            </a:extLst>
          </p:cNvPr>
          <p:cNvSpPr>
            <a:spLocks noGrp="1"/>
          </p:cNvSpPr>
          <p:nvPr/>
        </p:nvSpPr>
        <p:spPr>
          <a:xfrm>
            <a:off x="1809750" y="4676775"/>
            <a:ext cx="1809750" cy="619125"/>
          </a:xfrm>
          <a:prstGeom prst="rect">
            <a:avLst/>
          </a:prstGeom>
          <a:noFill/>
          <a:ln w="0">
            <a:noFill/>
            <a:prstDash val="solid"/>
          </a:ln>
        </p:spPr>
        <p:txBody>
          <a:bodyPr anchor="ctr"/>
          <a:lstStyle/>
          <a:p>
            <a:pPr algn="l">
              <a:defRPr sz="1575" b="1">
                <a:solidFill>
                  <a:srgbClr val="D95D5D"/>
                </a:solidFill>
              </a:defRPr>
            </a:pPr>
            <a:r>
              <a:rPr sz="1575" b="1">
                <a:solidFill>
                  <a:srgbClr val="D95D5D"/>
                </a:solidFill>
              </a:rPr>
              <a:t>LIMITATION</a:t>
            </a:r>
          </a:p>
        </p:txBody>
      </p:sp>
      <p:sp>
        <p:nvSpPr>
          <p:cNvPr id="17" name="Rectangle 16">
            <a:extLst>
              <a:ext uri="{FF2B5EF4-FFF2-40B4-BE49-F238E27FC236}">
                <a16:creationId xmlns:a16="http://schemas.microsoft.com/office/drawing/2014/main" id="{F9348ED7-1CB6-4DC4-937D-886A99EA3B5A}"/>
              </a:ext>
            </a:extLst>
          </p:cNvPr>
          <p:cNvSpPr>
            <a:spLocks noGrp="1"/>
          </p:cNvSpPr>
          <p:nvPr/>
        </p:nvSpPr>
        <p:spPr>
          <a:xfrm>
            <a:off x="4000500" y="4676775"/>
            <a:ext cx="6858000" cy="619125"/>
          </a:xfrm>
          <a:prstGeom prst="rect">
            <a:avLst/>
          </a:prstGeom>
          <a:noFill/>
          <a:ln w="0">
            <a:noFill/>
            <a:prstDash val="solid"/>
          </a:ln>
        </p:spPr>
        <p:txBody>
          <a:bodyPr anchor="ctr"/>
          <a:lstStyle/>
          <a:p>
            <a:pPr algn="l">
              <a:defRPr sz="1650" b="0">
                <a:solidFill>
                  <a:srgbClr val="183544"/>
                </a:solidFill>
              </a:defRPr>
            </a:pPr>
            <a:r>
              <a:rPr sz="1650" b="0">
                <a:solidFill>
                  <a:srgbClr val="183544"/>
                </a:solidFill>
              </a:rPr>
              <a:t>What can the results not establish?</a:t>
            </a:r>
          </a:p>
        </p:txBody>
      </p:sp>
    </p:spTree>
    <p:extLst>
      <p:ext uri="{BB962C8B-B14F-4D97-AF65-F5344CB8AC3E}">
        <p14:creationId xmlns:p14="http://schemas.microsoft.com/office/powerpoint/2010/main" val="17431871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24C84ED-930A-49E1-9E4B-5EADDFC1AAC7}"/>
              </a:ext>
            </a:extLst>
          </p:cNvPr>
          <p:cNvSpPr>
            <a:spLocks noGrp="1"/>
          </p:cNvSpPr>
          <p:nvPr/>
        </p:nvSpPr>
        <p:spPr>
          <a:xfrm>
            <a:off x="609600" y="285750"/>
            <a:ext cx="64770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FORMATIVE ASSESSMENT</a:t>
            </a:r>
          </a:p>
        </p:txBody>
      </p:sp>
      <p:sp>
        <p:nvSpPr>
          <p:cNvPr id="2" name="Rectangle 1">
            <a:extLst>
              <a:ext uri="{FF2B5EF4-FFF2-40B4-BE49-F238E27FC236}">
                <a16:creationId xmlns:a16="http://schemas.microsoft.com/office/drawing/2014/main" id="{16F066E6-97C3-44DC-A930-F7AFDC527772}"/>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Concept check: can you defend the algorithm?</a:t>
            </a:r>
          </a:p>
        </p:txBody>
      </p:sp>
      <p:sp>
        <p:nvSpPr>
          <p:cNvPr id="3" name="Rectangle 2">
            <a:extLst>
              <a:ext uri="{FF2B5EF4-FFF2-40B4-BE49-F238E27FC236}">
                <a16:creationId xmlns:a16="http://schemas.microsoft.com/office/drawing/2014/main" id="{79D700C8-0DD9-4F45-8CB4-C37448D1DEED}"/>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880ED46A-1901-478F-A790-1CF741B5AC97}"/>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2</a:t>
            </a:r>
          </a:p>
        </p:txBody>
      </p:sp>
      <p:sp>
        <p:nvSpPr>
          <p:cNvPr id="5" name="Rectangle 4">
            <a:extLst>
              <a:ext uri="{FF2B5EF4-FFF2-40B4-BE49-F238E27FC236}">
                <a16:creationId xmlns:a16="http://schemas.microsoft.com/office/drawing/2014/main" id="{309B155C-8800-443E-89E7-DF5F09505C23}"/>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32</a:t>
            </a:r>
          </a:p>
        </p:txBody>
      </p:sp>
      <p:sp>
        <p:nvSpPr>
          <p:cNvPr id="6" name="Oval 5">
            <a:extLst>
              <a:ext uri="{FF2B5EF4-FFF2-40B4-BE49-F238E27FC236}">
                <a16:creationId xmlns:a16="http://schemas.microsoft.com/office/drawing/2014/main" id="{E0F6B8F6-4EEE-4264-8054-1C6A20C452CA}"/>
              </a:ext>
            </a:extLst>
          </p:cNvPr>
          <p:cNvSpPr>
            <a:spLocks noGrp="1"/>
          </p:cNvSpPr>
          <p:nvPr/>
        </p:nvSpPr>
        <p:spPr>
          <a:xfrm>
            <a:off x="1190625" y="1476375"/>
            <a:ext cx="114300" cy="114300"/>
          </a:xfrm>
          <a:prstGeom prst="ellipse">
            <a:avLst/>
          </a:prstGeom>
          <a:solidFill>
            <a:srgbClr val="0B9B91"/>
          </a:solidFill>
          <a:ln w="0">
            <a:solidFill>
              <a:srgbClr val="0B9B91"/>
            </a:solidFill>
            <a:prstDash val="solid"/>
          </a:ln>
        </p:spPr>
        <p:txBody>
          <a:bodyPr/>
          <a:lstStyle/>
          <a:p>
            <a:endParaRPr lang="en-IQ"/>
          </a:p>
        </p:txBody>
      </p:sp>
      <p:sp>
        <p:nvSpPr>
          <p:cNvPr id="7" name="Rectangle 6">
            <a:extLst>
              <a:ext uri="{FF2B5EF4-FFF2-40B4-BE49-F238E27FC236}">
                <a16:creationId xmlns:a16="http://schemas.microsoft.com/office/drawing/2014/main" id="{8E65722D-9462-48BC-9FF5-3F3810694637}"/>
              </a:ext>
            </a:extLst>
          </p:cNvPr>
          <p:cNvSpPr>
            <a:spLocks noGrp="1"/>
          </p:cNvSpPr>
          <p:nvPr/>
        </p:nvSpPr>
        <p:spPr>
          <a:xfrm>
            <a:off x="1466850" y="1285875"/>
            <a:ext cx="9629775" cy="781050"/>
          </a:xfrm>
          <a:prstGeom prst="rect">
            <a:avLst/>
          </a:prstGeom>
          <a:noFill/>
          <a:ln w="0">
            <a:noFill/>
            <a:prstDash val="solid"/>
          </a:ln>
        </p:spPr>
        <p:txBody>
          <a:bodyPr anchor="ctr"/>
          <a:lstStyle/>
          <a:p>
            <a:pPr algn="l">
              <a:defRPr sz="1575" b="0">
                <a:solidFill>
                  <a:srgbClr val="183544"/>
                </a:solidFill>
              </a:defRPr>
            </a:pPr>
            <a:r>
              <a:rPr sz="1575" b="0">
                <a:solidFill>
                  <a:srgbClr val="183544"/>
                </a:solidFill>
              </a:rPr>
              <a:t>Why does this instance have 4⁸ candidates?</a:t>
            </a:r>
          </a:p>
        </p:txBody>
      </p:sp>
      <p:sp>
        <p:nvSpPr>
          <p:cNvPr id="8" name="Oval 7">
            <a:extLst>
              <a:ext uri="{FF2B5EF4-FFF2-40B4-BE49-F238E27FC236}">
                <a16:creationId xmlns:a16="http://schemas.microsoft.com/office/drawing/2014/main" id="{1DF156CA-922D-4714-BD59-85A58236A5A9}"/>
              </a:ext>
            </a:extLst>
          </p:cNvPr>
          <p:cNvSpPr>
            <a:spLocks noGrp="1"/>
          </p:cNvSpPr>
          <p:nvPr/>
        </p:nvSpPr>
        <p:spPr>
          <a:xfrm>
            <a:off x="1190625" y="2257425"/>
            <a:ext cx="114300" cy="114300"/>
          </a:xfrm>
          <a:prstGeom prst="ellipse">
            <a:avLst/>
          </a:prstGeom>
          <a:solidFill>
            <a:srgbClr val="0B9B91"/>
          </a:solidFill>
          <a:ln w="0">
            <a:solidFill>
              <a:srgbClr val="0B9B91"/>
            </a:solidFill>
            <a:prstDash val="solid"/>
          </a:ln>
        </p:spPr>
        <p:txBody>
          <a:bodyPr/>
          <a:lstStyle/>
          <a:p>
            <a:endParaRPr lang="en-IQ"/>
          </a:p>
        </p:txBody>
      </p:sp>
      <p:sp>
        <p:nvSpPr>
          <p:cNvPr id="9" name="Rectangle 8">
            <a:extLst>
              <a:ext uri="{FF2B5EF4-FFF2-40B4-BE49-F238E27FC236}">
                <a16:creationId xmlns:a16="http://schemas.microsoft.com/office/drawing/2014/main" id="{C6C10F55-FEBF-4DB4-A13B-6D4FA889F7E0}"/>
              </a:ext>
            </a:extLst>
          </p:cNvPr>
          <p:cNvSpPr>
            <a:spLocks noGrp="1"/>
          </p:cNvSpPr>
          <p:nvPr/>
        </p:nvSpPr>
        <p:spPr>
          <a:xfrm>
            <a:off x="1466850" y="2066925"/>
            <a:ext cx="9629775" cy="781050"/>
          </a:xfrm>
          <a:prstGeom prst="rect">
            <a:avLst/>
          </a:prstGeom>
          <a:noFill/>
          <a:ln w="0">
            <a:noFill/>
            <a:prstDash val="solid"/>
          </a:ln>
        </p:spPr>
        <p:txBody>
          <a:bodyPr anchor="ctr"/>
          <a:lstStyle/>
          <a:p>
            <a:pPr algn="l">
              <a:defRPr sz="1575" b="0">
                <a:solidFill>
                  <a:srgbClr val="183544"/>
                </a:solidFill>
              </a:defRPr>
            </a:pPr>
            <a:r>
              <a:rPr sz="1575" b="0">
                <a:solidFill>
                  <a:srgbClr val="183544"/>
                </a:solidFill>
              </a:rPr>
              <a:t>Why are only 6,194 candidates feasible?</a:t>
            </a:r>
          </a:p>
        </p:txBody>
      </p:sp>
      <p:sp>
        <p:nvSpPr>
          <p:cNvPr id="10" name="Oval 9">
            <a:extLst>
              <a:ext uri="{FF2B5EF4-FFF2-40B4-BE49-F238E27FC236}">
                <a16:creationId xmlns:a16="http://schemas.microsoft.com/office/drawing/2014/main" id="{A4570EB3-59AF-437F-93FE-DF5BAB9D8F79}"/>
              </a:ext>
            </a:extLst>
          </p:cNvPr>
          <p:cNvSpPr>
            <a:spLocks noGrp="1"/>
          </p:cNvSpPr>
          <p:nvPr/>
        </p:nvSpPr>
        <p:spPr>
          <a:xfrm>
            <a:off x="1190625" y="3038475"/>
            <a:ext cx="114300" cy="114300"/>
          </a:xfrm>
          <a:prstGeom prst="ellipse">
            <a:avLst/>
          </a:prstGeom>
          <a:solidFill>
            <a:srgbClr val="0B9B91"/>
          </a:solidFill>
          <a:ln w="0">
            <a:solidFill>
              <a:srgbClr val="0B9B91"/>
            </a:solidFill>
            <a:prstDash val="solid"/>
          </a:ln>
        </p:spPr>
        <p:txBody>
          <a:bodyPr/>
          <a:lstStyle/>
          <a:p>
            <a:endParaRPr lang="en-IQ"/>
          </a:p>
        </p:txBody>
      </p:sp>
      <p:sp>
        <p:nvSpPr>
          <p:cNvPr id="11" name="Rectangle 10">
            <a:extLst>
              <a:ext uri="{FF2B5EF4-FFF2-40B4-BE49-F238E27FC236}">
                <a16:creationId xmlns:a16="http://schemas.microsoft.com/office/drawing/2014/main" id="{56396034-D96A-41AE-82B6-7A6AD20B7CF8}"/>
              </a:ext>
            </a:extLst>
          </p:cNvPr>
          <p:cNvSpPr>
            <a:spLocks noGrp="1"/>
          </p:cNvSpPr>
          <p:nvPr/>
        </p:nvSpPr>
        <p:spPr>
          <a:xfrm>
            <a:off x="1466850" y="2847975"/>
            <a:ext cx="9629775" cy="781050"/>
          </a:xfrm>
          <a:prstGeom prst="rect">
            <a:avLst/>
          </a:prstGeom>
          <a:noFill/>
          <a:ln w="0">
            <a:noFill/>
            <a:prstDash val="solid"/>
          </a:ln>
        </p:spPr>
        <p:txBody>
          <a:bodyPr anchor="ctr"/>
          <a:lstStyle/>
          <a:p>
            <a:pPr algn="l">
              <a:defRPr sz="1575" b="0">
                <a:solidFill>
                  <a:srgbClr val="183544"/>
                </a:solidFill>
              </a:defRPr>
            </a:pPr>
            <a:r>
              <a:rPr sz="1575" b="0">
                <a:solidFill>
                  <a:srgbClr val="183544"/>
                </a:solidFill>
              </a:rPr>
              <a:t>What is the difference between random search and random walk?</a:t>
            </a:r>
          </a:p>
        </p:txBody>
      </p:sp>
      <p:sp>
        <p:nvSpPr>
          <p:cNvPr id="12" name="Oval 11">
            <a:extLst>
              <a:ext uri="{FF2B5EF4-FFF2-40B4-BE49-F238E27FC236}">
                <a16:creationId xmlns:a16="http://schemas.microsoft.com/office/drawing/2014/main" id="{FB45685E-BEB8-4BB8-8800-F3EC202B9D8D}"/>
              </a:ext>
            </a:extLst>
          </p:cNvPr>
          <p:cNvSpPr>
            <a:spLocks noGrp="1"/>
          </p:cNvSpPr>
          <p:nvPr/>
        </p:nvSpPr>
        <p:spPr>
          <a:xfrm>
            <a:off x="1190625" y="3819525"/>
            <a:ext cx="114300" cy="114300"/>
          </a:xfrm>
          <a:prstGeom prst="ellipse">
            <a:avLst/>
          </a:prstGeom>
          <a:solidFill>
            <a:srgbClr val="0B9B91"/>
          </a:solidFill>
          <a:ln w="0">
            <a:solidFill>
              <a:srgbClr val="0B9B91"/>
            </a:solidFill>
            <a:prstDash val="solid"/>
          </a:ln>
        </p:spPr>
        <p:txBody>
          <a:bodyPr/>
          <a:lstStyle/>
          <a:p>
            <a:endParaRPr lang="en-IQ"/>
          </a:p>
        </p:txBody>
      </p:sp>
      <p:sp>
        <p:nvSpPr>
          <p:cNvPr id="13" name="Rectangle 12">
            <a:extLst>
              <a:ext uri="{FF2B5EF4-FFF2-40B4-BE49-F238E27FC236}">
                <a16:creationId xmlns:a16="http://schemas.microsoft.com/office/drawing/2014/main" id="{45C4D28D-6122-4C53-8B00-BAFCA7FFCD24}"/>
              </a:ext>
            </a:extLst>
          </p:cNvPr>
          <p:cNvSpPr>
            <a:spLocks noGrp="1"/>
          </p:cNvSpPr>
          <p:nvPr/>
        </p:nvSpPr>
        <p:spPr>
          <a:xfrm>
            <a:off x="1466850" y="3629025"/>
            <a:ext cx="9629775" cy="781050"/>
          </a:xfrm>
          <a:prstGeom prst="rect">
            <a:avLst/>
          </a:prstGeom>
          <a:noFill/>
          <a:ln w="0">
            <a:noFill/>
            <a:prstDash val="solid"/>
          </a:ln>
        </p:spPr>
        <p:txBody>
          <a:bodyPr anchor="ctr"/>
          <a:lstStyle/>
          <a:p>
            <a:pPr algn="l">
              <a:defRPr sz="1575" b="0">
                <a:solidFill>
                  <a:srgbClr val="183544"/>
                </a:solidFill>
              </a:defRPr>
            </a:pPr>
            <a:r>
              <a:rPr sz="1575" b="0">
                <a:solidFill>
                  <a:srgbClr val="183544"/>
                </a:solidFill>
              </a:rPr>
              <a:t>Why must the seed be recorded but varied across runs?</a:t>
            </a:r>
          </a:p>
        </p:txBody>
      </p:sp>
      <p:sp>
        <p:nvSpPr>
          <p:cNvPr id="14" name="Oval 13">
            <a:extLst>
              <a:ext uri="{FF2B5EF4-FFF2-40B4-BE49-F238E27FC236}">
                <a16:creationId xmlns:a16="http://schemas.microsoft.com/office/drawing/2014/main" id="{092E26B3-465C-43D3-B700-62A26E97A8A6}"/>
              </a:ext>
            </a:extLst>
          </p:cNvPr>
          <p:cNvSpPr>
            <a:spLocks noGrp="1"/>
          </p:cNvSpPr>
          <p:nvPr/>
        </p:nvSpPr>
        <p:spPr>
          <a:xfrm>
            <a:off x="1190625" y="4600575"/>
            <a:ext cx="114300" cy="114300"/>
          </a:xfrm>
          <a:prstGeom prst="ellipse">
            <a:avLst/>
          </a:prstGeom>
          <a:solidFill>
            <a:srgbClr val="0B9B91"/>
          </a:solidFill>
          <a:ln w="0">
            <a:solidFill>
              <a:srgbClr val="0B9B91"/>
            </a:solidFill>
            <a:prstDash val="solid"/>
          </a:ln>
        </p:spPr>
        <p:txBody>
          <a:bodyPr/>
          <a:lstStyle/>
          <a:p>
            <a:endParaRPr lang="en-IQ"/>
          </a:p>
        </p:txBody>
      </p:sp>
      <p:sp>
        <p:nvSpPr>
          <p:cNvPr id="15" name="Rectangle 14">
            <a:extLst>
              <a:ext uri="{FF2B5EF4-FFF2-40B4-BE49-F238E27FC236}">
                <a16:creationId xmlns:a16="http://schemas.microsoft.com/office/drawing/2014/main" id="{FAE97803-687F-4DD1-B5B0-8FDA93231AFA}"/>
              </a:ext>
            </a:extLst>
          </p:cNvPr>
          <p:cNvSpPr>
            <a:spLocks noGrp="1"/>
          </p:cNvSpPr>
          <p:nvPr/>
        </p:nvSpPr>
        <p:spPr>
          <a:xfrm>
            <a:off x="1466850" y="4410075"/>
            <a:ext cx="9629775" cy="781050"/>
          </a:xfrm>
          <a:prstGeom prst="rect">
            <a:avLst/>
          </a:prstGeom>
          <a:noFill/>
          <a:ln w="0">
            <a:noFill/>
            <a:prstDash val="solid"/>
          </a:ln>
        </p:spPr>
        <p:txBody>
          <a:bodyPr anchor="ctr"/>
          <a:lstStyle/>
          <a:p>
            <a:pPr algn="l">
              <a:defRPr sz="1575" b="0">
                <a:solidFill>
                  <a:srgbClr val="183544"/>
                </a:solidFill>
              </a:defRPr>
            </a:pPr>
            <a:r>
              <a:rPr sz="1575" b="0">
                <a:solidFill>
                  <a:srgbClr val="183544"/>
                </a:solidFill>
              </a:rPr>
              <a:t>Why does a flat best-so-far trace not prove optimality?</a:t>
            </a:r>
          </a:p>
        </p:txBody>
      </p:sp>
      <p:sp>
        <p:nvSpPr>
          <p:cNvPr id="16" name="Oval 15">
            <a:extLst>
              <a:ext uri="{FF2B5EF4-FFF2-40B4-BE49-F238E27FC236}">
                <a16:creationId xmlns:a16="http://schemas.microsoft.com/office/drawing/2014/main" id="{D1CB331D-5BB3-4186-A654-F300AFBCB85F}"/>
              </a:ext>
            </a:extLst>
          </p:cNvPr>
          <p:cNvSpPr>
            <a:spLocks noGrp="1"/>
          </p:cNvSpPr>
          <p:nvPr/>
        </p:nvSpPr>
        <p:spPr>
          <a:xfrm>
            <a:off x="1190625" y="5381625"/>
            <a:ext cx="114300" cy="114300"/>
          </a:xfrm>
          <a:prstGeom prst="ellipse">
            <a:avLst/>
          </a:prstGeom>
          <a:solidFill>
            <a:srgbClr val="0B9B91"/>
          </a:solidFill>
          <a:ln w="0">
            <a:solidFill>
              <a:srgbClr val="0B9B91"/>
            </a:solidFill>
            <a:prstDash val="solid"/>
          </a:ln>
        </p:spPr>
        <p:txBody>
          <a:bodyPr/>
          <a:lstStyle/>
          <a:p>
            <a:endParaRPr lang="en-IQ"/>
          </a:p>
        </p:txBody>
      </p:sp>
      <p:sp>
        <p:nvSpPr>
          <p:cNvPr id="17" name="Rectangle 16">
            <a:extLst>
              <a:ext uri="{FF2B5EF4-FFF2-40B4-BE49-F238E27FC236}">
                <a16:creationId xmlns:a16="http://schemas.microsoft.com/office/drawing/2014/main" id="{B5935B5E-6672-4A25-85C1-3652522EB7FA}"/>
              </a:ext>
            </a:extLst>
          </p:cNvPr>
          <p:cNvSpPr>
            <a:spLocks noGrp="1"/>
          </p:cNvSpPr>
          <p:nvPr/>
        </p:nvSpPr>
        <p:spPr>
          <a:xfrm>
            <a:off x="1466850" y="5191125"/>
            <a:ext cx="9629775" cy="781050"/>
          </a:xfrm>
          <a:prstGeom prst="rect">
            <a:avLst/>
          </a:prstGeom>
          <a:noFill/>
          <a:ln w="0">
            <a:noFill/>
            <a:prstDash val="solid"/>
          </a:ln>
        </p:spPr>
        <p:txBody>
          <a:bodyPr anchor="ctr"/>
          <a:lstStyle/>
          <a:p>
            <a:pPr algn="l">
              <a:defRPr sz="1575" b="0">
                <a:solidFill>
                  <a:srgbClr val="183544"/>
                </a:solidFill>
              </a:defRPr>
            </a:pPr>
            <a:r>
              <a:rPr sz="1575" b="0">
                <a:solidFill>
                  <a:srgbClr val="183544"/>
                </a:solidFill>
              </a:rPr>
              <a:t>Which statistic best describes typical performance—and which describes risk?</a:t>
            </a:r>
          </a:p>
        </p:txBody>
      </p:sp>
    </p:spTree>
    <p:extLst>
      <p:ext uri="{BB962C8B-B14F-4D97-AF65-F5344CB8AC3E}">
        <p14:creationId xmlns:p14="http://schemas.microsoft.com/office/powerpoint/2010/main" val="11312243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BC8FD83B-99A4-41ED-B0CD-7E1234410656}"/>
              </a:ext>
            </a:extLst>
          </p:cNvPr>
          <p:cNvSpPr>
            <a:spLocks noGrp="1"/>
          </p:cNvSpPr>
          <p:nvPr/>
        </p:nvSpPr>
        <p:spPr>
          <a:xfrm>
            <a:off x="609600" y="285750"/>
            <a:ext cx="64770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SYNTHESIS</a:t>
            </a:r>
          </a:p>
        </p:txBody>
      </p:sp>
      <p:sp>
        <p:nvSpPr>
          <p:cNvPr id="2" name="Rectangle 1">
            <a:extLst>
              <a:ext uri="{FF2B5EF4-FFF2-40B4-BE49-F238E27FC236}">
                <a16:creationId xmlns:a16="http://schemas.microsoft.com/office/drawing/2014/main" id="{E6062746-A75B-49E4-8AAF-AE8B32147D23}"/>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The central lesson is not ‘random is good’</a:t>
            </a:r>
          </a:p>
        </p:txBody>
      </p:sp>
      <p:sp>
        <p:nvSpPr>
          <p:cNvPr id="3" name="Rectangle 2">
            <a:extLst>
              <a:ext uri="{FF2B5EF4-FFF2-40B4-BE49-F238E27FC236}">
                <a16:creationId xmlns:a16="http://schemas.microsoft.com/office/drawing/2014/main" id="{983A328B-9199-4ED8-A748-5EC4C728B66B}"/>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7A4A86E9-CC0C-434E-A616-5125D338FC27}"/>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2</a:t>
            </a:r>
          </a:p>
        </p:txBody>
      </p:sp>
      <p:sp>
        <p:nvSpPr>
          <p:cNvPr id="5" name="Rectangle 4">
            <a:extLst>
              <a:ext uri="{FF2B5EF4-FFF2-40B4-BE49-F238E27FC236}">
                <a16:creationId xmlns:a16="http://schemas.microsoft.com/office/drawing/2014/main" id="{88ABB640-B958-4E61-B3E3-95AA29B4CA0D}"/>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33</a:t>
            </a:r>
          </a:p>
        </p:txBody>
      </p:sp>
      <p:sp>
        <p:nvSpPr>
          <p:cNvPr id="6" name="Rounded Rectangle 5">
            <a:extLst>
              <a:ext uri="{FF2B5EF4-FFF2-40B4-BE49-F238E27FC236}">
                <a16:creationId xmlns:a16="http://schemas.microsoft.com/office/drawing/2014/main" id="{AE17458B-01A4-489E-994A-97D1C856AA2C}"/>
              </a:ext>
            </a:extLst>
          </p:cNvPr>
          <p:cNvSpPr>
            <a:spLocks noGrp="1"/>
          </p:cNvSpPr>
          <p:nvPr/>
        </p:nvSpPr>
        <p:spPr>
          <a:xfrm>
            <a:off x="1095375" y="1524000"/>
            <a:ext cx="10001250" cy="781050"/>
          </a:xfrm>
          <a:prstGeom prst="roundRect">
            <a:avLst>
              <a:gd name="adj" fmla="val 9756"/>
            </a:avLst>
          </a:prstGeom>
          <a:solidFill>
            <a:srgbClr val="092A3D"/>
          </a:solidFill>
          <a:ln w="0">
            <a:solidFill>
              <a:srgbClr val="092A3D"/>
            </a:solidFill>
            <a:prstDash val="solid"/>
          </a:ln>
        </p:spPr>
        <p:txBody>
          <a:bodyPr/>
          <a:lstStyle/>
          <a:p>
            <a:endParaRPr lang="en-IQ"/>
          </a:p>
        </p:txBody>
      </p:sp>
      <p:sp>
        <p:nvSpPr>
          <p:cNvPr id="7" name="Rectangle 6">
            <a:extLst>
              <a:ext uri="{FF2B5EF4-FFF2-40B4-BE49-F238E27FC236}">
                <a16:creationId xmlns:a16="http://schemas.microsoft.com/office/drawing/2014/main" id="{5A30F2EE-3F72-4C59-B654-A29D4731FACA}"/>
              </a:ext>
            </a:extLst>
          </p:cNvPr>
          <p:cNvSpPr>
            <a:spLocks noGrp="1"/>
          </p:cNvSpPr>
          <p:nvPr/>
        </p:nvSpPr>
        <p:spPr>
          <a:xfrm>
            <a:off x="1285875" y="1600200"/>
            <a:ext cx="9620250" cy="628650"/>
          </a:xfrm>
          <a:prstGeom prst="rect">
            <a:avLst/>
          </a:prstGeom>
          <a:noFill/>
          <a:ln w="0">
            <a:noFill/>
            <a:prstDash val="solid"/>
          </a:ln>
        </p:spPr>
        <p:txBody>
          <a:bodyPr anchor="ctr"/>
          <a:lstStyle/>
          <a:p>
            <a:pPr algn="ctr">
              <a:defRPr sz="2025" b="1">
                <a:solidFill>
                  <a:srgbClr val="FFFFFF"/>
                </a:solidFill>
              </a:defRPr>
            </a:pPr>
            <a:r>
              <a:rPr sz="2025" b="1">
                <a:solidFill>
                  <a:srgbClr val="FFFFFF"/>
                </a:solidFill>
              </a:rPr>
              <a:t>Random search is a measurable, reproducible baseline for difficult spaces.</a:t>
            </a:r>
          </a:p>
        </p:txBody>
      </p:sp>
      <p:sp>
        <p:nvSpPr>
          <p:cNvPr id="8" name="Rectangle 7">
            <a:extLst>
              <a:ext uri="{FF2B5EF4-FFF2-40B4-BE49-F238E27FC236}">
                <a16:creationId xmlns:a16="http://schemas.microsoft.com/office/drawing/2014/main" id="{FB41ADCF-3903-4A91-AA78-D3880F8E8A7A}"/>
              </a:ext>
            </a:extLst>
          </p:cNvPr>
          <p:cNvSpPr>
            <a:spLocks noGrp="1"/>
          </p:cNvSpPr>
          <p:nvPr/>
        </p:nvSpPr>
        <p:spPr>
          <a:xfrm>
            <a:off x="1238250" y="2952750"/>
            <a:ext cx="2095500" cy="400050"/>
          </a:xfrm>
          <a:prstGeom prst="rect">
            <a:avLst/>
          </a:prstGeom>
          <a:noFill/>
          <a:ln w="0">
            <a:noFill/>
            <a:prstDash val="solid"/>
          </a:ln>
        </p:spPr>
        <p:txBody>
          <a:bodyPr anchor="ctr"/>
          <a:lstStyle/>
          <a:p>
            <a:pPr algn="ctr">
              <a:defRPr sz="1800" b="1">
                <a:solidFill>
                  <a:srgbClr val="0B9B91"/>
                </a:solidFill>
              </a:defRPr>
            </a:pPr>
            <a:r>
              <a:rPr sz="1800" b="1">
                <a:solidFill>
                  <a:srgbClr val="0B9B91"/>
                </a:solidFill>
              </a:rPr>
              <a:t>MODEL</a:t>
            </a:r>
          </a:p>
        </p:txBody>
      </p:sp>
      <p:sp>
        <p:nvSpPr>
          <p:cNvPr id="9" name="Rectangle 8">
            <a:extLst>
              <a:ext uri="{FF2B5EF4-FFF2-40B4-BE49-F238E27FC236}">
                <a16:creationId xmlns:a16="http://schemas.microsoft.com/office/drawing/2014/main" id="{F17BA785-1523-4844-9AB6-7265A495B93B}"/>
              </a:ext>
            </a:extLst>
          </p:cNvPr>
          <p:cNvSpPr>
            <a:spLocks noGrp="1"/>
          </p:cNvSpPr>
          <p:nvPr/>
        </p:nvSpPr>
        <p:spPr>
          <a:xfrm>
            <a:off x="1238250" y="3476625"/>
            <a:ext cx="2095500" cy="438150"/>
          </a:xfrm>
          <a:prstGeom prst="rect">
            <a:avLst/>
          </a:prstGeom>
          <a:noFill/>
          <a:ln w="0">
            <a:noFill/>
            <a:prstDash val="solid"/>
          </a:ln>
        </p:spPr>
        <p:txBody>
          <a:bodyPr anchor="ctr"/>
          <a:lstStyle/>
          <a:p>
            <a:pPr algn="ctr">
              <a:defRPr sz="1425" b="1">
                <a:solidFill>
                  <a:srgbClr val="58707C"/>
                </a:solidFill>
              </a:defRPr>
            </a:pPr>
            <a:r>
              <a:rPr sz="1425" b="1">
                <a:solidFill>
                  <a:srgbClr val="58707C"/>
                </a:solidFill>
              </a:rPr>
              <a:t>defines valid candidates</a:t>
            </a:r>
          </a:p>
        </p:txBody>
      </p:sp>
      <p:sp>
        <p:nvSpPr>
          <p:cNvPr id="10" name="Rectangle 9">
            <a:extLst>
              <a:ext uri="{FF2B5EF4-FFF2-40B4-BE49-F238E27FC236}">
                <a16:creationId xmlns:a16="http://schemas.microsoft.com/office/drawing/2014/main" id="{922FF5F4-7ADA-40DA-8C77-C3ED74FA2442}"/>
              </a:ext>
            </a:extLst>
          </p:cNvPr>
          <p:cNvSpPr>
            <a:spLocks noGrp="1"/>
          </p:cNvSpPr>
          <p:nvPr/>
        </p:nvSpPr>
        <p:spPr>
          <a:xfrm>
            <a:off x="3714750" y="2952750"/>
            <a:ext cx="2095500" cy="400050"/>
          </a:xfrm>
          <a:prstGeom prst="rect">
            <a:avLst/>
          </a:prstGeom>
          <a:noFill/>
          <a:ln w="0">
            <a:noFill/>
            <a:prstDash val="solid"/>
          </a:ln>
        </p:spPr>
        <p:txBody>
          <a:bodyPr anchor="ctr"/>
          <a:lstStyle/>
          <a:p>
            <a:pPr algn="ctr">
              <a:defRPr sz="1800" b="1">
                <a:solidFill>
                  <a:srgbClr val="2878B5"/>
                </a:solidFill>
              </a:defRPr>
            </a:pPr>
            <a:r>
              <a:rPr sz="1800" b="1">
                <a:solidFill>
                  <a:srgbClr val="2878B5"/>
                </a:solidFill>
              </a:rPr>
              <a:t>BUDGET</a:t>
            </a:r>
          </a:p>
        </p:txBody>
      </p:sp>
      <p:sp>
        <p:nvSpPr>
          <p:cNvPr id="11" name="Rectangle 10">
            <a:extLst>
              <a:ext uri="{FF2B5EF4-FFF2-40B4-BE49-F238E27FC236}">
                <a16:creationId xmlns:a16="http://schemas.microsoft.com/office/drawing/2014/main" id="{534C475B-54A9-4C8F-A94D-107F70C1EB83}"/>
              </a:ext>
            </a:extLst>
          </p:cNvPr>
          <p:cNvSpPr>
            <a:spLocks noGrp="1"/>
          </p:cNvSpPr>
          <p:nvPr/>
        </p:nvSpPr>
        <p:spPr>
          <a:xfrm>
            <a:off x="3714750" y="3476625"/>
            <a:ext cx="2095500" cy="438150"/>
          </a:xfrm>
          <a:prstGeom prst="rect">
            <a:avLst/>
          </a:prstGeom>
          <a:noFill/>
          <a:ln w="0">
            <a:noFill/>
            <a:prstDash val="solid"/>
          </a:ln>
        </p:spPr>
        <p:txBody>
          <a:bodyPr anchor="ctr"/>
          <a:lstStyle/>
          <a:p>
            <a:pPr algn="ctr">
              <a:defRPr sz="1425" b="1">
                <a:solidFill>
                  <a:srgbClr val="58707C"/>
                </a:solidFill>
              </a:defRPr>
            </a:pPr>
            <a:r>
              <a:rPr sz="1425" b="1">
                <a:solidFill>
                  <a:srgbClr val="58707C"/>
                </a:solidFill>
              </a:rPr>
              <a:t>limits evaluations</a:t>
            </a:r>
          </a:p>
        </p:txBody>
      </p:sp>
      <p:sp>
        <p:nvSpPr>
          <p:cNvPr id="12" name="Rectangle 11">
            <a:extLst>
              <a:ext uri="{FF2B5EF4-FFF2-40B4-BE49-F238E27FC236}">
                <a16:creationId xmlns:a16="http://schemas.microsoft.com/office/drawing/2014/main" id="{52735CA1-AF73-4886-9342-EB10E5C9CC38}"/>
              </a:ext>
            </a:extLst>
          </p:cNvPr>
          <p:cNvSpPr>
            <a:spLocks noGrp="1"/>
          </p:cNvSpPr>
          <p:nvPr/>
        </p:nvSpPr>
        <p:spPr>
          <a:xfrm>
            <a:off x="6191250" y="2952750"/>
            <a:ext cx="2095500" cy="400050"/>
          </a:xfrm>
          <a:prstGeom prst="rect">
            <a:avLst/>
          </a:prstGeom>
          <a:noFill/>
          <a:ln w="0">
            <a:noFill/>
            <a:prstDash val="solid"/>
          </a:ln>
        </p:spPr>
        <p:txBody>
          <a:bodyPr anchor="ctr"/>
          <a:lstStyle/>
          <a:p>
            <a:pPr algn="ctr">
              <a:defRPr sz="1800" b="1">
                <a:solidFill>
                  <a:srgbClr val="F2A93B"/>
                </a:solidFill>
              </a:defRPr>
            </a:pPr>
            <a:r>
              <a:rPr sz="1800" b="1">
                <a:solidFill>
                  <a:srgbClr val="F2A93B"/>
                </a:solidFill>
              </a:rPr>
              <a:t>SEEDS</a:t>
            </a:r>
          </a:p>
        </p:txBody>
      </p:sp>
      <p:sp>
        <p:nvSpPr>
          <p:cNvPr id="13" name="Rectangle 12">
            <a:extLst>
              <a:ext uri="{FF2B5EF4-FFF2-40B4-BE49-F238E27FC236}">
                <a16:creationId xmlns:a16="http://schemas.microsoft.com/office/drawing/2014/main" id="{79E592C9-EFEE-4FB3-96FE-8938E434E6D4}"/>
              </a:ext>
            </a:extLst>
          </p:cNvPr>
          <p:cNvSpPr>
            <a:spLocks noGrp="1"/>
          </p:cNvSpPr>
          <p:nvPr/>
        </p:nvSpPr>
        <p:spPr>
          <a:xfrm>
            <a:off x="6191250" y="3476625"/>
            <a:ext cx="2095500" cy="438150"/>
          </a:xfrm>
          <a:prstGeom prst="rect">
            <a:avLst/>
          </a:prstGeom>
          <a:noFill/>
          <a:ln w="0">
            <a:noFill/>
            <a:prstDash val="solid"/>
          </a:ln>
        </p:spPr>
        <p:txBody>
          <a:bodyPr anchor="ctr"/>
          <a:lstStyle/>
          <a:p>
            <a:pPr algn="ctr">
              <a:defRPr sz="1425" b="1">
                <a:solidFill>
                  <a:srgbClr val="58707C"/>
                </a:solidFill>
              </a:defRPr>
            </a:pPr>
            <a:r>
              <a:rPr sz="1425" b="1">
                <a:solidFill>
                  <a:srgbClr val="58707C"/>
                </a:solidFill>
              </a:rPr>
              <a:t>expose variability</a:t>
            </a:r>
          </a:p>
        </p:txBody>
      </p:sp>
      <p:sp>
        <p:nvSpPr>
          <p:cNvPr id="14" name="Rectangle 13">
            <a:extLst>
              <a:ext uri="{FF2B5EF4-FFF2-40B4-BE49-F238E27FC236}">
                <a16:creationId xmlns:a16="http://schemas.microsoft.com/office/drawing/2014/main" id="{CCA5B7DB-2D42-44E8-B243-4B93DC181151}"/>
              </a:ext>
            </a:extLst>
          </p:cNvPr>
          <p:cNvSpPr>
            <a:spLocks noGrp="1"/>
          </p:cNvSpPr>
          <p:nvPr/>
        </p:nvSpPr>
        <p:spPr>
          <a:xfrm>
            <a:off x="8667750" y="2952750"/>
            <a:ext cx="2095500" cy="400050"/>
          </a:xfrm>
          <a:prstGeom prst="rect">
            <a:avLst/>
          </a:prstGeom>
          <a:noFill/>
          <a:ln w="0">
            <a:noFill/>
            <a:prstDash val="solid"/>
          </a:ln>
        </p:spPr>
        <p:txBody>
          <a:bodyPr anchor="ctr"/>
          <a:lstStyle/>
          <a:p>
            <a:pPr algn="ctr">
              <a:defRPr sz="1800" b="1">
                <a:solidFill>
                  <a:srgbClr val="2C9976"/>
                </a:solidFill>
              </a:defRPr>
            </a:pPr>
            <a:r>
              <a:rPr sz="1800" b="1">
                <a:solidFill>
                  <a:srgbClr val="2C9976"/>
                </a:solidFill>
              </a:rPr>
              <a:t>BASELINE</a:t>
            </a:r>
          </a:p>
        </p:txBody>
      </p:sp>
      <p:sp>
        <p:nvSpPr>
          <p:cNvPr id="15" name="Rectangle 14">
            <a:extLst>
              <a:ext uri="{FF2B5EF4-FFF2-40B4-BE49-F238E27FC236}">
                <a16:creationId xmlns:a16="http://schemas.microsoft.com/office/drawing/2014/main" id="{B3CE986C-5F0B-4C50-8C27-901174D2332B}"/>
              </a:ext>
            </a:extLst>
          </p:cNvPr>
          <p:cNvSpPr>
            <a:spLocks noGrp="1"/>
          </p:cNvSpPr>
          <p:nvPr/>
        </p:nvSpPr>
        <p:spPr>
          <a:xfrm>
            <a:off x="8667750" y="3476625"/>
            <a:ext cx="2095500" cy="438150"/>
          </a:xfrm>
          <a:prstGeom prst="rect">
            <a:avLst/>
          </a:prstGeom>
          <a:noFill/>
          <a:ln w="0">
            <a:noFill/>
            <a:prstDash val="solid"/>
          </a:ln>
        </p:spPr>
        <p:txBody>
          <a:bodyPr anchor="ctr"/>
          <a:lstStyle/>
          <a:p>
            <a:pPr algn="ctr">
              <a:defRPr sz="1425" b="1">
                <a:solidFill>
                  <a:srgbClr val="58707C"/>
                </a:solidFill>
              </a:defRPr>
            </a:pPr>
            <a:r>
              <a:rPr sz="1425" b="1">
                <a:solidFill>
                  <a:srgbClr val="58707C"/>
                </a:solidFill>
              </a:rPr>
              <a:t>provides context</a:t>
            </a:r>
          </a:p>
        </p:txBody>
      </p:sp>
      <p:sp>
        <p:nvSpPr>
          <p:cNvPr id="16" name="Rounded Rectangle 15">
            <a:extLst>
              <a:ext uri="{FF2B5EF4-FFF2-40B4-BE49-F238E27FC236}">
                <a16:creationId xmlns:a16="http://schemas.microsoft.com/office/drawing/2014/main" id="{2EEAD682-750D-42EB-BBCC-F0BF378894A6}"/>
              </a:ext>
            </a:extLst>
          </p:cNvPr>
          <p:cNvSpPr>
            <a:spLocks noGrp="1"/>
          </p:cNvSpPr>
          <p:nvPr/>
        </p:nvSpPr>
        <p:spPr>
          <a:xfrm>
            <a:off x="3048000" y="5000625"/>
            <a:ext cx="6096000" cy="647700"/>
          </a:xfrm>
          <a:prstGeom prst="roundRect">
            <a:avLst>
              <a:gd name="adj" fmla="val 11765"/>
            </a:avLst>
          </a:prstGeom>
          <a:solidFill>
            <a:srgbClr val="F9E8E6"/>
          </a:solidFill>
          <a:ln w="0">
            <a:solidFill>
              <a:srgbClr val="F9E8E6"/>
            </a:solidFill>
            <a:prstDash val="solid"/>
          </a:ln>
        </p:spPr>
        <p:txBody>
          <a:bodyPr/>
          <a:lstStyle/>
          <a:p>
            <a:endParaRPr lang="en-IQ"/>
          </a:p>
        </p:txBody>
      </p:sp>
      <p:sp>
        <p:nvSpPr>
          <p:cNvPr id="17" name="Rectangle 16">
            <a:extLst>
              <a:ext uri="{FF2B5EF4-FFF2-40B4-BE49-F238E27FC236}">
                <a16:creationId xmlns:a16="http://schemas.microsoft.com/office/drawing/2014/main" id="{B94D27E3-6B01-4C35-ABDC-D35EF3609982}"/>
              </a:ext>
            </a:extLst>
          </p:cNvPr>
          <p:cNvSpPr>
            <a:spLocks noGrp="1"/>
          </p:cNvSpPr>
          <p:nvPr/>
        </p:nvSpPr>
        <p:spPr>
          <a:xfrm>
            <a:off x="3238500" y="5076825"/>
            <a:ext cx="5715000" cy="495300"/>
          </a:xfrm>
          <a:prstGeom prst="rect">
            <a:avLst/>
          </a:prstGeom>
          <a:noFill/>
          <a:ln w="0">
            <a:noFill/>
            <a:prstDash val="solid"/>
          </a:ln>
        </p:spPr>
        <p:txBody>
          <a:bodyPr anchor="ctr"/>
          <a:lstStyle/>
          <a:p>
            <a:pPr algn="ctr">
              <a:defRPr sz="2025" b="1">
                <a:solidFill>
                  <a:srgbClr val="D95D5D"/>
                </a:solidFill>
              </a:defRPr>
            </a:pPr>
            <a:r>
              <a:rPr sz="2025" b="1">
                <a:solidFill>
                  <a:srgbClr val="D95D5D"/>
                </a:solidFill>
              </a:rPr>
              <a:t>Best found ≠ proven best</a:t>
            </a:r>
          </a:p>
        </p:txBody>
      </p:sp>
    </p:spTree>
    <p:extLst>
      <p:ext uri="{BB962C8B-B14F-4D97-AF65-F5344CB8AC3E}">
        <p14:creationId xmlns:p14="http://schemas.microsoft.com/office/powerpoint/2010/main" val="19631248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1FB8562-0DF0-4D83-8434-25F91EC5B261}"/>
              </a:ext>
            </a:extLst>
          </p:cNvPr>
          <p:cNvSpPr>
            <a:spLocks noGrp="1"/>
          </p:cNvSpPr>
          <p:nvPr/>
        </p:nvSpPr>
        <p:spPr>
          <a:xfrm>
            <a:off x="609600" y="285750"/>
            <a:ext cx="64770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REFERENCES</a:t>
            </a:r>
          </a:p>
        </p:txBody>
      </p:sp>
      <p:sp>
        <p:nvSpPr>
          <p:cNvPr id="2" name="Rectangle 1">
            <a:extLst>
              <a:ext uri="{FF2B5EF4-FFF2-40B4-BE49-F238E27FC236}">
                <a16:creationId xmlns:a16="http://schemas.microsoft.com/office/drawing/2014/main" id="{2DED277D-8814-458D-AE45-7B7BBC210213}"/>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Academic reading and preparation</a:t>
            </a:r>
          </a:p>
        </p:txBody>
      </p:sp>
      <p:sp>
        <p:nvSpPr>
          <p:cNvPr id="3" name="Rectangle 2">
            <a:extLst>
              <a:ext uri="{FF2B5EF4-FFF2-40B4-BE49-F238E27FC236}">
                <a16:creationId xmlns:a16="http://schemas.microsoft.com/office/drawing/2014/main" id="{4FA3876F-FC8D-44F5-B90E-9E1C7BD640AF}"/>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5A8A20C8-A736-4EC9-B93A-ED5BECB02EEE}"/>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2</a:t>
            </a:r>
          </a:p>
        </p:txBody>
      </p:sp>
      <p:sp>
        <p:nvSpPr>
          <p:cNvPr id="5" name="Rectangle 4">
            <a:extLst>
              <a:ext uri="{FF2B5EF4-FFF2-40B4-BE49-F238E27FC236}">
                <a16:creationId xmlns:a16="http://schemas.microsoft.com/office/drawing/2014/main" id="{1210AC4F-BB98-468A-BE3A-CBD707C4650E}"/>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34</a:t>
            </a:r>
          </a:p>
        </p:txBody>
      </p:sp>
      <p:sp>
        <p:nvSpPr>
          <p:cNvPr id="6" name="Oval 5">
            <a:extLst>
              <a:ext uri="{FF2B5EF4-FFF2-40B4-BE49-F238E27FC236}">
                <a16:creationId xmlns:a16="http://schemas.microsoft.com/office/drawing/2014/main" id="{08BFDFBA-A31E-4302-B79A-2A55C06EF7ED}"/>
              </a:ext>
            </a:extLst>
          </p:cNvPr>
          <p:cNvSpPr>
            <a:spLocks noGrp="1"/>
          </p:cNvSpPr>
          <p:nvPr/>
        </p:nvSpPr>
        <p:spPr>
          <a:xfrm>
            <a:off x="1095375" y="1571625"/>
            <a:ext cx="114300" cy="114300"/>
          </a:xfrm>
          <a:prstGeom prst="ellipse">
            <a:avLst/>
          </a:prstGeom>
          <a:solidFill>
            <a:srgbClr val="0B9B91"/>
          </a:solidFill>
          <a:ln w="0">
            <a:solidFill>
              <a:srgbClr val="0B9B91"/>
            </a:solidFill>
            <a:prstDash val="solid"/>
          </a:ln>
        </p:spPr>
        <p:txBody>
          <a:bodyPr/>
          <a:lstStyle/>
          <a:p>
            <a:endParaRPr lang="en-IQ"/>
          </a:p>
        </p:txBody>
      </p:sp>
      <p:sp>
        <p:nvSpPr>
          <p:cNvPr id="7" name="Rectangle 6">
            <a:extLst>
              <a:ext uri="{FF2B5EF4-FFF2-40B4-BE49-F238E27FC236}">
                <a16:creationId xmlns:a16="http://schemas.microsoft.com/office/drawing/2014/main" id="{BFC9D8FE-8A63-4C0A-BE69-A6CCAF54404E}"/>
              </a:ext>
            </a:extLst>
          </p:cNvPr>
          <p:cNvSpPr>
            <a:spLocks noGrp="1"/>
          </p:cNvSpPr>
          <p:nvPr/>
        </p:nvSpPr>
        <p:spPr>
          <a:xfrm>
            <a:off x="1371600" y="1381125"/>
            <a:ext cx="9629775" cy="781050"/>
          </a:xfrm>
          <a:prstGeom prst="rect">
            <a:avLst/>
          </a:prstGeom>
          <a:noFill/>
          <a:ln w="0">
            <a:noFill/>
            <a:prstDash val="solid"/>
          </a:ln>
        </p:spPr>
        <p:txBody>
          <a:bodyPr anchor="ctr"/>
          <a:lstStyle/>
          <a:p>
            <a:pPr algn="l">
              <a:defRPr sz="1500" b="0">
                <a:solidFill>
                  <a:srgbClr val="183544"/>
                </a:solidFill>
              </a:defRPr>
            </a:pPr>
            <a:r>
              <a:rPr sz="1500" b="0">
                <a:solidFill>
                  <a:srgbClr val="183544"/>
                </a:solidFill>
              </a:rPr>
              <a:t>Luke, Essentials of Metaheuristics: random search and experimental practice.</a:t>
            </a:r>
          </a:p>
        </p:txBody>
      </p:sp>
      <p:sp>
        <p:nvSpPr>
          <p:cNvPr id="8" name="Oval 7">
            <a:extLst>
              <a:ext uri="{FF2B5EF4-FFF2-40B4-BE49-F238E27FC236}">
                <a16:creationId xmlns:a16="http://schemas.microsoft.com/office/drawing/2014/main" id="{B4E596F5-B903-427D-BD2E-EDBB77D73C1C}"/>
              </a:ext>
            </a:extLst>
          </p:cNvPr>
          <p:cNvSpPr>
            <a:spLocks noGrp="1"/>
          </p:cNvSpPr>
          <p:nvPr/>
        </p:nvSpPr>
        <p:spPr>
          <a:xfrm>
            <a:off x="1095375" y="2352675"/>
            <a:ext cx="114300" cy="114300"/>
          </a:xfrm>
          <a:prstGeom prst="ellipse">
            <a:avLst/>
          </a:prstGeom>
          <a:solidFill>
            <a:srgbClr val="0B9B91"/>
          </a:solidFill>
          <a:ln w="0">
            <a:solidFill>
              <a:srgbClr val="0B9B91"/>
            </a:solidFill>
            <a:prstDash val="solid"/>
          </a:ln>
        </p:spPr>
        <p:txBody>
          <a:bodyPr/>
          <a:lstStyle/>
          <a:p>
            <a:endParaRPr lang="en-IQ"/>
          </a:p>
        </p:txBody>
      </p:sp>
      <p:sp>
        <p:nvSpPr>
          <p:cNvPr id="9" name="Rectangle 8">
            <a:extLst>
              <a:ext uri="{FF2B5EF4-FFF2-40B4-BE49-F238E27FC236}">
                <a16:creationId xmlns:a16="http://schemas.microsoft.com/office/drawing/2014/main" id="{2694EEE4-88F1-485A-B587-DED3B657EEAE}"/>
              </a:ext>
            </a:extLst>
          </p:cNvPr>
          <p:cNvSpPr>
            <a:spLocks noGrp="1"/>
          </p:cNvSpPr>
          <p:nvPr/>
        </p:nvSpPr>
        <p:spPr>
          <a:xfrm>
            <a:off x="1371600" y="2162175"/>
            <a:ext cx="9629775" cy="781050"/>
          </a:xfrm>
          <a:prstGeom prst="rect">
            <a:avLst/>
          </a:prstGeom>
          <a:noFill/>
          <a:ln w="0">
            <a:noFill/>
            <a:prstDash val="solid"/>
          </a:ln>
        </p:spPr>
        <p:txBody>
          <a:bodyPr anchor="ctr"/>
          <a:lstStyle/>
          <a:p>
            <a:pPr algn="l">
              <a:defRPr sz="1500" b="0">
                <a:solidFill>
                  <a:srgbClr val="183544"/>
                </a:solidFill>
              </a:defRPr>
            </a:pPr>
            <a:r>
              <a:rPr sz="1500" b="0">
                <a:solidFill>
                  <a:srgbClr val="183544"/>
                </a:solidFill>
              </a:rPr>
              <a:t>Solis &amp; Wets (1981): formal foundations of random search.</a:t>
            </a:r>
          </a:p>
        </p:txBody>
      </p:sp>
      <p:sp>
        <p:nvSpPr>
          <p:cNvPr id="10" name="Oval 9">
            <a:extLst>
              <a:ext uri="{FF2B5EF4-FFF2-40B4-BE49-F238E27FC236}">
                <a16:creationId xmlns:a16="http://schemas.microsoft.com/office/drawing/2014/main" id="{4D6DB206-738F-4CBA-B76F-B9D283EBD354}"/>
              </a:ext>
            </a:extLst>
          </p:cNvPr>
          <p:cNvSpPr>
            <a:spLocks noGrp="1"/>
          </p:cNvSpPr>
          <p:nvPr/>
        </p:nvSpPr>
        <p:spPr>
          <a:xfrm>
            <a:off x="1095375" y="3133725"/>
            <a:ext cx="114300" cy="114300"/>
          </a:xfrm>
          <a:prstGeom prst="ellipse">
            <a:avLst/>
          </a:prstGeom>
          <a:solidFill>
            <a:srgbClr val="0B9B91"/>
          </a:solidFill>
          <a:ln w="0">
            <a:solidFill>
              <a:srgbClr val="0B9B91"/>
            </a:solidFill>
            <a:prstDash val="solid"/>
          </a:ln>
        </p:spPr>
        <p:txBody>
          <a:bodyPr/>
          <a:lstStyle/>
          <a:p>
            <a:endParaRPr lang="en-IQ"/>
          </a:p>
        </p:txBody>
      </p:sp>
      <p:sp>
        <p:nvSpPr>
          <p:cNvPr id="11" name="Rectangle 10">
            <a:extLst>
              <a:ext uri="{FF2B5EF4-FFF2-40B4-BE49-F238E27FC236}">
                <a16:creationId xmlns:a16="http://schemas.microsoft.com/office/drawing/2014/main" id="{531D081D-833B-486C-88FB-3E315F71C99D}"/>
              </a:ext>
            </a:extLst>
          </p:cNvPr>
          <p:cNvSpPr>
            <a:spLocks noGrp="1"/>
          </p:cNvSpPr>
          <p:nvPr/>
        </p:nvSpPr>
        <p:spPr>
          <a:xfrm>
            <a:off x="1371600" y="2943225"/>
            <a:ext cx="9629775" cy="781050"/>
          </a:xfrm>
          <a:prstGeom prst="rect">
            <a:avLst/>
          </a:prstGeom>
          <a:noFill/>
          <a:ln w="0">
            <a:noFill/>
            <a:prstDash val="solid"/>
          </a:ln>
        </p:spPr>
        <p:txBody>
          <a:bodyPr anchor="ctr"/>
          <a:lstStyle/>
          <a:p>
            <a:pPr algn="l">
              <a:defRPr sz="1500" b="0">
                <a:solidFill>
                  <a:srgbClr val="183544"/>
                </a:solidFill>
              </a:defRPr>
            </a:pPr>
            <a:r>
              <a:rPr sz="1500" b="0">
                <a:solidFill>
                  <a:srgbClr val="183544"/>
                </a:solidFill>
              </a:rPr>
              <a:t>CMU 16-745: derivative-free optimization methods.</a:t>
            </a:r>
          </a:p>
        </p:txBody>
      </p:sp>
      <p:sp>
        <p:nvSpPr>
          <p:cNvPr id="12" name="Oval 11">
            <a:extLst>
              <a:ext uri="{FF2B5EF4-FFF2-40B4-BE49-F238E27FC236}">
                <a16:creationId xmlns:a16="http://schemas.microsoft.com/office/drawing/2014/main" id="{31057225-67C7-4217-AAE7-78A6783FA09F}"/>
              </a:ext>
            </a:extLst>
          </p:cNvPr>
          <p:cNvSpPr>
            <a:spLocks noGrp="1"/>
          </p:cNvSpPr>
          <p:nvPr/>
        </p:nvSpPr>
        <p:spPr>
          <a:xfrm>
            <a:off x="1095375" y="3914775"/>
            <a:ext cx="114300" cy="114300"/>
          </a:xfrm>
          <a:prstGeom prst="ellipse">
            <a:avLst/>
          </a:prstGeom>
          <a:solidFill>
            <a:srgbClr val="0B9B91"/>
          </a:solidFill>
          <a:ln w="0">
            <a:solidFill>
              <a:srgbClr val="0B9B91"/>
            </a:solidFill>
            <a:prstDash val="solid"/>
          </a:ln>
        </p:spPr>
        <p:txBody>
          <a:bodyPr/>
          <a:lstStyle/>
          <a:p>
            <a:endParaRPr lang="en-IQ"/>
          </a:p>
        </p:txBody>
      </p:sp>
      <p:sp>
        <p:nvSpPr>
          <p:cNvPr id="13" name="Rectangle 12">
            <a:extLst>
              <a:ext uri="{FF2B5EF4-FFF2-40B4-BE49-F238E27FC236}">
                <a16:creationId xmlns:a16="http://schemas.microsoft.com/office/drawing/2014/main" id="{01CED318-5D9C-46CF-8228-1073F2C39004}"/>
              </a:ext>
            </a:extLst>
          </p:cNvPr>
          <p:cNvSpPr>
            <a:spLocks noGrp="1"/>
          </p:cNvSpPr>
          <p:nvPr/>
        </p:nvSpPr>
        <p:spPr>
          <a:xfrm>
            <a:off x="1371600" y="3724275"/>
            <a:ext cx="9629775" cy="781050"/>
          </a:xfrm>
          <a:prstGeom prst="rect">
            <a:avLst/>
          </a:prstGeom>
          <a:noFill/>
          <a:ln w="0">
            <a:noFill/>
            <a:prstDash val="solid"/>
          </a:ln>
        </p:spPr>
        <p:txBody>
          <a:bodyPr anchor="ctr"/>
          <a:lstStyle/>
          <a:p>
            <a:pPr algn="l">
              <a:defRPr sz="1500" b="0">
                <a:solidFill>
                  <a:srgbClr val="183544"/>
                </a:solidFill>
              </a:defRPr>
            </a:pPr>
            <a:r>
              <a:rPr sz="1500" b="0">
                <a:solidFill>
                  <a:srgbClr val="183544"/>
                </a:solidFill>
              </a:rPr>
              <a:t>Stanford MS&amp;E314: deterministic and randomized zero-order methods.</a:t>
            </a:r>
          </a:p>
        </p:txBody>
      </p:sp>
      <p:sp>
        <p:nvSpPr>
          <p:cNvPr id="14" name="Oval 13">
            <a:extLst>
              <a:ext uri="{FF2B5EF4-FFF2-40B4-BE49-F238E27FC236}">
                <a16:creationId xmlns:a16="http://schemas.microsoft.com/office/drawing/2014/main" id="{605D2464-A959-40F7-B20E-7BAFCCFF0638}"/>
              </a:ext>
            </a:extLst>
          </p:cNvPr>
          <p:cNvSpPr>
            <a:spLocks noGrp="1"/>
          </p:cNvSpPr>
          <p:nvPr/>
        </p:nvSpPr>
        <p:spPr>
          <a:xfrm>
            <a:off x="1095375" y="4695825"/>
            <a:ext cx="114300" cy="114300"/>
          </a:xfrm>
          <a:prstGeom prst="ellipse">
            <a:avLst/>
          </a:prstGeom>
          <a:solidFill>
            <a:srgbClr val="0B9B91"/>
          </a:solidFill>
          <a:ln w="0">
            <a:solidFill>
              <a:srgbClr val="0B9B91"/>
            </a:solidFill>
            <a:prstDash val="solid"/>
          </a:ln>
        </p:spPr>
        <p:txBody>
          <a:bodyPr/>
          <a:lstStyle/>
          <a:p>
            <a:endParaRPr lang="en-IQ"/>
          </a:p>
        </p:txBody>
      </p:sp>
      <p:sp>
        <p:nvSpPr>
          <p:cNvPr id="15" name="Rectangle 14">
            <a:extLst>
              <a:ext uri="{FF2B5EF4-FFF2-40B4-BE49-F238E27FC236}">
                <a16:creationId xmlns:a16="http://schemas.microsoft.com/office/drawing/2014/main" id="{87A9F929-E87C-4436-8FFF-98C7A1284CAA}"/>
              </a:ext>
            </a:extLst>
          </p:cNvPr>
          <p:cNvSpPr>
            <a:spLocks noGrp="1"/>
          </p:cNvSpPr>
          <p:nvPr/>
        </p:nvSpPr>
        <p:spPr>
          <a:xfrm>
            <a:off x="1371600" y="4505325"/>
            <a:ext cx="9629775" cy="781050"/>
          </a:xfrm>
          <a:prstGeom prst="rect">
            <a:avLst/>
          </a:prstGeom>
          <a:noFill/>
          <a:ln w="0">
            <a:noFill/>
            <a:prstDash val="solid"/>
          </a:ln>
        </p:spPr>
        <p:txBody>
          <a:bodyPr anchor="ctr"/>
          <a:lstStyle/>
          <a:p>
            <a:pPr algn="l">
              <a:defRPr sz="1500" b="0">
                <a:solidFill>
                  <a:srgbClr val="183544"/>
                </a:solidFill>
              </a:defRPr>
            </a:pPr>
            <a:r>
              <a:rPr sz="1500" b="0">
                <a:solidFill>
                  <a:srgbClr val="183544"/>
                </a:solidFill>
              </a:rPr>
              <a:t>MIT 15.099: minimization by random search techniques.</a:t>
            </a:r>
          </a:p>
        </p:txBody>
      </p:sp>
      <p:sp>
        <p:nvSpPr>
          <p:cNvPr id="16" name="Rounded Rectangle 15">
            <a:extLst>
              <a:ext uri="{FF2B5EF4-FFF2-40B4-BE49-F238E27FC236}">
                <a16:creationId xmlns:a16="http://schemas.microsoft.com/office/drawing/2014/main" id="{DA291BD5-1A05-4238-9A56-C1275EF124B3}"/>
              </a:ext>
            </a:extLst>
          </p:cNvPr>
          <p:cNvSpPr>
            <a:spLocks noGrp="1"/>
          </p:cNvSpPr>
          <p:nvPr/>
        </p:nvSpPr>
        <p:spPr>
          <a:xfrm>
            <a:off x="2000250" y="5476875"/>
            <a:ext cx="8191500" cy="571500"/>
          </a:xfrm>
          <a:prstGeom prst="roundRect">
            <a:avLst>
              <a:gd name="adj" fmla="val 13333"/>
            </a:avLst>
          </a:prstGeom>
          <a:solidFill>
            <a:srgbClr val="E6F3F2"/>
          </a:solidFill>
          <a:ln w="0">
            <a:solidFill>
              <a:srgbClr val="E6F3F2"/>
            </a:solidFill>
            <a:prstDash val="solid"/>
          </a:ln>
        </p:spPr>
        <p:txBody>
          <a:bodyPr/>
          <a:lstStyle/>
          <a:p>
            <a:endParaRPr lang="en-IQ"/>
          </a:p>
        </p:txBody>
      </p:sp>
      <p:sp>
        <p:nvSpPr>
          <p:cNvPr id="17" name="Rectangle 16">
            <a:extLst>
              <a:ext uri="{FF2B5EF4-FFF2-40B4-BE49-F238E27FC236}">
                <a16:creationId xmlns:a16="http://schemas.microsoft.com/office/drawing/2014/main" id="{A172355D-6DDE-4477-B3D3-BD579F7A8197}"/>
              </a:ext>
            </a:extLst>
          </p:cNvPr>
          <p:cNvSpPr>
            <a:spLocks noGrp="1"/>
          </p:cNvSpPr>
          <p:nvPr/>
        </p:nvSpPr>
        <p:spPr>
          <a:xfrm>
            <a:off x="2190750" y="5553075"/>
            <a:ext cx="7810500" cy="419100"/>
          </a:xfrm>
          <a:prstGeom prst="rect">
            <a:avLst/>
          </a:prstGeom>
          <a:noFill/>
          <a:ln w="0">
            <a:noFill/>
            <a:prstDash val="solid"/>
          </a:ln>
        </p:spPr>
        <p:txBody>
          <a:bodyPr anchor="ctr"/>
          <a:lstStyle/>
          <a:p>
            <a:pPr algn="ctr">
              <a:defRPr sz="1575" b="1">
                <a:solidFill>
                  <a:srgbClr val="092A3D"/>
                </a:solidFill>
              </a:defRPr>
            </a:pPr>
            <a:r>
              <a:rPr sz="1575" b="1">
                <a:solidFill>
                  <a:srgbClr val="092A3D"/>
                </a:solidFill>
              </a:rPr>
              <a:t>Before Week 3: review intervals, functions and unimodality.</a:t>
            </a:r>
          </a:p>
        </p:txBody>
      </p:sp>
    </p:spTree>
    <p:extLst>
      <p:ext uri="{BB962C8B-B14F-4D97-AF65-F5344CB8AC3E}">
        <p14:creationId xmlns:p14="http://schemas.microsoft.com/office/powerpoint/2010/main" val="172318454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600</TotalTime>
  <Words>8657</Words>
  <Application>Microsoft Macintosh PowerPoint</Application>
  <DocSecurity>0</DocSecurity>
  <PresentationFormat>Widescreen</PresentationFormat>
  <Paragraphs>929</Paragraphs>
  <Slides>30</Slides>
  <Notes>30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30</vt:i4>
      </vt:variant>
    </vt:vector>
  </HeadingPairs>
  <TitlesOfParts>
    <vt:vector size="32"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Awrosoft Support</cp:lastModifiedBy>
  <cp:revision>1</cp:revision>
  <dcterms:created xsi:type="dcterms:W3CDTF">2026-08-30T10:33:03Z</dcterms:created>
  <dcterms:modified xsi:type="dcterms:W3CDTF">2026-10-12T09:04:01Z</dcterms:modified>
</cp:coreProperties>
</file>